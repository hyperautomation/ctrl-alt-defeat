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224"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Real-world data</c:v>
                </c:pt>
              </c:strCache>
            </c:strRef>
          </c:tx>
          <c:spPr>
            <a:solidFill>
              <a:srgbClr val="14385E"/>
            </a:solidFill>
            <a:effectLst/>
          </c:spPr>
          <c:invertIfNegative val="0"/>
          <c:dLbls>
            <c:numFmt formatCode="#,##0" sourceLinked="0"/>
            <c:spPr>
              <a:noFill/>
              <a:ln>
                <a:noFill/>
              </a:ln>
              <a:effectLst/>
            </c:spPr>
            <c:txPr>
              <a:bodyPr/>
              <a:lstStyle/>
              <a:p>
                <a:pPr>
                  <a:defRPr sz="900" b="0" i="0" u="none" strike="noStrike">
                    <a:solidFill>
                      <a:srgbClr val="0B1F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Nominal</c:v>
                </c:pt>
                <c:pt idx="1">
                  <c:v>Edge cases</c:v>
                </c:pt>
                <c:pt idx="2">
                  <c:v>Adversarial</c:v>
                </c:pt>
                <c:pt idx="3">
                  <c:v>Rare events</c:v>
                </c:pt>
              </c:strCache>
            </c:strRef>
          </c:cat>
          <c:val>
            <c:numRef>
              <c:f>Sheet1!$B$2:$B$5</c:f>
              <c:numCache>
                <c:formatCode>General</c:formatCode>
                <c:ptCount val="4"/>
                <c:pt idx="0">
                  <c:v>95</c:v>
                </c:pt>
                <c:pt idx="1">
                  <c:v>45</c:v>
                </c:pt>
                <c:pt idx="2">
                  <c:v>10</c:v>
                </c:pt>
                <c:pt idx="3">
                  <c:v>5</c:v>
                </c:pt>
              </c:numCache>
            </c:numRef>
          </c:val>
          <c:extLst>
            <c:ext xmlns:c16="http://schemas.microsoft.com/office/drawing/2014/chart" uri="{C3380CC4-5D6E-409C-BE32-E72D297353CC}">
              <c16:uniqueId val="{00000000-C83E-D446-BB95-0A55D51D70AD}"/>
            </c:ext>
          </c:extLst>
        </c:ser>
        <c:ser>
          <c:idx val="1"/>
          <c:order val="1"/>
          <c:tx>
            <c:strRef>
              <c:f>Sheet1!$C$1</c:f>
              <c:strCache>
                <c:ptCount val="1"/>
                <c:pt idx="0">
                  <c:v>+ Synthetic &amp; sim</c:v>
                </c:pt>
              </c:strCache>
            </c:strRef>
          </c:tx>
          <c:spPr>
            <a:solidFill>
              <a:srgbClr val="0D9488"/>
            </a:solidFill>
            <a:effectLst/>
          </c:spPr>
          <c:invertIfNegative val="0"/>
          <c:dLbls>
            <c:numFmt formatCode="#,##0" sourceLinked="0"/>
            <c:spPr>
              <a:noFill/>
              <a:ln>
                <a:noFill/>
              </a:ln>
              <a:effectLst/>
            </c:spPr>
            <c:txPr>
              <a:bodyPr/>
              <a:lstStyle/>
              <a:p>
                <a:pPr>
                  <a:defRPr sz="900" b="0" i="0" u="none" strike="noStrike">
                    <a:solidFill>
                      <a:srgbClr val="0B1F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Nominal</c:v>
                </c:pt>
                <c:pt idx="1">
                  <c:v>Edge cases</c:v>
                </c:pt>
                <c:pt idx="2">
                  <c:v>Adversarial</c:v>
                </c:pt>
                <c:pt idx="3">
                  <c:v>Rare events</c:v>
                </c:pt>
              </c:strCache>
            </c:strRef>
          </c:cat>
          <c:val>
            <c:numRef>
              <c:f>Sheet1!$C$2:$C$5</c:f>
              <c:numCache>
                <c:formatCode>General</c:formatCode>
                <c:ptCount val="4"/>
                <c:pt idx="0">
                  <c:v>100</c:v>
                </c:pt>
                <c:pt idx="1">
                  <c:v>92</c:v>
                </c:pt>
                <c:pt idx="2">
                  <c:v>85</c:v>
                </c:pt>
                <c:pt idx="3">
                  <c:v>78</c:v>
                </c:pt>
              </c:numCache>
            </c:numRef>
          </c:val>
          <c:extLst>
            <c:ext xmlns:c16="http://schemas.microsoft.com/office/drawing/2014/chart" uri="{C3380CC4-5D6E-409C-BE32-E72D297353CC}">
              <c16:uniqueId val="{00000001-C83E-D446-BB95-0A55D51D70A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0B1F3A"/>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lineChart>
        <c:grouping val="standard"/>
        <c:varyColors val="0"/>
        <c:ser>
          <c:idx val="0"/>
          <c:order val="0"/>
          <c:tx>
            <c:strRef>
              <c:f>Sheet1!$B$1</c:f>
              <c:strCache>
                <c:ptCount val="1"/>
                <c:pt idx="0">
                  <c:v>Unmonitored</c:v>
                </c:pt>
              </c:strCache>
            </c:strRef>
          </c:tx>
          <c:spPr>
            <a:ln w="38100" cap="flat">
              <a:solidFill>
                <a:srgbClr val="C8102E"/>
              </a:solidFill>
              <a:prstDash val="solid"/>
              <a:round/>
            </a:ln>
            <a:effectLst/>
          </c:spPr>
          <c:marker>
            <c:symbol val="circle"/>
            <c:size val="6"/>
            <c:spPr>
              <a:solidFill>
                <a:srgbClr val="C8102E"/>
              </a:solidFill>
              <a:ln w="9525" cap="flat">
                <a:solidFill>
                  <a:srgbClr val="C8102E"/>
                </a:solidFill>
                <a:prstDash val="solid"/>
                <a:round/>
              </a:ln>
              <a:effectLst/>
            </c:spPr>
          </c:marker>
          <c:cat>
            <c:strRef>
              <c:f>Sheet1!$A$2:$A$8</c:f>
              <c:strCache>
                <c:ptCount val="7"/>
                <c:pt idx="0">
                  <c:v>M0</c:v>
                </c:pt>
                <c:pt idx="1">
                  <c:v>M2</c:v>
                </c:pt>
                <c:pt idx="2">
                  <c:v>M4</c:v>
                </c:pt>
                <c:pt idx="3">
                  <c:v>M6</c:v>
                </c:pt>
                <c:pt idx="4">
                  <c:v>M8</c:v>
                </c:pt>
                <c:pt idx="5">
                  <c:v>M10</c:v>
                </c:pt>
                <c:pt idx="6">
                  <c:v>M12</c:v>
                </c:pt>
              </c:strCache>
            </c:strRef>
          </c:cat>
          <c:val>
            <c:numRef>
              <c:f>Sheet1!$B$2:$B$8</c:f>
              <c:numCache>
                <c:formatCode>General</c:formatCode>
                <c:ptCount val="7"/>
                <c:pt idx="0">
                  <c:v>95</c:v>
                </c:pt>
                <c:pt idx="1">
                  <c:v>93</c:v>
                </c:pt>
                <c:pt idx="2">
                  <c:v>89</c:v>
                </c:pt>
                <c:pt idx="3">
                  <c:v>84</c:v>
                </c:pt>
                <c:pt idx="4">
                  <c:v>78</c:v>
                </c:pt>
                <c:pt idx="5">
                  <c:v>72</c:v>
                </c:pt>
                <c:pt idx="6">
                  <c:v>68</c:v>
                </c:pt>
              </c:numCache>
            </c:numRef>
          </c:val>
          <c:smooth val="1"/>
          <c:extLst>
            <c:ext xmlns:c16="http://schemas.microsoft.com/office/drawing/2014/chart" uri="{C3380CC4-5D6E-409C-BE32-E72D297353CC}">
              <c16:uniqueId val="{00000000-7B80-314F-B94E-3B976290611A}"/>
            </c:ext>
          </c:extLst>
        </c:ser>
        <c:ser>
          <c:idx val="1"/>
          <c:order val="1"/>
          <c:tx>
            <c:strRef>
              <c:f>Sheet1!$C$1</c:f>
              <c:strCache>
                <c:ptCount val="1"/>
                <c:pt idx="0">
                  <c:v>With drift monitoring + retraining</c:v>
                </c:pt>
              </c:strCache>
            </c:strRef>
          </c:tx>
          <c:spPr>
            <a:ln w="38100" cap="flat">
              <a:solidFill>
                <a:srgbClr val="0D9488"/>
              </a:solidFill>
              <a:prstDash val="solid"/>
              <a:round/>
            </a:ln>
            <a:effectLst/>
          </c:spPr>
          <c:marker>
            <c:symbol val="circle"/>
            <c:size val="6"/>
            <c:spPr>
              <a:solidFill>
                <a:srgbClr val="0D9488"/>
              </a:solidFill>
              <a:ln w="9525" cap="flat">
                <a:solidFill>
                  <a:srgbClr val="0D9488"/>
                </a:solidFill>
                <a:prstDash val="solid"/>
                <a:round/>
              </a:ln>
              <a:effectLst/>
            </c:spPr>
          </c:marker>
          <c:cat>
            <c:strRef>
              <c:f>Sheet1!$A$2:$A$8</c:f>
              <c:strCache>
                <c:ptCount val="7"/>
                <c:pt idx="0">
                  <c:v>M0</c:v>
                </c:pt>
                <c:pt idx="1">
                  <c:v>M2</c:v>
                </c:pt>
                <c:pt idx="2">
                  <c:v>M4</c:v>
                </c:pt>
                <c:pt idx="3">
                  <c:v>M6</c:v>
                </c:pt>
                <c:pt idx="4">
                  <c:v>M8</c:v>
                </c:pt>
                <c:pt idx="5">
                  <c:v>M10</c:v>
                </c:pt>
                <c:pt idx="6">
                  <c:v>M12</c:v>
                </c:pt>
              </c:strCache>
            </c:strRef>
          </c:cat>
          <c:val>
            <c:numRef>
              <c:f>Sheet1!$C$2:$C$8</c:f>
              <c:numCache>
                <c:formatCode>General</c:formatCode>
                <c:ptCount val="7"/>
                <c:pt idx="0">
                  <c:v>95</c:v>
                </c:pt>
                <c:pt idx="1">
                  <c:v>94</c:v>
                </c:pt>
                <c:pt idx="2">
                  <c:v>93</c:v>
                </c:pt>
                <c:pt idx="3">
                  <c:v>94</c:v>
                </c:pt>
                <c:pt idx="4">
                  <c:v>93</c:v>
                </c:pt>
                <c:pt idx="5">
                  <c:v>94</c:v>
                </c:pt>
                <c:pt idx="6">
                  <c:v>93</c:v>
                </c:pt>
              </c:numCache>
            </c:numRef>
          </c:val>
          <c:smooth val="1"/>
          <c:extLst>
            <c:ext xmlns:c16="http://schemas.microsoft.com/office/drawing/2014/chart" uri="{C3380CC4-5D6E-409C-BE32-E72D297353CC}">
              <c16:uniqueId val="{00000001-7B80-314F-B94E-3B976290611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100"/>
          <c:min val="6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0B1F3A"/>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Indicative spend (£k)</c:v>
                </c:pt>
              </c:strCache>
            </c:strRef>
          </c:tx>
          <c:spPr>
            <a:solidFill>
              <a:srgbClr val="5EEAD4"/>
            </a:solidFill>
            <a:effectLst/>
          </c:spPr>
          <c:invertIfNegative val="0"/>
          <c:dLbls>
            <c:numFmt formatCode="#,##0" sourceLinked="0"/>
            <c:spPr>
              <a:noFill/>
              <a:ln>
                <a:noFill/>
              </a:ln>
              <a:effectLst/>
            </c:spPr>
            <c:txPr>
              <a:bodyPr/>
              <a:lstStyle/>
              <a:p>
                <a:pPr>
                  <a:defRPr sz="900" b="0" i="0" u="none" strike="noStrike">
                    <a:solidFill>
                      <a:srgbClr val="F4F1E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GSN critique pilot</c:v>
                </c:pt>
                <c:pt idx="1">
                  <c:v>Drift monitoring platform</c:v>
                </c:pt>
                <c:pt idx="2">
                  <c:v>Synthetic data PoC (CV)</c:v>
                </c:pt>
                <c:pt idx="3">
                  <c:v>Adversarial CI suite</c:v>
                </c:pt>
                <c:pt idx="4">
                  <c:v>Metamorphic test framework</c:v>
                </c:pt>
                <c:pt idx="5">
                  <c:v>AI Test Assurance Cell / yr</c:v>
                </c:pt>
              </c:strCache>
            </c:strRef>
          </c:cat>
          <c:val>
            <c:numRef>
              <c:f>Sheet1!$B$2:$B$7</c:f>
              <c:numCache>
                <c:formatCode>General</c:formatCode>
                <c:ptCount val="6"/>
                <c:pt idx="0">
                  <c:v>225</c:v>
                </c:pt>
                <c:pt idx="1">
                  <c:v>400</c:v>
                </c:pt>
                <c:pt idx="2">
                  <c:v>300</c:v>
                </c:pt>
                <c:pt idx="3">
                  <c:v>275</c:v>
                </c:pt>
                <c:pt idx="4">
                  <c:v>500</c:v>
                </c:pt>
                <c:pt idx="5">
                  <c:v>350</c:v>
                </c:pt>
              </c:numCache>
            </c:numRef>
          </c:val>
          <c:extLst>
            <c:ext xmlns:c16="http://schemas.microsoft.com/office/drawing/2014/chart" uri="{C3380CC4-5D6E-409C-BE32-E72D297353CC}">
              <c16:uniqueId val="{00000000-5B09-9347-8599-EE1457DF42A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F4F1E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27558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F4F1EC"/>
                </a:solidFill>
                <a:latin typeface="Arial"/>
              </a:defRPr>
            </a:pPr>
            <a:endParaRPr lang="en-US"/>
          </a:p>
        </c:txPr>
        <c:crossAx val="2094734554"/>
        <c:crosses val="autoZero"/>
        <c:crossBetween val="between"/>
      </c:valAx>
      <c:spPr>
        <a:solidFill>
          <a:srgbClr val="0B1F3A"/>
        </a:solidFill>
        <a:ln>
          <a:noFill/>
        </a:ln>
        <a:effectLst/>
      </c:spPr>
    </c:plotArea>
    <c:plotVisOnly val="1"/>
    <c:dispBlanksAs val="span"/>
    <c:showDLblsOverMax val="1"/>
  </c:chart>
  <c:spPr>
    <a:solidFill>
      <a:srgbClr val="0B1F3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9925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4.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D9488"/>
          </a:solidFill>
          <a:ln/>
        </p:spPr>
        <p:txBody>
          <a:bodyPr/>
          <a:lstStyle/>
          <a:p>
            <a:endParaRPr lang="en-US"/>
          </a:p>
        </p:txBody>
      </p:sp>
      <p:sp>
        <p:nvSpPr>
          <p:cNvPr id="3" name="Text 1"/>
          <p:cNvSpPr/>
          <p:nvPr/>
        </p:nvSpPr>
        <p:spPr>
          <a:xfrm>
            <a:off x="548640" y="320040"/>
            <a:ext cx="10972800" cy="320040"/>
          </a:xfrm>
          <a:prstGeom prst="rect">
            <a:avLst/>
          </a:prstGeom>
          <a:noFill/>
          <a:ln/>
        </p:spPr>
        <p:txBody>
          <a:bodyPr wrap="square" lIns="0" tIns="0" rIns="0" bIns="0" rtlCol="0" anchor="ctr"/>
          <a:lstStyle/>
          <a:p>
            <a:pPr marL="0" indent="0">
              <a:buNone/>
            </a:pPr>
            <a:r>
              <a:rPr lang="en-US" sz="1100" b="1" kern="0" spc="600" dirty="0">
                <a:solidFill>
                  <a:srgbClr val="0D9488"/>
                </a:solidFill>
                <a:latin typeface="Calibri" pitchFamily="34" charset="0"/>
                <a:ea typeface="Calibri" pitchFamily="34" charset="-122"/>
                <a:cs typeface="Calibri" pitchFamily="34" charset="-120"/>
              </a:rPr>
              <a:t>EXECUTIVE SUMMARY</a:t>
            </a:r>
            <a:endParaRPr lang="en-US" sz="1100" dirty="0"/>
          </a:p>
        </p:txBody>
      </p:sp>
      <p:sp>
        <p:nvSpPr>
          <p:cNvPr id="4" name="Text 2"/>
          <p:cNvSpPr/>
          <p:nvPr/>
        </p:nvSpPr>
        <p:spPr>
          <a:xfrm>
            <a:off x="548640" y="640080"/>
            <a:ext cx="11155680" cy="777240"/>
          </a:xfrm>
          <a:prstGeom prst="rect">
            <a:avLst/>
          </a:prstGeom>
          <a:noFill/>
          <a:ln/>
        </p:spPr>
        <p:txBody>
          <a:bodyPr wrap="square" lIns="0" tIns="0" rIns="0" bIns="0" rtlCol="0" anchor="ctr"/>
          <a:lstStyle/>
          <a:p>
            <a:pPr marL="0" indent="0">
              <a:buNone/>
            </a:pPr>
            <a:r>
              <a:rPr lang="en-US" sz="3000" b="1" dirty="0">
                <a:solidFill>
                  <a:srgbClr val="0B1F3A"/>
                </a:solidFill>
                <a:latin typeface="Georgia" pitchFamily="34" charset="0"/>
                <a:ea typeface="Georgia" pitchFamily="34" charset="-122"/>
                <a:cs typeface="Georgia" pitchFamily="34" charset="-120"/>
              </a:rPr>
              <a:t>Why testing AI demands a different approach</a:t>
            </a:r>
            <a:endParaRPr lang="en-US" sz="3000" dirty="0"/>
          </a:p>
        </p:txBody>
      </p:sp>
      <p:sp>
        <p:nvSpPr>
          <p:cNvPr id="5" name="Shape 3"/>
          <p:cNvSpPr/>
          <p:nvPr/>
        </p:nvSpPr>
        <p:spPr>
          <a:xfrm>
            <a:off x="548640" y="1508760"/>
            <a:ext cx="822960" cy="36576"/>
          </a:xfrm>
          <a:prstGeom prst="rect">
            <a:avLst/>
          </a:prstGeom>
          <a:solidFill>
            <a:srgbClr val="0D9488"/>
          </a:solidFill>
          <a:ln/>
        </p:spPr>
        <p:txBody>
          <a:bodyPr/>
          <a:lstStyle/>
          <a:p>
            <a:endParaRPr lang="en-US"/>
          </a:p>
        </p:txBody>
      </p:sp>
      <p:sp>
        <p:nvSpPr>
          <p:cNvPr id="6" name="Text 4"/>
          <p:cNvSpPr/>
          <p:nvPr/>
        </p:nvSpPr>
        <p:spPr>
          <a:xfrm>
            <a:off x="548640" y="1828800"/>
            <a:ext cx="6583680" cy="2926080"/>
          </a:xfrm>
          <a:prstGeom prst="rect">
            <a:avLst/>
          </a:prstGeom>
          <a:noFill/>
          <a:ln/>
        </p:spPr>
        <p:txBody>
          <a:bodyPr wrap="square" lIns="0" tIns="0" rIns="0" bIns="0" rtlCol="0" anchor="t"/>
          <a:lstStyle/>
          <a:p>
            <a:pPr marL="0" indent="0">
              <a:spcAft>
                <a:spcPts val="800"/>
              </a:spcAft>
              <a:buNone/>
            </a:pPr>
            <a:r>
              <a:rPr lang="en-US" sz="1400" dirty="0">
                <a:solidFill>
                  <a:srgbClr val="0B1F3A"/>
                </a:solidFill>
                <a:latin typeface="Calibri" pitchFamily="34" charset="0"/>
                <a:ea typeface="Calibri" pitchFamily="34" charset="-122"/>
                <a:cs typeface="Calibri" pitchFamily="34" charset="-120"/>
              </a:rPr>
              <a:t>Machine-learning systems have no inspectable source code — behaviour emerges from data. Traditional V&amp;V assumes specifiable requirements and deterministic logic; ML offers statistical guarantees at best, and degrades in production through data, concept and model drift. AMLAS and SACE (University of York) replace single-point certification with lifecycle assurance, and JSP 936 mandates their principles. AI itself is our most powerful lever to generate, execute and audit the testing evidence that makes defence AI safe to field.</a:t>
            </a:r>
            <a:endParaRPr lang="en-US" sz="1400" dirty="0"/>
          </a:p>
        </p:txBody>
      </p:sp>
      <p:sp>
        <p:nvSpPr>
          <p:cNvPr id="7" name="Shape 5"/>
          <p:cNvSpPr/>
          <p:nvPr/>
        </p:nvSpPr>
        <p:spPr>
          <a:xfrm>
            <a:off x="7498080" y="1828800"/>
            <a:ext cx="4206240" cy="932688"/>
          </a:xfrm>
          <a:prstGeom prst="rect">
            <a:avLst/>
          </a:prstGeom>
          <a:solidFill>
            <a:srgbClr val="FFFFFF"/>
          </a:solidFill>
          <a:ln w="6350">
            <a:solidFill>
              <a:srgbClr val="E5E5E5"/>
            </a:solidFill>
            <a:prstDash val="solid"/>
          </a:ln>
          <a:effectLst>
            <a:outerShdw blurRad="76200" dist="19050" dir="5400000" algn="bl" rotWithShape="0">
              <a:srgbClr val="000000">
                <a:alpha val="8000"/>
              </a:srgbClr>
            </a:outerShdw>
          </a:effectLst>
        </p:spPr>
        <p:txBody>
          <a:bodyPr/>
          <a:lstStyle/>
          <a:p>
            <a:endParaRPr lang="en-US"/>
          </a:p>
        </p:txBody>
      </p:sp>
      <p:sp>
        <p:nvSpPr>
          <p:cNvPr id="8" name="Shape 6"/>
          <p:cNvSpPr/>
          <p:nvPr/>
        </p:nvSpPr>
        <p:spPr>
          <a:xfrm>
            <a:off x="7498080" y="1828800"/>
            <a:ext cx="73152" cy="932688"/>
          </a:xfrm>
          <a:prstGeom prst="rect">
            <a:avLst/>
          </a:prstGeom>
          <a:solidFill>
            <a:srgbClr val="0D9488"/>
          </a:solidFill>
          <a:ln/>
        </p:spPr>
        <p:txBody>
          <a:bodyPr/>
          <a:lstStyle/>
          <a:p>
            <a:endParaRPr lang="en-US"/>
          </a:p>
        </p:txBody>
      </p:sp>
      <p:sp>
        <p:nvSpPr>
          <p:cNvPr id="9" name="Text 7"/>
          <p:cNvSpPr/>
          <p:nvPr/>
        </p:nvSpPr>
        <p:spPr>
          <a:xfrm>
            <a:off x="7680960" y="1874520"/>
            <a:ext cx="2148840" cy="841248"/>
          </a:xfrm>
          <a:prstGeom prst="rect">
            <a:avLst/>
          </a:prstGeom>
          <a:noFill/>
          <a:ln/>
        </p:spPr>
        <p:txBody>
          <a:bodyPr wrap="square" lIns="0" tIns="0" rIns="0" bIns="0" rtlCol="0" anchor="ctr"/>
          <a:lstStyle/>
          <a:p>
            <a:pPr marL="0" indent="0">
              <a:buNone/>
            </a:pPr>
            <a:r>
              <a:rPr lang="en-US" sz="2200" b="1" dirty="0">
                <a:solidFill>
                  <a:srgbClr val="0D9488"/>
                </a:solidFill>
                <a:latin typeface="Georgia" pitchFamily="34" charset="0"/>
                <a:ea typeface="Georgia" pitchFamily="34" charset="-122"/>
                <a:cs typeface="Georgia" pitchFamily="34" charset="-120"/>
              </a:rPr>
              <a:t>60–80%</a:t>
            </a:r>
            <a:endParaRPr lang="en-US" sz="2200" dirty="0"/>
          </a:p>
        </p:txBody>
      </p:sp>
      <p:sp>
        <p:nvSpPr>
          <p:cNvPr id="10" name="Text 8"/>
          <p:cNvSpPr/>
          <p:nvPr/>
        </p:nvSpPr>
        <p:spPr>
          <a:xfrm>
            <a:off x="9829800" y="1901952"/>
            <a:ext cx="1737360" cy="786384"/>
          </a:xfrm>
          <a:prstGeom prst="rect">
            <a:avLst/>
          </a:prstGeom>
          <a:noFill/>
          <a:ln/>
        </p:spPr>
        <p:txBody>
          <a:bodyPr wrap="square" lIns="0" tIns="0" rIns="0" bIns="0" rtlCol="0" anchor="ctr"/>
          <a:lstStyle/>
          <a:p>
            <a:pPr marL="0" indent="0">
              <a:buNone/>
            </a:pPr>
            <a:r>
              <a:rPr lang="en-US" sz="1050" dirty="0">
                <a:solidFill>
                  <a:srgbClr val="5B6A82"/>
                </a:solidFill>
                <a:latin typeface="Calibri" pitchFamily="34" charset="0"/>
                <a:ea typeface="Calibri" pitchFamily="34" charset="-122"/>
                <a:cs typeface="Calibri" pitchFamily="34" charset="-120"/>
              </a:rPr>
              <a:t>of ML production failures trace back to data quality — not model code</a:t>
            </a:r>
            <a:endParaRPr lang="en-US" sz="1050" dirty="0"/>
          </a:p>
        </p:txBody>
      </p:sp>
      <p:sp>
        <p:nvSpPr>
          <p:cNvPr id="11" name="Shape 9"/>
          <p:cNvSpPr/>
          <p:nvPr/>
        </p:nvSpPr>
        <p:spPr>
          <a:xfrm>
            <a:off x="7498080" y="2834640"/>
            <a:ext cx="4206240" cy="932688"/>
          </a:xfrm>
          <a:prstGeom prst="rect">
            <a:avLst/>
          </a:prstGeom>
          <a:solidFill>
            <a:srgbClr val="FFFFFF"/>
          </a:solidFill>
          <a:ln w="6350">
            <a:solidFill>
              <a:srgbClr val="E5E5E5"/>
            </a:solidFill>
            <a:prstDash val="solid"/>
          </a:ln>
          <a:effectLst>
            <a:outerShdw blurRad="76200" dist="19050" dir="5400000" algn="bl" rotWithShape="0">
              <a:srgbClr val="000000">
                <a:alpha val="8000"/>
              </a:srgbClr>
            </a:outerShdw>
          </a:effectLst>
        </p:spPr>
        <p:txBody>
          <a:bodyPr/>
          <a:lstStyle/>
          <a:p>
            <a:endParaRPr lang="en-US"/>
          </a:p>
        </p:txBody>
      </p:sp>
      <p:sp>
        <p:nvSpPr>
          <p:cNvPr id="12" name="Shape 10"/>
          <p:cNvSpPr/>
          <p:nvPr/>
        </p:nvSpPr>
        <p:spPr>
          <a:xfrm>
            <a:off x="7498080" y="2834640"/>
            <a:ext cx="73152" cy="932688"/>
          </a:xfrm>
          <a:prstGeom prst="rect">
            <a:avLst/>
          </a:prstGeom>
          <a:solidFill>
            <a:srgbClr val="14385E"/>
          </a:solidFill>
          <a:ln/>
        </p:spPr>
        <p:txBody>
          <a:bodyPr/>
          <a:lstStyle/>
          <a:p>
            <a:endParaRPr lang="en-US"/>
          </a:p>
        </p:txBody>
      </p:sp>
      <p:sp>
        <p:nvSpPr>
          <p:cNvPr id="13" name="Text 11"/>
          <p:cNvSpPr/>
          <p:nvPr/>
        </p:nvSpPr>
        <p:spPr>
          <a:xfrm>
            <a:off x="7680960" y="2880360"/>
            <a:ext cx="2148840" cy="841248"/>
          </a:xfrm>
          <a:prstGeom prst="rect">
            <a:avLst/>
          </a:prstGeom>
          <a:noFill/>
          <a:ln/>
        </p:spPr>
        <p:txBody>
          <a:bodyPr wrap="square" lIns="0" tIns="0" rIns="0" bIns="0" rtlCol="0" anchor="ctr"/>
          <a:lstStyle/>
          <a:p>
            <a:pPr marL="0" indent="0">
              <a:buNone/>
            </a:pPr>
            <a:r>
              <a:rPr lang="en-US" sz="2200" b="1" dirty="0">
                <a:solidFill>
                  <a:srgbClr val="14385E"/>
                </a:solidFill>
                <a:latin typeface="Georgia" pitchFamily="34" charset="0"/>
                <a:ea typeface="Georgia" pitchFamily="34" charset="-122"/>
                <a:cs typeface="Georgia" pitchFamily="34" charset="-120"/>
              </a:rPr>
              <a:t>10–30%</a:t>
            </a:r>
            <a:endParaRPr lang="en-US" sz="2200" dirty="0"/>
          </a:p>
        </p:txBody>
      </p:sp>
      <p:sp>
        <p:nvSpPr>
          <p:cNvPr id="14" name="Text 12"/>
          <p:cNvSpPr/>
          <p:nvPr/>
        </p:nvSpPr>
        <p:spPr>
          <a:xfrm>
            <a:off x="9829800" y="2907792"/>
            <a:ext cx="1737360" cy="786384"/>
          </a:xfrm>
          <a:prstGeom prst="rect">
            <a:avLst/>
          </a:prstGeom>
          <a:noFill/>
          <a:ln/>
        </p:spPr>
        <p:txBody>
          <a:bodyPr wrap="square" lIns="0" tIns="0" rIns="0" bIns="0" rtlCol="0" anchor="ctr"/>
          <a:lstStyle/>
          <a:p>
            <a:pPr marL="0" indent="0">
              <a:buNone/>
            </a:pPr>
            <a:r>
              <a:rPr lang="en-US" sz="1050" dirty="0">
                <a:solidFill>
                  <a:srgbClr val="5B6A82"/>
                </a:solidFill>
                <a:latin typeface="Calibri" pitchFamily="34" charset="0"/>
                <a:ea typeface="Calibri" pitchFamily="34" charset="-122"/>
                <a:cs typeface="Calibri" pitchFamily="34" charset="-120"/>
              </a:rPr>
              <a:t>model accuracy drop from drift in the first 6–12 months of deployment</a:t>
            </a:r>
            <a:endParaRPr lang="en-US" sz="1050" dirty="0"/>
          </a:p>
        </p:txBody>
      </p:sp>
      <p:sp>
        <p:nvSpPr>
          <p:cNvPr id="15" name="Shape 13"/>
          <p:cNvSpPr/>
          <p:nvPr/>
        </p:nvSpPr>
        <p:spPr>
          <a:xfrm>
            <a:off x="7498080" y="3840480"/>
            <a:ext cx="4206240" cy="932688"/>
          </a:xfrm>
          <a:prstGeom prst="rect">
            <a:avLst/>
          </a:prstGeom>
          <a:solidFill>
            <a:srgbClr val="FFFFFF"/>
          </a:solidFill>
          <a:ln w="6350">
            <a:solidFill>
              <a:srgbClr val="E5E5E5"/>
            </a:solidFill>
            <a:prstDash val="solid"/>
          </a:ln>
          <a:effectLst>
            <a:outerShdw blurRad="76200" dist="19050" dir="5400000" algn="bl" rotWithShape="0">
              <a:srgbClr val="000000">
                <a:alpha val="8000"/>
              </a:srgbClr>
            </a:outerShdw>
          </a:effectLst>
        </p:spPr>
        <p:txBody>
          <a:bodyPr/>
          <a:lstStyle/>
          <a:p>
            <a:endParaRPr lang="en-US"/>
          </a:p>
        </p:txBody>
      </p:sp>
      <p:sp>
        <p:nvSpPr>
          <p:cNvPr id="16" name="Shape 14"/>
          <p:cNvSpPr/>
          <p:nvPr/>
        </p:nvSpPr>
        <p:spPr>
          <a:xfrm>
            <a:off x="7498080" y="3840480"/>
            <a:ext cx="73152" cy="932688"/>
          </a:xfrm>
          <a:prstGeom prst="rect">
            <a:avLst/>
          </a:prstGeom>
          <a:solidFill>
            <a:srgbClr val="C8102E"/>
          </a:solidFill>
          <a:ln/>
        </p:spPr>
        <p:txBody>
          <a:bodyPr/>
          <a:lstStyle/>
          <a:p>
            <a:endParaRPr lang="en-US"/>
          </a:p>
        </p:txBody>
      </p:sp>
      <p:sp>
        <p:nvSpPr>
          <p:cNvPr id="17" name="Text 15"/>
          <p:cNvSpPr/>
          <p:nvPr/>
        </p:nvSpPr>
        <p:spPr>
          <a:xfrm>
            <a:off x="7680960" y="3886200"/>
            <a:ext cx="2148840" cy="841248"/>
          </a:xfrm>
          <a:prstGeom prst="rect">
            <a:avLst/>
          </a:prstGeom>
          <a:noFill/>
          <a:ln/>
        </p:spPr>
        <p:txBody>
          <a:bodyPr wrap="square" lIns="0" tIns="0" rIns="0" bIns="0" rtlCol="0" anchor="ctr"/>
          <a:lstStyle/>
          <a:p>
            <a:pPr marL="0" indent="0">
              <a:buNone/>
            </a:pPr>
            <a:r>
              <a:rPr lang="en-US" sz="2200" b="1" dirty="0">
                <a:solidFill>
                  <a:srgbClr val="C8102E"/>
                </a:solidFill>
                <a:latin typeface="Georgia" pitchFamily="34" charset="0"/>
                <a:ea typeface="Georgia" pitchFamily="34" charset="-122"/>
                <a:cs typeface="Georgia" pitchFamily="34" charset="-120"/>
              </a:rPr>
              <a:t>&lt; 1%</a:t>
            </a:r>
            <a:endParaRPr lang="en-US" sz="2200" dirty="0"/>
          </a:p>
        </p:txBody>
      </p:sp>
      <p:sp>
        <p:nvSpPr>
          <p:cNvPr id="18" name="Text 16"/>
          <p:cNvSpPr/>
          <p:nvPr/>
        </p:nvSpPr>
        <p:spPr>
          <a:xfrm>
            <a:off x="9829800" y="3913632"/>
            <a:ext cx="1737360" cy="786384"/>
          </a:xfrm>
          <a:prstGeom prst="rect">
            <a:avLst/>
          </a:prstGeom>
          <a:noFill/>
          <a:ln/>
        </p:spPr>
        <p:txBody>
          <a:bodyPr wrap="square" lIns="0" tIns="0" rIns="0" bIns="0" rtlCol="0" anchor="ctr"/>
          <a:lstStyle/>
          <a:p>
            <a:pPr marL="0" indent="0">
              <a:buNone/>
            </a:pPr>
            <a:r>
              <a:rPr lang="en-US" sz="1050" dirty="0">
                <a:solidFill>
                  <a:srgbClr val="5B6A82"/>
                </a:solidFill>
                <a:latin typeface="Calibri" pitchFamily="34" charset="0"/>
                <a:ea typeface="Calibri" pitchFamily="34" charset="-122"/>
                <a:cs typeface="Calibri" pitchFamily="34" charset="-120"/>
              </a:rPr>
              <a:t>perturbation flips most CV classifier outputs under adversarial attack</a:t>
            </a:r>
            <a:endParaRPr lang="en-US" sz="1050" dirty="0"/>
          </a:p>
        </p:txBody>
      </p:sp>
      <p:sp>
        <p:nvSpPr>
          <p:cNvPr id="19" name="Shape 17"/>
          <p:cNvSpPr/>
          <p:nvPr/>
        </p:nvSpPr>
        <p:spPr>
          <a:xfrm>
            <a:off x="7498080" y="4846320"/>
            <a:ext cx="4206240" cy="932688"/>
          </a:xfrm>
          <a:prstGeom prst="rect">
            <a:avLst/>
          </a:prstGeom>
          <a:solidFill>
            <a:srgbClr val="FFFFFF"/>
          </a:solidFill>
          <a:ln w="6350">
            <a:solidFill>
              <a:srgbClr val="E5E5E5"/>
            </a:solidFill>
            <a:prstDash val="solid"/>
          </a:ln>
          <a:effectLst>
            <a:outerShdw blurRad="76200" dist="19050" dir="5400000" algn="bl" rotWithShape="0">
              <a:srgbClr val="000000">
                <a:alpha val="8000"/>
              </a:srgbClr>
            </a:outerShdw>
          </a:effectLst>
        </p:spPr>
        <p:txBody>
          <a:bodyPr/>
          <a:lstStyle/>
          <a:p>
            <a:endParaRPr lang="en-US"/>
          </a:p>
        </p:txBody>
      </p:sp>
      <p:sp>
        <p:nvSpPr>
          <p:cNvPr id="20" name="Shape 18"/>
          <p:cNvSpPr/>
          <p:nvPr/>
        </p:nvSpPr>
        <p:spPr>
          <a:xfrm>
            <a:off x="7498080" y="4846320"/>
            <a:ext cx="73152" cy="932688"/>
          </a:xfrm>
          <a:prstGeom prst="rect">
            <a:avLst/>
          </a:prstGeom>
          <a:solidFill>
            <a:srgbClr val="D4A24C"/>
          </a:solidFill>
          <a:ln/>
        </p:spPr>
        <p:txBody>
          <a:bodyPr/>
          <a:lstStyle/>
          <a:p>
            <a:endParaRPr lang="en-US"/>
          </a:p>
        </p:txBody>
      </p:sp>
      <p:sp>
        <p:nvSpPr>
          <p:cNvPr id="21" name="Text 19"/>
          <p:cNvSpPr/>
          <p:nvPr/>
        </p:nvSpPr>
        <p:spPr>
          <a:xfrm>
            <a:off x="7680960" y="4892040"/>
            <a:ext cx="2148840" cy="841248"/>
          </a:xfrm>
          <a:prstGeom prst="rect">
            <a:avLst/>
          </a:prstGeom>
          <a:noFill/>
          <a:ln/>
        </p:spPr>
        <p:txBody>
          <a:bodyPr wrap="square" lIns="0" tIns="0" rIns="0" bIns="0" rtlCol="0" anchor="ctr"/>
          <a:lstStyle/>
          <a:p>
            <a:pPr marL="0" indent="0">
              <a:buNone/>
            </a:pPr>
            <a:r>
              <a:rPr lang="en-US" sz="2200" b="1" dirty="0">
                <a:solidFill>
                  <a:srgbClr val="D4A24C"/>
                </a:solidFill>
                <a:latin typeface="Georgia" pitchFamily="34" charset="0"/>
                <a:ea typeface="Georgia" pitchFamily="34" charset="-122"/>
                <a:cs typeface="Georgia" pitchFamily="34" charset="-120"/>
              </a:rPr>
              <a:t>106 techniques</a:t>
            </a:r>
            <a:endParaRPr lang="en-US" sz="2200" dirty="0"/>
          </a:p>
        </p:txBody>
      </p:sp>
      <p:sp>
        <p:nvSpPr>
          <p:cNvPr id="22" name="Text 20"/>
          <p:cNvSpPr/>
          <p:nvPr/>
        </p:nvSpPr>
        <p:spPr>
          <a:xfrm>
            <a:off x="9829800" y="4919472"/>
            <a:ext cx="1737360" cy="786384"/>
          </a:xfrm>
          <a:prstGeom prst="rect">
            <a:avLst/>
          </a:prstGeom>
          <a:noFill/>
          <a:ln/>
        </p:spPr>
        <p:txBody>
          <a:bodyPr wrap="square" lIns="0" tIns="0" rIns="0" bIns="0" rtlCol="0" anchor="ctr"/>
          <a:lstStyle/>
          <a:p>
            <a:pPr marL="0" indent="0">
              <a:buNone/>
            </a:pPr>
            <a:r>
              <a:rPr lang="en-US" sz="1050" dirty="0">
                <a:solidFill>
                  <a:srgbClr val="5B6A82"/>
                </a:solidFill>
                <a:latin typeface="Calibri" pitchFamily="34" charset="0"/>
                <a:ea typeface="Calibri" pitchFamily="34" charset="-122"/>
                <a:cs typeface="Calibri" pitchFamily="34" charset="-120"/>
              </a:rPr>
              <a:t>of published test design exist — selection is itself an AI-assistable task</a:t>
            </a:r>
            <a:endParaRPr lang="en-US" sz="1050" dirty="0"/>
          </a:p>
        </p:txBody>
      </p:sp>
      <p:sp>
        <p:nvSpPr>
          <p:cNvPr id="23" name="Shape 21"/>
          <p:cNvSpPr/>
          <p:nvPr/>
        </p:nvSpPr>
        <p:spPr>
          <a:xfrm>
            <a:off x="548640" y="5943600"/>
            <a:ext cx="11155680" cy="457200"/>
          </a:xfrm>
          <a:prstGeom prst="rect">
            <a:avLst/>
          </a:prstGeom>
          <a:solidFill>
            <a:srgbClr val="0B1F3A"/>
          </a:solidFill>
          <a:ln/>
        </p:spPr>
        <p:txBody>
          <a:bodyPr/>
          <a:lstStyle/>
          <a:p>
            <a:endParaRPr lang="en-US"/>
          </a:p>
        </p:txBody>
      </p:sp>
      <p:sp>
        <p:nvSpPr>
          <p:cNvPr id="24" name="Text 22"/>
          <p:cNvSpPr/>
          <p:nvPr/>
        </p:nvSpPr>
        <p:spPr>
          <a:xfrm>
            <a:off x="731520" y="5943600"/>
            <a:ext cx="10972800" cy="45720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AMLAS and SACE are lifecycle frameworks — testing is a continuous control, not a one-off gate.</a:t>
            </a:r>
            <a:endParaRPr lang="en-US" sz="1300" dirty="0"/>
          </a:p>
        </p:txBody>
      </p:sp>
      <p:sp>
        <p:nvSpPr>
          <p:cNvPr id="25" name="Shape 23"/>
          <p:cNvSpPr/>
          <p:nvPr/>
        </p:nvSpPr>
        <p:spPr>
          <a:xfrm>
            <a:off x="0" y="6537960"/>
            <a:ext cx="12191695" cy="320040"/>
          </a:xfrm>
          <a:prstGeom prst="rect">
            <a:avLst/>
          </a:prstGeom>
          <a:solidFill>
            <a:srgbClr val="0B1F3A"/>
          </a:solidFill>
          <a:ln/>
        </p:spPr>
        <p:txBody>
          <a:bodyPr/>
          <a:lstStyle/>
          <a:p>
            <a:endParaRPr lang="en-US"/>
          </a:p>
        </p:txBody>
      </p:sp>
      <p:sp>
        <p:nvSpPr>
          <p:cNvPr id="26" name="Text 24"/>
          <p:cNvSpPr/>
          <p:nvPr/>
        </p:nvSpPr>
        <p:spPr>
          <a:xfrm>
            <a:off x="365760" y="6547104"/>
            <a:ext cx="8229600" cy="301752"/>
          </a:xfrm>
          <a:prstGeom prst="rect">
            <a:avLst/>
          </a:prstGeom>
          <a:noFill/>
          <a:ln/>
        </p:spPr>
        <p:txBody>
          <a:bodyPr wrap="square" lIns="0" tIns="0" rIns="0" bIns="0" rtlCol="0" anchor="ctr"/>
          <a:lstStyle/>
          <a:p>
            <a:pPr marL="0" indent="0">
              <a:buNone/>
            </a:pPr>
            <a:r>
              <a:rPr lang="en-US" sz="900" dirty="0">
                <a:solidFill>
                  <a:srgbClr val="F4F1EC"/>
                </a:solidFill>
                <a:latin typeface="Calibri" pitchFamily="34" charset="0"/>
                <a:ea typeface="Calibri" pitchFamily="34" charset="-122"/>
                <a:cs typeface="Calibri" pitchFamily="34" charset="-120"/>
              </a:rPr>
              <a:t>UNCLASSIFIED  |  UK MOD  |  Testing AI with AI  |  April 2026</a:t>
            </a:r>
            <a:endParaRPr lang="en-US" sz="900" dirty="0"/>
          </a:p>
        </p:txBody>
      </p:sp>
      <p:sp>
        <p:nvSpPr>
          <p:cNvPr id="27" name="Text 25"/>
          <p:cNvSpPr/>
          <p:nvPr/>
        </p:nvSpPr>
        <p:spPr>
          <a:xfrm>
            <a:off x="11094415" y="6547104"/>
            <a:ext cx="731520" cy="301752"/>
          </a:xfrm>
          <a:prstGeom prst="rect">
            <a:avLst/>
          </a:prstGeom>
          <a:noFill/>
          <a:ln/>
        </p:spPr>
        <p:txBody>
          <a:bodyPr wrap="square" lIns="0" tIns="0" rIns="0" bIns="0" rtlCol="0" anchor="ctr"/>
          <a:lstStyle/>
          <a:p>
            <a:pPr marL="0" indent="0" algn="r">
              <a:buNone/>
            </a:pPr>
            <a:r>
              <a:rPr lang="en-US" sz="900" dirty="0">
                <a:solidFill>
                  <a:srgbClr val="F4F1EC"/>
                </a:solidFill>
                <a:latin typeface="Calibri" pitchFamily="34" charset="0"/>
                <a:ea typeface="Calibri" pitchFamily="34" charset="-122"/>
                <a:cs typeface="Calibri" pitchFamily="34" charset="-120"/>
              </a:rPr>
              <a:t>2 / 13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D9488"/>
          </a:solidFill>
          <a:ln/>
        </p:spPr>
        <p:txBody>
          <a:bodyPr/>
          <a:lstStyle/>
          <a:p>
            <a:endParaRPr lang="en-US"/>
          </a:p>
        </p:txBody>
      </p:sp>
      <p:sp>
        <p:nvSpPr>
          <p:cNvPr id="3" name="Text 1"/>
          <p:cNvSpPr/>
          <p:nvPr/>
        </p:nvSpPr>
        <p:spPr>
          <a:xfrm>
            <a:off x="548640" y="320040"/>
            <a:ext cx="10972800" cy="320040"/>
          </a:xfrm>
          <a:prstGeom prst="rect">
            <a:avLst/>
          </a:prstGeom>
          <a:noFill/>
          <a:ln/>
        </p:spPr>
        <p:txBody>
          <a:bodyPr wrap="square" lIns="0" tIns="0" rIns="0" bIns="0" rtlCol="0" anchor="ctr"/>
          <a:lstStyle/>
          <a:p>
            <a:pPr marL="0" indent="0">
              <a:buNone/>
            </a:pPr>
            <a:r>
              <a:rPr lang="en-US" sz="1100" b="1" kern="0" spc="600" dirty="0">
                <a:solidFill>
                  <a:srgbClr val="0D9488"/>
                </a:solidFill>
                <a:latin typeface="Calibri" pitchFamily="34" charset="0"/>
                <a:ea typeface="Calibri" pitchFamily="34" charset="-122"/>
                <a:cs typeface="Calibri" pitchFamily="34" charset="-120"/>
              </a:rPr>
              <a:t>STACK</a:t>
            </a:r>
            <a:endParaRPr lang="en-US" sz="1100" dirty="0"/>
          </a:p>
        </p:txBody>
      </p:sp>
      <p:sp>
        <p:nvSpPr>
          <p:cNvPr id="4" name="Text 2"/>
          <p:cNvSpPr/>
          <p:nvPr/>
        </p:nvSpPr>
        <p:spPr>
          <a:xfrm>
            <a:off x="548640" y="640080"/>
            <a:ext cx="11155680" cy="777240"/>
          </a:xfrm>
          <a:prstGeom prst="rect">
            <a:avLst/>
          </a:prstGeom>
          <a:noFill/>
          <a:ln/>
        </p:spPr>
        <p:txBody>
          <a:bodyPr wrap="square" lIns="0" tIns="0" rIns="0" bIns="0" rtlCol="0" anchor="ctr"/>
          <a:lstStyle/>
          <a:p>
            <a:pPr marL="0" indent="0">
              <a:buNone/>
            </a:pPr>
            <a:r>
              <a:rPr lang="en-US" sz="3000" b="1" dirty="0">
                <a:solidFill>
                  <a:srgbClr val="0B1F3A"/>
                </a:solidFill>
                <a:latin typeface="Georgia" pitchFamily="34" charset="0"/>
                <a:ea typeface="Georgia" pitchFamily="34" charset="-122"/>
                <a:cs typeface="Georgia" pitchFamily="34" charset="-120"/>
              </a:rPr>
              <a:t>Five layers — every one a target for AI-augmented testing</a:t>
            </a:r>
            <a:endParaRPr lang="en-US" sz="3000" dirty="0"/>
          </a:p>
        </p:txBody>
      </p:sp>
      <p:sp>
        <p:nvSpPr>
          <p:cNvPr id="5" name="Shape 3"/>
          <p:cNvSpPr/>
          <p:nvPr/>
        </p:nvSpPr>
        <p:spPr>
          <a:xfrm>
            <a:off x="548640" y="1508760"/>
            <a:ext cx="822960" cy="36576"/>
          </a:xfrm>
          <a:prstGeom prst="rect">
            <a:avLst/>
          </a:prstGeom>
          <a:solidFill>
            <a:srgbClr val="0D9488"/>
          </a:solidFill>
          <a:ln/>
        </p:spPr>
        <p:txBody>
          <a:bodyPr/>
          <a:lstStyle/>
          <a:p>
            <a:endParaRPr lang="en-US"/>
          </a:p>
        </p:txBody>
      </p:sp>
      <p:sp>
        <p:nvSpPr>
          <p:cNvPr id="6" name="Shape 4"/>
          <p:cNvSpPr/>
          <p:nvPr/>
        </p:nvSpPr>
        <p:spPr>
          <a:xfrm>
            <a:off x="548640" y="1874520"/>
            <a:ext cx="11155680" cy="822960"/>
          </a:xfrm>
          <a:prstGeom prst="rect">
            <a:avLst/>
          </a:prstGeom>
          <a:solidFill>
            <a:srgbClr val="FFFFFF"/>
          </a:solidFill>
          <a:ln w="6350">
            <a:solidFill>
              <a:srgbClr val="E5E5E5"/>
            </a:solidFill>
            <a:prstDash val="solid"/>
          </a:ln>
          <a:effectLst>
            <a:outerShdw blurRad="76200" dist="19050" dir="5400000" algn="bl" rotWithShape="0">
              <a:srgbClr val="000000">
                <a:alpha val="8000"/>
              </a:srgbClr>
            </a:outerShdw>
          </a:effectLst>
        </p:spPr>
        <p:txBody>
          <a:bodyPr/>
          <a:lstStyle/>
          <a:p>
            <a:endParaRPr lang="en-US"/>
          </a:p>
        </p:txBody>
      </p:sp>
      <p:sp>
        <p:nvSpPr>
          <p:cNvPr id="7" name="Shape 5"/>
          <p:cNvSpPr/>
          <p:nvPr/>
        </p:nvSpPr>
        <p:spPr>
          <a:xfrm>
            <a:off x="548640" y="1874520"/>
            <a:ext cx="914400" cy="822960"/>
          </a:xfrm>
          <a:prstGeom prst="rect">
            <a:avLst/>
          </a:prstGeom>
          <a:solidFill>
            <a:srgbClr val="C8102E"/>
          </a:solidFill>
          <a:ln/>
        </p:spPr>
        <p:txBody>
          <a:bodyPr/>
          <a:lstStyle/>
          <a:p>
            <a:endParaRPr lang="en-US"/>
          </a:p>
        </p:txBody>
      </p:sp>
      <p:sp>
        <p:nvSpPr>
          <p:cNvPr id="8" name="Text 6"/>
          <p:cNvSpPr/>
          <p:nvPr/>
        </p:nvSpPr>
        <p:spPr>
          <a:xfrm>
            <a:off x="548640" y="1874520"/>
            <a:ext cx="914400" cy="82296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05</a:t>
            </a:r>
            <a:endParaRPr lang="en-US" sz="2800" dirty="0"/>
          </a:p>
        </p:txBody>
      </p:sp>
      <p:sp>
        <p:nvSpPr>
          <p:cNvPr id="9" name="Shape 7"/>
          <p:cNvSpPr/>
          <p:nvPr/>
        </p:nvSpPr>
        <p:spPr>
          <a:xfrm>
            <a:off x="1645920" y="2057400"/>
            <a:ext cx="457200" cy="457200"/>
          </a:xfrm>
          <a:prstGeom prst="ellipse">
            <a:avLst/>
          </a:prstGeom>
          <a:solidFill>
            <a:srgbClr val="C8102E"/>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1709928" y="2121408"/>
            <a:ext cx="329184" cy="329184"/>
          </a:xfrm>
          <a:prstGeom prst="rect">
            <a:avLst/>
          </a:prstGeom>
        </p:spPr>
      </p:pic>
      <p:sp>
        <p:nvSpPr>
          <p:cNvPr id="11" name="Text 8"/>
          <p:cNvSpPr/>
          <p:nvPr/>
        </p:nvSpPr>
        <p:spPr>
          <a:xfrm>
            <a:off x="2240280" y="1965960"/>
            <a:ext cx="2377440" cy="640080"/>
          </a:xfrm>
          <a:prstGeom prst="rect">
            <a:avLst/>
          </a:prstGeom>
          <a:noFill/>
          <a:ln/>
        </p:spPr>
        <p:txBody>
          <a:bodyPr wrap="square" lIns="0" tIns="0" rIns="0" bIns="0" rtlCol="0" anchor="ctr"/>
          <a:lstStyle/>
          <a:p>
            <a:pPr marL="0" indent="0">
              <a:buNone/>
            </a:pPr>
            <a:r>
              <a:rPr lang="en-US" sz="1400" b="1" dirty="0">
                <a:solidFill>
                  <a:srgbClr val="0B1F3A"/>
                </a:solidFill>
                <a:latin typeface="Georgia" pitchFamily="34" charset="0"/>
                <a:ea typeface="Georgia" pitchFamily="34" charset="-122"/>
                <a:cs typeface="Georgia" pitchFamily="34" charset="-120"/>
              </a:rPr>
              <a:t>Assurance layer</a:t>
            </a:r>
            <a:endParaRPr lang="en-US" sz="1400" dirty="0"/>
          </a:p>
        </p:txBody>
      </p:sp>
      <p:sp>
        <p:nvSpPr>
          <p:cNvPr id="12" name="Text 9"/>
          <p:cNvSpPr/>
          <p:nvPr/>
        </p:nvSpPr>
        <p:spPr>
          <a:xfrm>
            <a:off x="4663440" y="1965960"/>
            <a:ext cx="3291840" cy="640080"/>
          </a:xfrm>
          <a:prstGeom prst="rect">
            <a:avLst/>
          </a:prstGeom>
          <a:noFill/>
          <a:ln/>
        </p:spPr>
        <p:txBody>
          <a:bodyPr wrap="square" lIns="0" tIns="0" rIns="0" bIns="0" rtlCol="0" anchor="ctr"/>
          <a:lstStyle/>
          <a:p>
            <a:pPr marL="0" indent="0">
              <a:buNone/>
            </a:pPr>
            <a:r>
              <a:rPr lang="en-US" sz="1100" dirty="0">
                <a:solidFill>
                  <a:srgbClr val="0B1F3A"/>
                </a:solidFill>
                <a:latin typeface="Calibri" pitchFamily="34" charset="0"/>
                <a:ea typeface="Calibri" pitchFamily="34" charset="-122"/>
                <a:cs typeface="Calibri" pitchFamily="34" charset="-120"/>
              </a:rPr>
              <a:t>Safety case, GSN, Article 36 readiness, AMLAS argument patterns.</a:t>
            </a:r>
            <a:endParaRPr lang="en-US" sz="1100" dirty="0"/>
          </a:p>
        </p:txBody>
      </p:sp>
      <p:sp>
        <p:nvSpPr>
          <p:cNvPr id="13" name="Text 10"/>
          <p:cNvSpPr/>
          <p:nvPr/>
        </p:nvSpPr>
        <p:spPr>
          <a:xfrm>
            <a:off x="8046720" y="1965960"/>
            <a:ext cx="3611880" cy="640080"/>
          </a:xfrm>
          <a:prstGeom prst="rect">
            <a:avLst/>
          </a:prstGeom>
          <a:noFill/>
          <a:ln/>
        </p:spPr>
        <p:txBody>
          <a:bodyPr wrap="square" lIns="0" tIns="0" rIns="0" bIns="0" rtlCol="0" anchor="ctr"/>
          <a:lstStyle/>
          <a:p>
            <a:pPr marL="0" indent="0">
              <a:buNone/>
            </a:pPr>
            <a:r>
              <a:rPr lang="en-US" sz="1050" i="1" dirty="0">
                <a:solidFill>
                  <a:srgbClr val="5B6A82"/>
                </a:solidFill>
                <a:latin typeface="Calibri" pitchFamily="34" charset="0"/>
                <a:ea typeface="Calibri" pitchFamily="34" charset="-122"/>
                <a:cs typeface="Calibri" pitchFamily="34" charset="-120"/>
              </a:rPr>
              <a:t>Tests: GSN completeness, claim ↔ evidence traceability, argument counterfactual.</a:t>
            </a:r>
            <a:endParaRPr lang="en-US" sz="1050" dirty="0"/>
          </a:p>
        </p:txBody>
      </p:sp>
      <p:sp>
        <p:nvSpPr>
          <p:cNvPr id="14" name="Shape 11"/>
          <p:cNvSpPr/>
          <p:nvPr/>
        </p:nvSpPr>
        <p:spPr>
          <a:xfrm>
            <a:off x="548640" y="2752344"/>
            <a:ext cx="11155680" cy="822960"/>
          </a:xfrm>
          <a:prstGeom prst="rect">
            <a:avLst/>
          </a:prstGeom>
          <a:solidFill>
            <a:srgbClr val="FFFFFF"/>
          </a:solidFill>
          <a:ln w="6350">
            <a:solidFill>
              <a:srgbClr val="E5E5E5"/>
            </a:solidFill>
            <a:prstDash val="solid"/>
          </a:ln>
          <a:effectLst>
            <a:outerShdw blurRad="76200" dist="19050" dir="5400000" algn="bl" rotWithShape="0">
              <a:srgbClr val="000000">
                <a:alpha val="8000"/>
              </a:srgbClr>
            </a:outerShdw>
          </a:effectLst>
        </p:spPr>
        <p:txBody>
          <a:bodyPr/>
          <a:lstStyle/>
          <a:p>
            <a:endParaRPr lang="en-US"/>
          </a:p>
        </p:txBody>
      </p:sp>
      <p:sp>
        <p:nvSpPr>
          <p:cNvPr id="15" name="Shape 12"/>
          <p:cNvSpPr/>
          <p:nvPr/>
        </p:nvSpPr>
        <p:spPr>
          <a:xfrm>
            <a:off x="548640" y="2752344"/>
            <a:ext cx="914400" cy="822960"/>
          </a:xfrm>
          <a:prstGeom prst="rect">
            <a:avLst/>
          </a:prstGeom>
          <a:solidFill>
            <a:srgbClr val="115E59"/>
          </a:solidFill>
          <a:ln/>
        </p:spPr>
        <p:txBody>
          <a:bodyPr/>
          <a:lstStyle/>
          <a:p>
            <a:endParaRPr lang="en-US"/>
          </a:p>
        </p:txBody>
      </p:sp>
      <p:sp>
        <p:nvSpPr>
          <p:cNvPr id="16" name="Text 13"/>
          <p:cNvSpPr/>
          <p:nvPr/>
        </p:nvSpPr>
        <p:spPr>
          <a:xfrm>
            <a:off x="548640" y="2752344"/>
            <a:ext cx="914400" cy="82296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04</a:t>
            </a:r>
            <a:endParaRPr lang="en-US" sz="2800" dirty="0"/>
          </a:p>
        </p:txBody>
      </p:sp>
      <p:sp>
        <p:nvSpPr>
          <p:cNvPr id="17" name="Shape 14"/>
          <p:cNvSpPr/>
          <p:nvPr/>
        </p:nvSpPr>
        <p:spPr>
          <a:xfrm>
            <a:off x="1645920" y="2935224"/>
            <a:ext cx="457200" cy="457200"/>
          </a:xfrm>
          <a:prstGeom prst="ellipse">
            <a:avLst/>
          </a:prstGeom>
          <a:solidFill>
            <a:srgbClr val="115E59"/>
          </a:solidFill>
          <a:ln/>
        </p:spPr>
        <p:txBody>
          <a:bodyPr/>
          <a:lstStyle/>
          <a:p>
            <a:endParaRPr lang="en-US"/>
          </a:p>
        </p:txBody>
      </p:sp>
      <p:pic>
        <p:nvPicPr>
          <p:cNvPr id="18" name="Image 1" descr="preencoded.png"/>
          <p:cNvPicPr>
            <a:picLocks noChangeAspect="1"/>
          </p:cNvPicPr>
          <p:nvPr/>
        </p:nvPicPr>
        <p:blipFill>
          <a:blip r:embed="rId4"/>
          <a:stretch>
            <a:fillRect/>
          </a:stretch>
        </p:blipFill>
        <p:spPr>
          <a:xfrm>
            <a:off x="1709928" y="2999232"/>
            <a:ext cx="329184" cy="329184"/>
          </a:xfrm>
          <a:prstGeom prst="rect">
            <a:avLst/>
          </a:prstGeom>
        </p:spPr>
      </p:pic>
      <p:sp>
        <p:nvSpPr>
          <p:cNvPr id="19" name="Text 15"/>
          <p:cNvSpPr/>
          <p:nvPr/>
        </p:nvSpPr>
        <p:spPr>
          <a:xfrm>
            <a:off x="2240280" y="2843784"/>
            <a:ext cx="2377440" cy="640080"/>
          </a:xfrm>
          <a:prstGeom prst="rect">
            <a:avLst/>
          </a:prstGeom>
          <a:noFill/>
          <a:ln/>
        </p:spPr>
        <p:txBody>
          <a:bodyPr wrap="square" lIns="0" tIns="0" rIns="0" bIns="0" rtlCol="0" anchor="ctr"/>
          <a:lstStyle/>
          <a:p>
            <a:pPr marL="0" indent="0">
              <a:buNone/>
            </a:pPr>
            <a:r>
              <a:rPr lang="en-US" sz="1400" b="1" dirty="0">
                <a:solidFill>
                  <a:srgbClr val="0B1F3A"/>
                </a:solidFill>
                <a:latin typeface="Georgia" pitchFamily="34" charset="0"/>
                <a:ea typeface="Georgia" pitchFamily="34" charset="-122"/>
                <a:cs typeface="Georgia" pitchFamily="34" charset="-120"/>
              </a:rPr>
              <a:t>System layer</a:t>
            </a:r>
            <a:endParaRPr lang="en-US" sz="1400" dirty="0"/>
          </a:p>
        </p:txBody>
      </p:sp>
      <p:sp>
        <p:nvSpPr>
          <p:cNvPr id="20" name="Text 16"/>
          <p:cNvSpPr/>
          <p:nvPr/>
        </p:nvSpPr>
        <p:spPr>
          <a:xfrm>
            <a:off x="4663440" y="2843784"/>
            <a:ext cx="3291840" cy="640080"/>
          </a:xfrm>
          <a:prstGeom prst="rect">
            <a:avLst/>
          </a:prstGeom>
          <a:noFill/>
          <a:ln/>
        </p:spPr>
        <p:txBody>
          <a:bodyPr wrap="square" lIns="0" tIns="0" rIns="0" bIns="0" rtlCol="0" anchor="ctr"/>
          <a:lstStyle/>
          <a:p>
            <a:pPr marL="0" indent="0">
              <a:buNone/>
            </a:pPr>
            <a:r>
              <a:rPr lang="en-US" sz="1100" dirty="0">
                <a:solidFill>
                  <a:srgbClr val="0B1F3A"/>
                </a:solidFill>
                <a:latin typeface="Calibri" pitchFamily="34" charset="0"/>
                <a:ea typeface="Calibri" pitchFamily="34" charset="-122"/>
                <a:cs typeface="Calibri" pitchFamily="34" charset="-120"/>
              </a:rPr>
              <a:t>HILS, human-on-the-loop behaviour, degraded modes, fallback paths.</a:t>
            </a:r>
            <a:endParaRPr lang="en-US" sz="1100" dirty="0"/>
          </a:p>
        </p:txBody>
      </p:sp>
      <p:sp>
        <p:nvSpPr>
          <p:cNvPr id="21" name="Text 17"/>
          <p:cNvSpPr/>
          <p:nvPr/>
        </p:nvSpPr>
        <p:spPr>
          <a:xfrm>
            <a:off x="8046720" y="2843784"/>
            <a:ext cx="3611880" cy="640080"/>
          </a:xfrm>
          <a:prstGeom prst="rect">
            <a:avLst/>
          </a:prstGeom>
          <a:noFill/>
          <a:ln/>
        </p:spPr>
        <p:txBody>
          <a:bodyPr wrap="square" lIns="0" tIns="0" rIns="0" bIns="0" rtlCol="0" anchor="ctr"/>
          <a:lstStyle/>
          <a:p>
            <a:pPr marL="0" indent="0">
              <a:buNone/>
            </a:pPr>
            <a:r>
              <a:rPr lang="en-US" sz="1050" i="1" dirty="0">
                <a:solidFill>
                  <a:srgbClr val="5B6A82"/>
                </a:solidFill>
                <a:latin typeface="Calibri" pitchFamily="34" charset="0"/>
                <a:ea typeface="Calibri" pitchFamily="34" charset="-122"/>
                <a:cs typeface="Calibri" pitchFamily="34" charset="-120"/>
              </a:rPr>
              <a:t>Tests: scenario simulation, red-team operator, shadow-mode comparison.</a:t>
            </a:r>
            <a:endParaRPr lang="en-US" sz="1050" dirty="0"/>
          </a:p>
        </p:txBody>
      </p:sp>
      <p:sp>
        <p:nvSpPr>
          <p:cNvPr id="22" name="Shape 18"/>
          <p:cNvSpPr/>
          <p:nvPr/>
        </p:nvSpPr>
        <p:spPr>
          <a:xfrm>
            <a:off x="548640" y="3630168"/>
            <a:ext cx="11155680" cy="822960"/>
          </a:xfrm>
          <a:prstGeom prst="rect">
            <a:avLst/>
          </a:prstGeom>
          <a:solidFill>
            <a:srgbClr val="FFFFFF"/>
          </a:solidFill>
          <a:ln w="6350">
            <a:solidFill>
              <a:srgbClr val="E5E5E5"/>
            </a:solidFill>
            <a:prstDash val="solid"/>
          </a:ln>
          <a:effectLst>
            <a:outerShdw blurRad="76200" dist="19050" dir="5400000" algn="bl" rotWithShape="0">
              <a:srgbClr val="000000">
                <a:alpha val="8000"/>
              </a:srgbClr>
            </a:outerShdw>
          </a:effectLst>
        </p:spPr>
        <p:txBody>
          <a:bodyPr/>
          <a:lstStyle/>
          <a:p>
            <a:endParaRPr lang="en-US"/>
          </a:p>
        </p:txBody>
      </p:sp>
      <p:sp>
        <p:nvSpPr>
          <p:cNvPr id="23" name="Shape 19"/>
          <p:cNvSpPr/>
          <p:nvPr/>
        </p:nvSpPr>
        <p:spPr>
          <a:xfrm>
            <a:off x="548640" y="3630168"/>
            <a:ext cx="914400" cy="822960"/>
          </a:xfrm>
          <a:prstGeom prst="rect">
            <a:avLst/>
          </a:prstGeom>
          <a:solidFill>
            <a:srgbClr val="27558A"/>
          </a:solidFill>
          <a:ln/>
        </p:spPr>
        <p:txBody>
          <a:bodyPr/>
          <a:lstStyle/>
          <a:p>
            <a:endParaRPr lang="en-US"/>
          </a:p>
        </p:txBody>
      </p:sp>
      <p:sp>
        <p:nvSpPr>
          <p:cNvPr id="24" name="Text 20"/>
          <p:cNvSpPr/>
          <p:nvPr/>
        </p:nvSpPr>
        <p:spPr>
          <a:xfrm>
            <a:off x="548640" y="3630168"/>
            <a:ext cx="914400" cy="82296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03</a:t>
            </a:r>
            <a:endParaRPr lang="en-US" sz="2800" dirty="0"/>
          </a:p>
        </p:txBody>
      </p:sp>
      <p:sp>
        <p:nvSpPr>
          <p:cNvPr id="25" name="Shape 21"/>
          <p:cNvSpPr/>
          <p:nvPr/>
        </p:nvSpPr>
        <p:spPr>
          <a:xfrm>
            <a:off x="1645920" y="3813048"/>
            <a:ext cx="457200" cy="457200"/>
          </a:xfrm>
          <a:prstGeom prst="ellipse">
            <a:avLst/>
          </a:prstGeom>
          <a:solidFill>
            <a:srgbClr val="27558A"/>
          </a:solidFill>
          <a:ln/>
        </p:spPr>
        <p:txBody>
          <a:bodyPr/>
          <a:lstStyle/>
          <a:p>
            <a:endParaRPr lang="en-US"/>
          </a:p>
        </p:txBody>
      </p:sp>
      <p:pic>
        <p:nvPicPr>
          <p:cNvPr id="26" name="Image 2" descr="preencoded.png"/>
          <p:cNvPicPr>
            <a:picLocks noChangeAspect="1"/>
          </p:cNvPicPr>
          <p:nvPr/>
        </p:nvPicPr>
        <p:blipFill>
          <a:blip r:embed="rId5"/>
          <a:stretch>
            <a:fillRect/>
          </a:stretch>
        </p:blipFill>
        <p:spPr>
          <a:xfrm>
            <a:off x="1709928" y="3877056"/>
            <a:ext cx="329184" cy="329184"/>
          </a:xfrm>
          <a:prstGeom prst="rect">
            <a:avLst/>
          </a:prstGeom>
        </p:spPr>
      </p:pic>
      <p:sp>
        <p:nvSpPr>
          <p:cNvPr id="27" name="Text 22"/>
          <p:cNvSpPr/>
          <p:nvPr/>
        </p:nvSpPr>
        <p:spPr>
          <a:xfrm>
            <a:off x="2240280" y="3721608"/>
            <a:ext cx="2377440" cy="640080"/>
          </a:xfrm>
          <a:prstGeom prst="rect">
            <a:avLst/>
          </a:prstGeom>
          <a:noFill/>
          <a:ln/>
        </p:spPr>
        <p:txBody>
          <a:bodyPr wrap="square" lIns="0" tIns="0" rIns="0" bIns="0" rtlCol="0" anchor="ctr"/>
          <a:lstStyle/>
          <a:p>
            <a:pPr marL="0" indent="0">
              <a:buNone/>
            </a:pPr>
            <a:r>
              <a:rPr lang="en-US" sz="1400" b="1" dirty="0">
                <a:solidFill>
                  <a:srgbClr val="0B1F3A"/>
                </a:solidFill>
                <a:latin typeface="Georgia" pitchFamily="34" charset="0"/>
                <a:ea typeface="Georgia" pitchFamily="34" charset="-122"/>
                <a:cs typeface="Georgia" pitchFamily="34" charset="-120"/>
              </a:rPr>
              <a:t>Pipeline layer</a:t>
            </a:r>
            <a:endParaRPr lang="en-US" sz="1400" dirty="0"/>
          </a:p>
        </p:txBody>
      </p:sp>
      <p:sp>
        <p:nvSpPr>
          <p:cNvPr id="28" name="Text 23"/>
          <p:cNvSpPr/>
          <p:nvPr/>
        </p:nvSpPr>
        <p:spPr>
          <a:xfrm>
            <a:off x="4663440" y="3721608"/>
            <a:ext cx="3291840" cy="640080"/>
          </a:xfrm>
          <a:prstGeom prst="rect">
            <a:avLst/>
          </a:prstGeom>
          <a:noFill/>
          <a:ln/>
        </p:spPr>
        <p:txBody>
          <a:bodyPr wrap="square" lIns="0" tIns="0" rIns="0" bIns="0" rtlCol="0" anchor="ctr"/>
          <a:lstStyle/>
          <a:p>
            <a:pPr marL="0" indent="0">
              <a:buNone/>
            </a:pPr>
            <a:r>
              <a:rPr lang="en-US" sz="1100" dirty="0">
                <a:solidFill>
                  <a:srgbClr val="0B1F3A"/>
                </a:solidFill>
                <a:latin typeface="Calibri" pitchFamily="34" charset="0"/>
                <a:ea typeface="Calibri" pitchFamily="34" charset="-122"/>
                <a:cs typeface="Calibri" pitchFamily="34" charset="-120"/>
              </a:rPr>
              <a:t>MLOps reproducibility, versioning, lineage, training determinism.</a:t>
            </a:r>
            <a:endParaRPr lang="en-US" sz="1100" dirty="0"/>
          </a:p>
        </p:txBody>
      </p:sp>
      <p:sp>
        <p:nvSpPr>
          <p:cNvPr id="29" name="Text 24"/>
          <p:cNvSpPr/>
          <p:nvPr/>
        </p:nvSpPr>
        <p:spPr>
          <a:xfrm>
            <a:off x="8046720" y="3721608"/>
            <a:ext cx="3611880" cy="640080"/>
          </a:xfrm>
          <a:prstGeom prst="rect">
            <a:avLst/>
          </a:prstGeom>
          <a:noFill/>
          <a:ln/>
        </p:spPr>
        <p:txBody>
          <a:bodyPr wrap="square" lIns="0" tIns="0" rIns="0" bIns="0" rtlCol="0" anchor="ctr"/>
          <a:lstStyle/>
          <a:p>
            <a:pPr marL="0" indent="0">
              <a:buNone/>
            </a:pPr>
            <a:r>
              <a:rPr lang="en-US" sz="1050" i="1" dirty="0">
                <a:solidFill>
                  <a:srgbClr val="5B6A82"/>
                </a:solidFill>
                <a:latin typeface="Calibri" pitchFamily="34" charset="0"/>
                <a:ea typeface="Calibri" pitchFamily="34" charset="-122"/>
                <a:cs typeface="Calibri" pitchFamily="34" charset="-120"/>
              </a:rPr>
              <a:t>Tests: build reproduction, data lineage audit, rollback validation.</a:t>
            </a:r>
            <a:endParaRPr lang="en-US" sz="1050" dirty="0"/>
          </a:p>
        </p:txBody>
      </p:sp>
      <p:sp>
        <p:nvSpPr>
          <p:cNvPr id="30" name="Shape 25"/>
          <p:cNvSpPr/>
          <p:nvPr/>
        </p:nvSpPr>
        <p:spPr>
          <a:xfrm>
            <a:off x="548640" y="4507992"/>
            <a:ext cx="11155680" cy="822960"/>
          </a:xfrm>
          <a:prstGeom prst="rect">
            <a:avLst/>
          </a:prstGeom>
          <a:solidFill>
            <a:srgbClr val="FFFFFF"/>
          </a:solidFill>
          <a:ln w="6350">
            <a:solidFill>
              <a:srgbClr val="E5E5E5"/>
            </a:solidFill>
            <a:prstDash val="solid"/>
          </a:ln>
          <a:effectLst>
            <a:outerShdw blurRad="76200" dist="19050" dir="5400000" algn="bl" rotWithShape="0">
              <a:srgbClr val="000000">
                <a:alpha val="8000"/>
              </a:srgbClr>
            </a:outerShdw>
          </a:effectLst>
        </p:spPr>
        <p:txBody>
          <a:bodyPr/>
          <a:lstStyle/>
          <a:p>
            <a:endParaRPr lang="en-US"/>
          </a:p>
        </p:txBody>
      </p:sp>
      <p:sp>
        <p:nvSpPr>
          <p:cNvPr id="31" name="Shape 26"/>
          <p:cNvSpPr/>
          <p:nvPr/>
        </p:nvSpPr>
        <p:spPr>
          <a:xfrm>
            <a:off x="548640" y="4507992"/>
            <a:ext cx="914400" cy="822960"/>
          </a:xfrm>
          <a:prstGeom prst="rect">
            <a:avLst/>
          </a:prstGeom>
          <a:solidFill>
            <a:srgbClr val="0D9488"/>
          </a:solidFill>
          <a:ln/>
        </p:spPr>
        <p:txBody>
          <a:bodyPr/>
          <a:lstStyle/>
          <a:p>
            <a:endParaRPr lang="en-US"/>
          </a:p>
        </p:txBody>
      </p:sp>
      <p:sp>
        <p:nvSpPr>
          <p:cNvPr id="32" name="Text 27"/>
          <p:cNvSpPr/>
          <p:nvPr/>
        </p:nvSpPr>
        <p:spPr>
          <a:xfrm>
            <a:off x="548640" y="4507992"/>
            <a:ext cx="914400" cy="82296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02</a:t>
            </a:r>
            <a:endParaRPr lang="en-US" sz="2800" dirty="0"/>
          </a:p>
        </p:txBody>
      </p:sp>
      <p:sp>
        <p:nvSpPr>
          <p:cNvPr id="33" name="Shape 28"/>
          <p:cNvSpPr/>
          <p:nvPr/>
        </p:nvSpPr>
        <p:spPr>
          <a:xfrm>
            <a:off x="1645920" y="4690872"/>
            <a:ext cx="457200" cy="457200"/>
          </a:xfrm>
          <a:prstGeom prst="ellipse">
            <a:avLst/>
          </a:prstGeom>
          <a:solidFill>
            <a:srgbClr val="0D9488"/>
          </a:solidFill>
          <a:ln/>
        </p:spPr>
        <p:txBody>
          <a:bodyPr/>
          <a:lstStyle/>
          <a:p>
            <a:endParaRPr lang="en-US"/>
          </a:p>
        </p:txBody>
      </p:sp>
      <p:pic>
        <p:nvPicPr>
          <p:cNvPr id="34" name="Image 3" descr="preencoded.png"/>
          <p:cNvPicPr>
            <a:picLocks noChangeAspect="1"/>
          </p:cNvPicPr>
          <p:nvPr/>
        </p:nvPicPr>
        <p:blipFill>
          <a:blip r:embed="rId6"/>
          <a:stretch>
            <a:fillRect/>
          </a:stretch>
        </p:blipFill>
        <p:spPr>
          <a:xfrm>
            <a:off x="1709928" y="4754880"/>
            <a:ext cx="329184" cy="329184"/>
          </a:xfrm>
          <a:prstGeom prst="rect">
            <a:avLst/>
          </a:prstGeom>
        </p:spPr>
      </p:pic>
      <p:sp>
        <p:nvSpPr>
          <p:cNvPr id="35" name="Text 29"/>
          <p:cNvSpPr/>
          <p:nvPr/>
        </p:nvSpPr>
        <p:spPr>
          <a:xfrm>
            <a:off x="2240280" y="4599432"/>
            <a:ext cx="2377440" cy="640080"/>
          </a:xfrm>
          <a:prstGeom prst="rect">
            <a:avLst/>
          </a:prstGeom>
          <a:noFill/>
          <a:ln/>
        </p:spPr>
        <p:txBody>
          <a:bodyPr wrap="square" lIns="0" tIns="0" rIns="0" bIns="0" rtlCol="0" anchor="ctr"/>
          <a:lstStyle/>
          <a:p>
            <a:pPr marL="0" indent="0">
              <a:buNone/>
            </a:pPr>
            <a:r>
              <a:rPr lang="en-US" sz="1400" b="1" dirty="0">
                <a:solidFill>
                  <a:srgbClr val="0B1F3A"/>
                </a:solidFill>
                <a:latin typeface="Georgia" pitchFamily="34" charset="0"/>
                <a:ea typeface="Georgia" pitchFamily="34" charset="-122"/>
                <a:cs typeface="Georgia" pitchFamily="34" charset="-120"/>
              </a:rPr>
              <a:t>Model layer</a:t>
            </a:r>
            <a:endParaRPr lang="en-US" sz="1400" dirty="0"/>
          </a:p>
        </p:txBody>
      </p:sp>
      <p:sp>
        <p:nvSpPr>
          <p:cNvPr id="36" name="Text 30"/>
          <p:cNvSpPr/>
          <p:nvPr/>
        </p:nvSpPr>
        <p:spPr>
          <a:xfrm>
            <a:off x="4663440" y="4599432"/>
            <a:ext cx="3291840" cy="640080"/>
          </a:xfrm>
          <a:prstGeom prst="rect">
            <a:avLst/>
          </a:prstGeom>
          <a:noFill/>
          <a:ln/>
        </p:spPr>
        <p:txBody>
          <a:bodyPr wrap="square" lIns="0" tIns="0" rIns="0" bIns="0" rtlCol="0" anchor="ctr"/>
          <a:lstStyle/>
          <a:p>
            <a:pPr marL="0" indent="0">
              <a:buNone/>
            </a:pPr>
            <a:r>
              <a:rPr lang="en-US" sz="1100" dirty="0">
                <a:solidFill>
                  <a:srgbClr val="0B1F3A"/>
                </a:solidFill>
                <a:latin typeface="Calibri" pitchFamily="34" charset="0"/>
                <a:ea typeface="Calibri" pitchFamily="34" charset="-122"/>
                <a:cs typeface="Calibri" pitchFamily="34" charset="-120"/>
              </a:rPr>
              <a:t>Accuracy, robustness, calibration, explainability, fairness.</a:t>
            </a:r>
            <a:endParaRPr lang="en-US" sz="1100" dirty="0"/>
          </a:p>
        </p:txBody>
      </p:sp>
      <p:sp>
        <p:nvSpPr>
          <p:cNvPr id="37" name="Text 31"/>
          <p:cNvSpPr/>
          <p:nvPr/>
        </p:nvSpPr>
        <p:spPr>
          <a:xfrm>
            <a:off x="8046720" y="4599432"/>
            <a:ext cx="3611880" cy="640080"/>
          </a:xfrm>
          <a:prstGeom prst="rect">
            <a:avLst/>
          </a:prstGeom>
          <a:noFill/>
          <a:ln/>
        </p:spPr>
        <p:txBody>
          <a:bodyPr wrap="square" lIns="0" tIns="0" rIns="0" bIns="0" rtlCol="0" anchor="ctr"/>
          <a:lstStyle/>
          <a:p>
            <a:pPr marL="0" indent="0">
              <a:buNone/>
            </a:pPr>
            <a:r>
              <a:rPr lang="en-US" sz="1050" i="1" dirty="0">
                <a:solidFill>
                  <a:srgbClr val="5B6A82"/>
                </a:solidFill>
                <a:latin typeface="Calibri" pitchFamily="34" charset="0"/>
                <a:ea typeface="Calibri" pitchFamily="34" charset="-122"/>
                <a:cs typeface="Calibri" pitchFamily="34" charset="-120"/>
              </a:rPr>
              <a:t>Tests: adversarial robustness, SHAP/LIME, calibration curves.</a:t>
            </a:r>
            <a:endParaRPr lang="en-US" sz="1050" dirty="0"/>
          </a:p>
        </p:txBody>
      </p:sp>
      <p:sp>
        <p:nvSpPr>
          <p:cNvPr id="38" name="Shape 32"/>
          <p:cNvSpPr/>
          <p:nvPr/>
        </p:nvSpPr>
        <p:spPr>
          <a:xfrm>
            <a:off x="548640" y="5385816"/>
            <a:ext cx="11155680" cy="822960"/>
          </a:xfrm>
          <a:prstGeom prst="rect">
            <a:avLst/>
          </a:prstGeom>
          <a:solidFill>
            <a:srgbClr val="FFFFFF"/>
          </a:solidFill>
          <a:ln w="6350">
            <a:solidFill>
              <a:srgbClr val="E5E5E5"/>
            </a:solidFill>
            <a:prstDash val="solid"/>
          </a:ln>
          <a:effectLst>
            <a:outerShdw blurRad="76200" dist="19050" dir="5400000" algn="bl" rotWithShape="0">
              <a:srgbClr val="000000">
                <a:alpha val="8000"/>
              </a:srgbClr>
            </a:outerShdw>
          </a:effectLst>
        </p:spPr>
        <p:txBody>
          <a:bodyPr/>
          <a:lstStyle/>
          <a:p>
            <a:endParaRPr lang="en-US"/>
          </a:p>
        </p:txBody>
      </p:sp>
      <p:sp>
        <p:nvSpPr>
          <p:cNvPr id="39" name="Shape 33"/>
          <p:cNvSpPr/>
          <p:nvPr/>
        </p:nvSpPr>
        <p:spPr>
          <a:xfrm>
            <a:off x="548640" y="5385816"/>
            <a:ext cx="914400" cy="822960"/>
          </a:xfrm>
          <a:prstGeom prst="rect">
            <a:avLst/>
          </a:prstGeom>
          <a:solidFill>
            <a:srgbClr val="D4A24C"/>
          </a:solidFill>
          <a:ln/>
        </p:spPr>
        <p:txBody>
          <a:bodyPr/>
          <a:lstStyle/>
          <a:p>
            <a:endParaRPr lang="en-US"/>
          </a:p>
        </p:txBody>
      </p:sp>
      <p:sp>
        <p:nvSpPr>
          <p:cNvPr id="40" name="Text 34"/>
          <p:cNvSpPr/>
          <p:nvPr/>
        </p:nvSpPr>
        <p:spPr>
          <a:xfrm>
            <a:off x="548640" y="5385816"/>
            <a:ext cx="914400" cy="82296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01</a:t>
            </a:r>
            <a:endParaRPr lang="en-US" sz="2800" dirty="0"/>
          </a:p>
        </p:txBody>
      </p:sp>
      <p:sp>
        <p:nvSpPr>
          <p:cNvPr id="41" name="Shape 35"/>
          <p:cNvSpPr/>
          <p:nvPr/>
        </p:nvSpPr>
        <p:spPr>
          <a:xfrm>
            <a:off x="1645920" y="5568696"/>
            <a:ext cx="457200" cy="457200"/>
          </a:xfrm>
          <a:prstGeom prst="ellipse">
            <a:avLst/>
          </a:prstGeom>
          <a:solidFill>
            <a:srgbClr val="D4A24C"/>
          </a:solidFill>
          <a:ln/>
        </p:spPr>
        <p:txBody>
          <a:bodyPr/>
          <a:lstStyle/>
          <a:p>
            <a:endParaRPr lang="en-US"/>
          </a:p>
        </p:txBody>
      </p:sp>
      <p:pic>
        <p:nvPicPr>
          <p:cNvPr id="42" name="Image 4" descr="preencoded.png"/>
          <p:cNvPicPr>
            <a:picLocks noChangeAspect="1"/>
          </p:cNvPicPr>
          <p:nvPr/>
        </p:nvPicPr>
        <p:blipFill>
          <a:blip r:embed="rId7"/>
          <a:stretch>
            <a:fillRect/>
          </a:stretch>
        </p:blipFill>
        <p:spPr>
          <a:xfrm>
            <a:off x="1709928" y="5632704"/>
            <a:ext cx="329184" cy="329184"/>
          </a:xfrm>
          <a:prstGeom prst="rect">
            <a:avLst/>
          </a:prstGeom>
        </p:spPr>
      </p:pic>
      <p:sp>
        <p:nvSpPr>
          <p:cNvPr id="43" name="Text 36"/>
          <p:cNvSpPr/>
          <p:nvPr/>
        </p:nvSpPr>
        <p:spPr>
          <a:xfrm>
            <a:off x="2240280" y="5477256"/>
            <a:ext cx="2377440" cy="640080"/>
          </a:xfrm>
          <a:prstGeom prst="rect">
            <a:avLst/>
          </a:prstGeom>
          <a:noFill/>
          <a:ln/>
        </p:spPr>
        <p:txBody>
          <a:bodyPr wrap="square" lIns="0" tIns="0" rIns="0" bIns="0" rtlCol="0" anchor="ctr"/>
          <a:lstStyle/>
          <a:p>
            <a:pPr marL="0" indent="0">
              <a:buNone/>
            </a:pPr>
            <a:r>
              <a:rPr lang="en-US" sz="1400" b="1" dirty="0">
                <a:solidFill>
                  <a:srgbClr val="0B1F3A"/>
                </a:solidFill>
                <a:latin typeface="Georgia" pitchFamily="34" charset="0"/>
                <a:ea typeface="Georgia" pitchFamily="34" charset="-122"/>
                <a:cs typeface="Georgia" pitchFamily="34" charset="-120"/>
              </a:rPr>
              <a:t>Data layer</a:t>
            </a:r>
            <a:endParaRPr lang="en-US" sz="1400" dirty="0"/>
          </a:p>
        </p:txBody>
      </p:sp>
      <p:sp>
        <p:nvSpPr>
          <p:cNvPr id="44" name="Text 37"/>
          <p:cNvSpPr/>
          <p:nvPr/>
        </p:nvSpPr>
        <p:spPr>
          <a:xfrm>
            <a:off x="4663440" y="5477256"/>
            <a:ext cx="3291840" cy="640080"/>
          </a:xfrm>
          <a:prstGeom prst="rect">
            <a:avLst/>
          </a:prstGeom>
          <a:noFill/>
          <a:ln/>
        </p:spPr>
        <p:txBody>
          <a:bodyPr wrap="square" lIns="0" tIns="0" rIns="0" bIns="0" rtlCol="0" anchor="ctr"/>
          <a:lstStyle/>
          <a:p>
            <a:pPr marL="0" indent="0">
              <a:buNone/>
            </a:pPr>
            <a:r>
              <a:rPr lang="en-US" sz="1100" dirty="0">
                <a:solidFill>
                  <a:srgbClr val="0B1F3A"/>
                </a:solidFill>
                <a:latin typeface="Calibri" pitchFamily="34" charset="0"/>
                <a:ea typeface="Calibri" pitchFamily="34" charset="-122"/>
                <a:cs typeface="Calibri" pitchFamily="34" charset="-120"/>
              </a:rPr>
              <a:t>Provenance, coverage, balance, labelling quality, poisoning detection.</a:t>
            </a:r>
            <a:endParaRPr lang="en-US" sz="1100" dirty="0"/>
          </a:p>
        </p:txBody>
      </p:sp>
      <p:sp>
        <p:nvSpPr>
          <p:cNvPr id="45" name="Text 38"/>
          <p:cNvSpPr/>
          <p:nvPr/>
        </p:nvSpPr>
        <p:spPr>
          <a:xfrm>
            <a:off x="8046720" y="5477256"/>
            <a:ext cx="3611880" cy="640080"/>
          </a:xfrm>
          <a:prstGeom prst="rect">
            <a:avLst/>
          </a:prstGeom>
          <a:noFill/>
          <a:ln/>
        </p:spPr>
        <p:txBody>
          <a:bodyPr wrap="square" lIns="0" tIns="0" rIns="0" bIns="0" rtlCol="0" anchor="ctr"/>
          <a:lstStyle/>
          <a:p>
            <a:pPr marL="0" indent="0">
              <a:buNone/>
            </a:pPr>
            <a:r>
              <a:rPr lang="en-US" sz="1050" i="1" dirty="0">
                <a:solidFill>
                  <a:srgbClr val="5B6A82"/>
                </a:solidFill>
                <a:latin typeface="Calibri" pitchFamily="34" charset="0"/>
                <a:ea typeface="Calibri" pitchFamily="34" charset="-122"/>
                <a:cs typeface="Calibri" pitchFamily="34" charset="-120"/>
              </a:rPr>
              <a:t>Tests: data-contract checks, coverage gap analysis, poisoning scans.</a:t>
            </a:r>
            <a:endParaRPr lang="en-US" sz="1050" dirty="0"/>
          </a:p>
        </p:txBody>
      </p:sp>
      <p:sp>
        <p:nvSpPr>
          <p:cNvPr id="46" name="Shape 39"/>
          <p:cNvSpPr/>
          <p:nvPr/>
        </p:nvSpPr>
        <p:spPr>
          <a:xfrm>
            <a:off x="0" y="6537960"/>
            <a:ext cx="12191695" cy="320040"/>
          </a:xfrm>
          <a:prstGeom prst="rect">
            <a:avLst/>
          </a:prstGeom>
          <a:solidFill>
            <a:srgbClr val="0B1F3A"/>
          </a:solidFill>
          <a:ln/>
        </p:spPr>
        <p:txBody>
          <a:bodyPr/>
          <a:lstStyle/>
          <a:p>
            <a:endParaRPr lang="en-US"/>
          </a:p>
        </p:txBody>
      </p:sp>
      <p:sp>
        <p:nvSpPr>
          <p:cNvPr id="47" name="Text 40"/>
          <p:cNvSpPr/>
          <p:nvPr/>
        </p:nvSpPr>
        <p:spPr>
          <a:xfrm>
            <a:off x="365760" y="6547104"/>
            <a:ext cx="8229600" cy="301752"/>
          </a:xfrm>
          <a:prstGeom prst="rect">
            <a:avLst/>
          </a:prstGeom>
          <a:noFill/>
          <a:ln/>
        </p:spPr>
        <p:txBody>
          <a:bodyPr wrap="square" lIns="0" tIns="0" rIns="0" bIns="0" rtlCol="0" anchor="ctr"/>
          <a:lstStyle/>
          <a:p>
            <a:pPr marL="0" indent="0">
              <a:buNone/>
            </a:pPr>
            <a:r>
              <a:rPr lang="en-US" sz="900" dirty="0">
                <a:solidFill>
                  <a:srgbClr val="F4F1EC"/>
                </a:solidFill>
                <a:latin typeface="Calibri" pitchFamily="34" charset="0"/>
                <a:ea typeface="Calibri" pitchFamily="34" charset="-122"/>
                <a:cs typeface="Calibri" pitchFamily="34" charset="-120"/>
              </a:rPr>
              <a:t>UNCLASSIFIED  |  UK MOD  |  Testing AI with AI  |  April 2026</a:t>
            </a:r>
            <a:endParaRPr lang="en-US" sz="900" dirty="0"/>
          </a:p>
        </p:txBody>
      </p:sp>
      <p:sp>
        <p:nvSpPr>
          <p:cNvPr id="48" name="Text 41"/>
          <p:cNvSpPr/>
          <p:nvPr/>
        </p:nvSpPr>
        <p:spPr>
          <a:xfrm>
            <a:off x="11094415" y="6547104"/>
            <a:ext cx="731520" cy="301752"/>
          </a:xfrm>
          <a:prstGeom prst="rect">
            <a:avLst/>
          </a:prstGeom>
          <a:noFill/>
          <a:ln/>
        </p:spPr>
        <p:txBody>
          <a:bodyPr wrap="square" lIns="0" tIns="0" rIns="0" bIns="0" rtlCol="0" anchor="ctr"/>
          <a:lstStyle/>
          <a:p>
            <a:pPr marL="0" indent="0" algn="r">
              <a:buNone/>
            </a:pPr>
            <a:r>
              <a:rPr lang="en-US" sz="900" dirty="0">
                <a:solidFill>
                  <a:srgbClr val="F4F1EC"/>
                </a:solidFill>
                <a:latin typeface="Calibri" pitchFamily="34" charset="0"/>
                <a:ea typeface="Calibri" pitchFamily="34" charset="-122"/>
                <a:cs typeface="Calibri" pitchFamily="34" charset="-120"/>
              </a:rPr>
              <a:t>3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D9488"/>
          </a:solidFill>
          <a:ln/>
        </p:spPr>
        <p:txBody>
          <a:bodyPr/>
          <a:lstStyle/>
          <a:p>
            <a:endParaRPr lang="en-US"/>
          </a:p>
        </p:txBody>
      </p:sp>
      <p:sp>
        <p:nvSpPr>
          <p:cNvPr id="3" name="Text 1"/>
          <p:cNvSpPr/>
          <p:nvPr/>
        </p:nvSpPr>
        <p:spPr>
          <a:xfrm>
            <a:off x="548640" y="320040"/>
            <a:ext cx="10972800" cy="320040"/>
          </a:xfrm>
          <a:prstGeom prst="rect">
            <a:avLst/>
          </a:prstGeom>
          <a:noFill/>
          <a:ln/>
        </p:spPr>
        <p:txBody>
          <a:bodyPr wrap="square" lIns="0" tIns="0" rIns="0" bIns="0" rtlCol="0" anchor="ctr"/>
          <a:lstStyle/>
          <a:p>
            <a:pPr marL="0" indent="0">
              <a:buNone/>
            </a:pPr>
            <a:r>
              <a:rPr lang="en-US" sz="1100" b="1" kern="0" spc="600" dirty="0">
                <a:solidFill>
                  <a:srgbClr val="0D9488"/>
                </a:solidFill>
                <a:latin typeface="Calibri" pitchFamily="34" charset="0"/>
                <a:ea typeface="Calibri" pitchFamily="34" charset="-122"/>
                <a:cs typeface="Calibri" pitchFamily="34" charset="-120"/>
              </a:rPr>
              <a:t>LANDSCAPE</a:t>
            </a:r>
            <a:endParaRPr lang="en-US" sz="1100" dirty="0"/>
          </a:p>
        </p:txBody>
      </p:sp>
      <p:sp>
        <p:nvSpPr>
          <p:cNvPr id="4" name="Text 2"/>
          <p:cNvSpPr/>
          <p:nvPr/>
        </p:nvSpPr>
        <p:spPr>
          <a:xfrm>
            <a:off x="548640" y="640080"/>
            <a:ext cx="11155680" cy="777240"/>
          </a:xfrm>
          <a:prstGeom prst="rect">
            <a:avLst/>
          </a:prstGeom>
          <a:noFill/>
          <a:ln/>
        </p:spPr>
        <p:txBody>
          <a:bodyPr wrap="square" lIns="0" tIns="0" rIns="0" bIns="0" rtlCol="0" anchor="ctr"/>
          <a:lstStyle/>
          <a:p>
            <a:pPr marL="0" indent="0">
              <a:buNone/>
            </a:pPr>
            <a:r>
              <a:rPr lang="en-US" sz="3000" b="1" dirty="0">
                <a:solidFill>
                  <a:srgbClr val="0B1F3A"/>
                </a:solidFill>
                <a:latin typeface="Georgia" pitchFamily="34" charset="0"/>
                <a:ea typeface="Georgia" pitchFamily="34" charset="-122"/>
                <a:cs typeface="Georgia" pitchFamily="34" charset="-120"/>
              </a:rPr>
              <a:t>Eight ways AI augments the testing of AI</a:t>
            </a:r>
            <a:endParaRPr lang="en-US" sz="3000" dirty="0"/>
          </a:p>
        </p:txBody>
      </p:sp>
      <p:sp>
        <p:nvSpPr>
          <p:cNvPr id="5" name="Shape 3"/>
          <p:cNvSpPr/>
          <p:nvPr/>
        </p:nvSpPr>
        <p:spPr>
          <a:xfrm>
            <a:off x="548640" y="1508760"/>
            <a:ext cx="822960" cy="36576"/>
          </a:xfrm>
          <a:prstGeom prst="rect">
            <a:avLst/>
          </a:prstGeom>
          <a:solidFill>
            <a:srgbClr val="0D9488"/>
          </a:solidFill>
          <a:ln/>
        </p:spPr>
        <p:txBody>
          <a:bodyPr/>
          <a:lstStyle/>
          <a:p>
            <a:endParaRPr lang="en-US"/>
          </a:p>
        </p:txBody>
      </p:sp>
      <p:sp>
        <p:nvSpPr>
          <p:cNvPr id="6" name="Shape 4"/>
          <p:cNvSpPr/>
          <p:nvPr/>
        </p:nvSpPr>
        <p:spPr>
          <a:xfrm>
            <a:off x="548640" y="1828800"/>
            <a:ext cx="2743200" cy="2011680"/>
          </a:xfrm>
          <a:prstGeom prst="rect">
            <a:avLst/>
          </a:prstGeom>
          <a:solidFill>
            <a:srgbClr val="FFFFFF"/>
          </a:solidFill>
          <a:ln w="6350">
            <a:solidFill>
              <a:srgbClr val="E5E5E5"/>
            </a:solidFill>
            <a:prstDash val="solid"/>
          </a:ln>
          <a:effectLst>
            <a:outerShdw blurRad="101600" dist="25400" dir="5400000" algn="bl" rotWithShape="0">
              <a:srgbClr val="000000">
                <a:alpha val="10000"/>
              </a:srgbClr>
            </a:outerShdw>
          </a:effectLst>
        </p:spPr>
        <p:txBody>
          <a:bodyPr/>
          <a:lstStyle/>
          <a:p>
            <a:endParaRPr lang="en-US"/>
          </a:p>
        </p:txBody>
      </p:sp>
      <p:sp>
        <p:nvSpPr>
          <p:cNvPr id="7" name="Shape 5"/>
          <p:cNvSpPr/>
          <p:nvPr/>
        </p:nvSpPr>
        <p:spPr>
          <a:xfrm>
            <a:off x="548640" y="1828800"/>
            <a:ext cx="73152" cy="2011680"/>
          </a:xfrm>
          <a:prstGeom prst="rect">
            <a:avLst/>
          </a:prstGeom>
          <a:solidFill>
            <a:srgbClr val="0D9488"/>
          </a:solidFill>
          <a:ln/>
        </p:spPr>
        <p:txBody>
          <a:bodyPr/>
          <a:lstStyle/>
          <a:p>
            <a:endParaRPr lang="en-US"/>
          </a:p>
        </p:txBody>
      </p:sp>
      <p:sp>
        <p:nvSpPr>
          <p:cNvPr id="8" name="Shape 6"/>
          <p:cNvSpPr/>
          <p:nvPr/>
        </p:nvSpPr>
        <p:spPr>
          <a:xfrm>
            <a:off x="822960" y="2057400"/>
            <a:ext cx="502920" cy="502920"/>
          </a:xfrm>
          <a:prstGeom prst="ellipse">
            <a:avLst/>
          </a:prstGeom>
          <a:solidFill>
            <a:srgbClr val="0D9488"/>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896112" y="2130552"/>
            <a:ext cx="356616" cy="356616"/>
          </a:xfrm>
          <a:prstGeom prst="rect">
            <a:avLst/>
          </a:prstGeom>
        </p:spPr>
      </p:pic>
      <p:sp>
        <p:nvSpPr>
          <p:cNvPr id="10" name="Text 7"/>
          <p:cNvSpPr/>
          <p:nvPr/>
        </p:nvSpPr>
        <p:spPr>
          <a:xfrm>
            <a:off x="1463040" y="2011680"/>
            <a:ext cx="1737360" cy="457200"/>
          </a:xfrm>
          <a:prstGeom prst="rect">
            <a:avLst/>
          </a:prstGeom>
          <a:noFill/>
          <a:ln/>
        </p:spPr>
        <p:txBody>
          <a:bodyPr wrap="square" lIns="0" tIns="0" rIns="0" bIns="0" rtlCol="0" anchor="ctr"/>
          <a:lstStyle/>
          <a:p>
            <a:pPr marL="0" indent="0">
              <a:buNone/>
            </a:pPr>
            <a:r>
              <a:rPr lang="en-US" sz="1400" b="1" dirty="0">
                <a:solidFill>
                  <a:srgbClr val="0B1F3A"/>
                </a:solidFill>
                <a:latin typeface="Georgia" pitchFamily="34" charset="0"/>
                <a:ea typeface="Georgia" pitchFamily="34" charset="-122"/>
                <a:cs typeface="Georgia" pitchFamily="34" charset="-120"/>
              </a:rPr>
              <a:t>Test generation</a:t>
            </a:r>
            <a:endParaRPr lang="en-US" sz="1400" dirty="0"/>
          </a:p>
        </p:txBody>
      </p:sp>
      <p:sp>
        <p:nvSpPr>
          <p:cNvPr id="11" name="Text 8"/>
          <p:cNvSpPr/>
          <p:nvPr/>
        </p:nvSpPr>
        <p:spPr>
          <a:xfrm>
            <a:off x="822960" y="2697480"/>
            <a:ext cx="2286000" cy="1005840"/>
          </a:xfrm>
          <a:prstGeom prst="rect">
            <a:avLst/>
          </a:prstGeom>
          <a:noFill/>
          <a:ln/>
        </p:spPr>
        <p:txBody>
          <a:bodyPr wrap="square" lIns="0" tIns="0" rIns="0" bIns="0" rtlCol="0" anchor="t"/>
          <a:lstStyle/>
          <a:p>
            <a:pPr marL="0" indent="0">
              <a:spcAft>
                <a:spcPts val="400"/>
              </a:spcAft>
              <a:buNone/>
            </a:pPr>
            <a:r>
              <a:rPr lang="en-US" sz="1100" dirty="0">
                <a:solidFill>
                  <a:srgbClr val="5B6A82"/>
                </a:solidFill>
                <a:latin typeface="Calibri" pitchFamily="34" charset="0"/>
                <a:ea typeface="Calibri" pitchFamily="34" charset="-122"/>
                <a:cs typeface="Calibri" pitchFamily="34" charset="-120"/>
              </a:rPr>
              <a:t>LLM-driven requirement parsing → metamorphic, boundary and combinatorial test sets.</a:t>
            </a:r>
            <a:endParaRPr lang="en-US" sz="1100" dirty="0"/>
          </a:p>
        </p:txBody>
      </p:sp>
      <p:sp>
        <p:nvSpPr>
          <p:cNvPr id="12" name="Shape 9"/>
          <p:cNvSpPr/>
          <p:nvPr/>
        </p:nvSpPr>
        <p:spPr>
          <a:xfrm>
            <a:off x="3383280" y="1828800"/>
            <a:ext cx="2743200" cy="2011680"/>
          </a:xfrm>
          <a:prstGeom prst="rect">
            <a:avLst/>
          </a:prstGeom>
          <a:solidFill>
            <a:srgbClr val="FFFFFF"/>
          </a:solidFill>
          <a:ln w="6350">
            <a:solidFill>
              <a:srgbClr val="E5E5E5"/>
            </a:solidFill>
            <a:prstDash val="solid"/>
          </a:ln>
          <a:effectLst>
            <a:outerShdw blurRad="101600" dist="25400" dir="5400000" algn="bl" rotWithShape="0">
              <a:srgbClr val="000000">
                <a:alpha val="10000"/>
              </a:srgbClr>
            </a:outerShdw>
          </a:effectLst>
        </p:spPr>
        <p:txBody>
          <a:bodyPr/>
          <a:lstStyle/>
          <a:p>
            <a:endParaRPr lang="en-US"/>
          </a:p>
        </p:txBody>
      </p:sp>
      <p:sp>
        <p:nvSpPr>
          <p:cNvPr id="13" name="Shape 10"/>
          <p:cNvSpPr/>
          <p:nvPr/>
        </p:nvSpPr>
        <p:spPr>
          <a:xfrm>
            <a:off x="3383280" y="1828800"/>
            <a:ext cx="73152" cy="2011680"/>
          </a:xfrm>
          <a:prstGeom prst="rect">
            <a:avLst/>
          </a:prstGeom>
          <a:solidFill>
            <a:srgbClr val="0D9488"/>
          </a:solidFill>
          <a:ln/>
        </p:spPr>
        <p:txBody>
          <a:bodyPr/>
          <a:lstStyle/>
          <a:p>
            <a:endParaRPr lang="en-US"/>
          </a:p>
        </p:txBody>
      </p:sp>
      <p:sp>
        <p:nvSpPr>
          <p:cNvPr id="14" name="Shape 11"/>
          <p:cNvSpPr/>
          <p:nvPr/>
        </p:nvSpPr>
        <p:spPr>
          <a:xfrm>
            <a:off x="3657600" y="2057400"/>
            <a:ext cx="502920" cy="502920"/>
          </a:xfrm>
          <a:prstGeom prst="ellipse">
            <a:avLst/>
          </a:prstGeom>
          <a:solidFill>
            <a:srgbClr val="0D9488"/>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3730752" y="2130552"/>
            <a:ext cx="356616" cy="356616"/>
          </a:xfrm>
          <a:prstGeom prst="rect">
            <a:avLst/>
          </a:prstGeom>
        </p:spPr>
      </p:pic>
      <p:sp>
        <p:nvSpPr>
          <p:cNvPr id="16" name="Text 12"/>
          <p:cNvSpPr/>
          <p:nvPr/>
        </p:nvSpPr>
        <p:spPr>
          <a:xfrm>
            <a:off x="4297680" y="2011680"/>
            <a:ext cx="1737360" cy="457200"/>
          </a:xfrm>
          <a:prstGeom prst="rect">
            <a:avLst/>
          </a:prstGeom>
          <a:noFill/>
          <a:ln/>
        </p:spPr>
        <p:txBody>
          <a:bodyPr wrap="square" lIns="0" tIns="0" rIns="0" bIns="0" rtlCol="0" anchor="ctr"/>
          <a:lstStyle/>
          <a:p>
            <a:pPr marL="0" indent="0">
              <a:buNone/>
            </a:pPr>
            <a:r>
              <a:rPr lang="en-US" sz="1400" b="1" dirty="0">
                <a:solidFill>
                  <a:srgbClr val="0B1F3A"/>
                </a:solidFill>
                <a:latin typeface="Georgia" pitchFamily="34" charset="0"/>
                <a:ea typeface="Georgia" pitchFamily="34" charset="-122"/>
                <a:cs typeface="Georgia" pitchFamily="34" charset="-120"/>
              </a:rPr>
              <a:t>Synthetic data</a:t>
            </a:r>
            <a:endParaRPr lang="en-US" sz="1400" dirty="0"/>
          </a:p>
        </p:txBody>
      </p:sp>
      <p:sp>
        <p:nvSpPr>
          <p:cNvPr id="17" name="Text 13"/>
          <p:cNvSpPr/>
          <p:nvPr/>
        </p:nvSpPr>
        <p:spPr>
          <a:xfrm>
            <a:off x="3657600" y="2697480"/>
            <a:ext cx="2286000" cy="1005840"/>
          </a:xfrm>
          <a:prstGeom prst="rect">
            <a:avLst/>
          </a:prstGeom>
          <a:noFill/>
          <a:ln/>
        </p:spPr>
        <p:txBody>
          <a:bodyPr wrap="square" lIns="0" tIns="0" rIns="0" bIns="0" rtlCol="0" anchor="t"/>
          <a:lstStyle/>
          <a:p>
            <a:pPr marL="0" indent="0">
              <a:spcAft>
                <a:spcPts val="400"/>
              </a:spcAft>
              <a:buNone/>
            </a:pPr>
            <a:r>
              <a:rPr lang="en-US" sz="1100" dirty="0">
                <a:solidFill>
                  <a:srgbClr val="5B6A82"/>
                </a:solidFill>
                <a:latin typeface="Calibri" pitchFamily="34" charset="0"/>
                <a:ea typeface="Calibri" pitchFamily="34" charset="-122"/>
                <a:cs typeface="Calibri" pitchFamily="34" charset="-120"/>
              </a:rPr>
              <a:t>GANs, diffusion and domain randomisation for rare events and edge cases.</a:t>
            </a:r>
            <a:endParaRPr lang="en-US" sz="1100" dirty="0"/>
          </a:p>
        </p:txBody>
      </p:sp>
      <p:sp>
        <p:nvSpPr>
          <p:cNvPr id="18" name="Shape 14"/>
          <p:cNvSpPr/>
          <p:nvPr/>
        </p:nvSpPr>
        <p:spPr>
          <a:xfrm>
            <a:off x="6217920" y="1828800"/>
            <a:ext cx="2743200" cy="2011680"/>
          </a:xfrm>
          <a:prstGeom prst="rect">
            <a:avLst/>
          </a:prstGeom>
          <a:solidFill>
            <a:srgbClr val="FFFFFF"/>
          </a:solidFill>
          <a:ln w="6350">
            <a:solidFill>
              <a:srgbClr val="E5E5E5"/>
            </a:solidFill>
            <a:prstDash val="solid"/>
          </a:ln>
          <a:effectLst>
            <a:outerShdw blurRad="101600" dist="25400" dir="5400000" algn="bl" rotWithShape="0">
              <a:srgbClr val="000000">
                <a:alpha val="10000"/>
              </a:srgbClr>
            </a:outerShdw>
          </a:effectLst>
        </p:spPr>
        <p:txBody>
          <a:bodyPr/>
          <a:lstStyle/>
          <a:p>
            <a:endParaRPr lang="en-US"/>
          </a:p>
        </p:txBody>
      </p:sp>
      <p:sp>
        <p:nvSpPr>
          <p:cNvPr id="19" name="Shape 15"/>
          <p:cNvSpPr/>
          <p:nvPr/>
        </p:nvSpPr>
        <p:spPr>
          <a:xfrm>
            <a:off x="6217920" y="1828800"/>
            <a:ext cx="73152" cy="2011680"/>
          </a:xfrm>
          <a:prstGeom prst="rect">
            <a:avLst/>
          </a:prstGeom>
          <a:solidFill>
            <a:srgbClr val="0D9488"/>
          </a:solidFill>
          <a:ln/>
        </p:spPr>
        <p:txBody>
          <a:bodyPr/>
          <a:lstStyle/>
          <a:p>
            <a:endParaRPr lang="en-US"/>
          </a:p>
        </p:txBody>
      </p:sp>
      <p:sp>
        <p:nvSpPr>
          <p:cNvPr id="20" name="Shape 16"/>
          <p:cNvSpPr/>
          <p:nvPr/>
        </p:nvSpPr>
        <p:spPr>
          <a:xfrm>
            <a:off x="6492240" y="2057400"/>
            <a:ext cx="502920" cy="502920"/>
          </a:xfrm>
          <a:prstGeom prst="ellipse">
            <a:avLst/>
          </a:prstGeom>
          <a:solidFill>
            <a:srgbClr val="0D9488"/>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6565392" y="2130552"/>
            <a:ext cx="356616" cy="356616"/>
          </a:xfrm>
          <a:prstGeom prst="rect">
            <a:avLst/>
          </a:prstGeom>
        </p:spPr>
      </p:pic>
      <p:sp>
        <p:nvSpPr>
          <p:cNvPr id="22" name="Text 17"/>
          <p:cNvSpPr/>
          <p:nvPr/>
        </p:nvSpPr>
        <p:spPr>
          <a:xfrm>
            <a:off x="7132320" y="2011680"/>
            <a:ext cx="1737360" cy="457200"/>
          </a:xfrm>
          <a:prstGeom prst="rect">
            <a:avLst/>
          </a:prstGeom>
          <a:noFill/>
          <a:ln/>
        </p:spPr>
        <p:txBody>
          <a:bodyPr wrap="square" lIns="0" tIns="0" rIns="0" bIns="0" rtlCol="0" anchor="ctr"/>
          <a:lstStyle/>
          <a:p>
            <a:pPr marL="0" indent="0">
              <a:buNone/>
            </a:pPr>
            <a:r>
              <a:rPr lang="en-US" sz="1400" b="1" dirty="0">
                <a:solidFill>
                  <a:srgbClr val="0B1F3A"/>
                </a:solidFill>
                <a:latin typeface="Georgia" pitchFamily="34" charset="0"/>
                <a:ea typeface="Georgia" pitchFamily="34" charset="-122"/>
                <a:cs typeface="Georgia" pitchFamily="34" charset="-120"/>
              </a:rPr>
              <a:t>Simulated worlds</a:t>
            </a:r>
            <a:endParaRPr lang="en-US" sz="1400" dirty="0"/>
          </a:p>
        </p:txBody>
      </p:sp>
      <p:sp>
        <p:nvSpPr>
          <p:cNvPr id="23" name="Text 18"/>
          <p:cNvSpPr/>
          <p:nvPr/>
        </p:nvSpPr>
        <p:spPr>
          <a:xfrm>
            <a:off x="6492240" y="2697480"/>
            <a:ext cx="2286000" cy="1005840"/>
          </a:xfrm>
          <a:prstGeom prst="rect">
            <a:avLst/>
          </a:prstGeom>
          <a:noFill/>
          <a:ln/>
        </p:spPr>
        <p:txBody>
          <a:bodyPr wrap="square" lIns="0" tIns="0" rIns="0" bIns="0" rtlCol="0" anchor="t"/>
          <a:lstStyle/>
          <a:p>
            <a:pPr marL="0" indent="0">
              <a:spcAft>
                <a:spcPts val="400"/>
              </a:spcAft>
              <a:buNone/>
            </a:pPr>
            <a:r>
              <a:rPr lang="en-US" sz="1100" dirty="0">
                <a:solidFill>
                  <a:srgbClr val="5B6A82"/>
                </a:solidFill>
                <a:latin typeface="Calibri" pitchFamily="34" charset="0"/>
                <a:ea typeface="Calibri" pitchFamily="34" charset="-122"/>
                <a:cs typeface="Calibri" pitchFamily="34" charset="-120"/>
              </a:rPr>
              <a:t>Isaac Sim, AirSim, CARLA, VBS4 digital twins for autonomy and sensor scenarios.</a:t>
            </a:r>
            <a:endParaRPr lang="en-US" sz="1100" dirty="0"/>
          </a:p>
        </p:txBody>
      </p:sp>
      <p:sp>
        <p:nvSpPr>
          <p:cNvPr id="24" name="Shape 19"/>
          <p:cNvSpPr/>
          <p:nvPr/>
        </p:nvSpPr>
        <p:spPr>
          <a:xfrm>
            <a:off x="9052560" y="1828800"/>
            <a:ext cx="2743200" cy="2011680"/>
          </a:xfrm>
          <a:prstGeom prst="rect">
            <a:avLst/>
          </a:prstGeom>
          <a:solidFill>
            <a:srgbClr val="FFFFFF"/>
          </a:solidFill>
          <a:ln w="6350">
            <a:solidFill>
              <a:srgbClr val="E5E5E5"/>
            </a:solidFill>
            <a:prstDash val="solid"/>
          </a:ln>
          <a:effectLst>
            <a:outerShdw blurRad="101600" dist="25400" dir="5400000" algn="bl" rotWithShape="0">
              <a:srgbClr val="000000">
                <a:alpha val="10000"/>
              </a:srgbClr>
            </a:outerShdw>
          </a:effectLst>
        </p:spPr>
        <p:txBody>
          <a:bodyPr/>
          <a:lstStyle/>
          <a:p>
            <a:endParaRPr lang="en-US"/>
          </a:p>
        </p:txBody>
      </p:sp>
      <p:sp>
        <p:nvSpPr>
          <p:cNvPr id="25" name="Shape 20"/>
          <p:cNvSpPr/>
          <p:nvPr/>
        </p:nvSpPr>
        <p:spPr>
          <a:xfrm>
            <a:off x="9052560" y="1828800"/>
            <a:ext cx="73152" cy="2011680"/>
          </a:xfrm>
          <a:prstGeom prst="rect">
            <a:avLst/>
          </a:prstGeom>
          <a:solidFill>
            <a:srgbClr val="0D9488"/>
          </a:solidFill>
          <a:ln/>
        </p:spPr>
        <p:txBody>
          <a:bodyPr/>
          <a:lstStyle/>
          <a:p>
            <a:endParaRPr lang="en-US"/>
          </a:p>
        </p:txBody>
      </p:sp>
      <p:sp>
        <p:nvSpPr>
          <p:cNvPr id="26" name="Shape 21"/>
          <p:cNvSpPr/>
          <p:nvPr/>
        </p:nvSpPr>
        <p:spPr>
          <a:xfrm>
            <a:off x="9326880" y="2057400"/>
            <a:ext cx="502920" cy="502920"/>
          </a:xfrm>
          <a:prstGeom prst="ellipse">
            <a:avLst/>
          </a:prstGeom>
          <a:solidFill>
            <a:srgbClr val="0D9488"/>
          </a:solidFill>
          <a:ln/>
        </p:spPr>
        <p:txBody>
          <a:bodyPr/>
          <a:lstStyle/>
          <a:p>
            <a:endParaRPr lang="en-US"/>
          </a:p>
        </p:txBody>
      </p:sp>
      <p:pic>
        <p:nvPicPr>
          <p:cNvPr id="27" name="Image 3" descr="preencoded.png"/>
          <p:cNvPicPr>
            <a:picLocks noChangeAspect="1"/>
          </p:cNvPicPr>
          <p:nvPr/>
        </p:nvPicPr>
        <p:blipFill>
          <a:blip r:embed="rId6"/>
          <a:stretch>
            <a:fillRect/>
          </a:stretch>
        </p:blipFill>
        <p:spPr>
          <a:xfrm>
            <a:off x="9400032" y="2130552"/>
            <a:ext cx="356616" cy="356616"/>
          </a:xfrm>
          <a:prstGeom prst="rect">
            <a:avLst/>
          </a:prstGeom>
        </p:spPr>
      </p:pic>
      <p:sp>
        <p:nvSpPr>
          <p:cNvPr id="28" name="Text 22"/>
          <p:cNvSpPr/>
          <p:nvPr/>
        </p:nvSpPr>
        <p:spPr>
          <a:xfrm>
            <a:off x="9966960" y="2011680"/>
            <a:ext cx="1737360" cy="457200"/>
          </a:xfrm>
          <a:prstGeom prst="rect">
            <a:avLst/>
          </a:prstGeom>
          <a:noFill/>
          <a:ln/>
        </p:spPr>
        <p:txBody>
          <a:bodyPr wrap="square" lIns="0" tIns="0" rIns="0" bIns="0" rtlCol="0" anchor="ctr"/>
          <a:lstStyle/>
          <a:p>
            <a:pPr marL="0" indent="0">
              <a:buNone/>
            </a:pPr>
            <a:r>
              <a:rPr lang="en-US" sz="1400" b="1" dirty="0">
                <a:solidFill>
                  <a:srgbClr val="0B1F3A"/>
                </a:solidFill>
                <a:latin typeface="Georgia" pitchFamily="34" charset="0"/>
                <a:ea typeface="Georgia" pitchFamily="34" charset="-122"/>
                <a:cs typeface="Georgia" pitchFamily="34" charset="-120"/>
              </a:rPr>
              <a:t>Adversarial attacks</a:t>
            </a:r>
            <a:endParaRPr lang="en-US" sz="1400" dirty="0"/>
          </a:p>
        </p:txBody>
      </p:sp>
      <p:sp>
        <p:nvSpPr>
          <p:cNvPr id="29" name="Text 23"/>
          <p:cNvSpPr/>
          <p:nvPr/>
        </p:nvSpPr>
        <p:spPr>
          <a:xfrm>
            <a:off x="9326880" y="2697480"/>
            <a:ext cx="2286000" cy="1005840"/>
          </a:xfrm>
          <a:prstGeom prst="rect">
            <a:avLst/>
          </a:prstGeom>
          <a:noFill/>
          <a:ln/>
        </p:spPr>
        <p:txBody>
          <a:bodyPr wrap="square" lIns="0" tIns="0" rIns="0" bIns="0" rtlCol="0" anchor="t"/>
          <a:lstStyle/>
          <a:p>
            <a:pPr marL="0" indent="0">
              <a:spcAft>
                <a:spcPts val="400"/>
              </a:spcAft>
              <a:buNone/>
            </a:pPr>
            <a:r>
              <a:rPr lang="en-US" sz="1100" dirty="0">
                <a:solidFill>
                  <a:srgbClr val="5B6A82"/>
                </a:solidFill>
                <a:latin typeface="Calibri" pitchFamily="34" charset="0"/>
                <a:ea typeface="Calibri" pitchFamily="34" charset="-122"/>
                <a:cs typeface="Calibri" pitchFamily="34" charset="-120"/>
              </a:rPr>
              <a:t>FGSM, PGD, patch, TextAttack — automated robustness evaluation in CI.</a:t>
            </a:r>
            <a:endParaRPr lang="en-US" sz="1100" dirty="0"/>
          </a:p>
        </p:txBody>
      </p:sp>
      <p:sp>
        <p:nvSpPr>
          <p:cNvPr id="30" name="Shape 24"/>
          <p:cNvSpPr/>
          <p:nvPr/>
        </p:nvSpPr>
        <p:spPr>
          <a:xfrm>
            <a:off x="548640" y="3977640"/>
            <a:ext cx="2743200" cy="2011680"/>
          </a:xfrm>
          <a:prstGeom prst="rect">
            <a:avLst/>
          </a:prstGeom>
          <a:solidFill>
            <a:srgbClr val="FFFFFF"/>
          </a:solidFill>
          <a:ln w="6350">
            <a:solidFill>
              <a:srgbClr val="E5E5E5"/>
            </a:solidFill>
            <a:prstDash val="solid"/>
          </a:ln>
          <a:effectLst>
            <a:outerShdw blurRad="101600" dist="25400" dir="5400000" algn="bl" rotWithShape="0">
              <a:srgbClr val="000000">
                <a:alpha val="10000"/>
              </a:srgbClr>
            </a:outerShdw>
          </a:effectLst>
        </p:spPr>
        <p:txBody>
          <a:bodyPr/>
          <a:lstStyle/>
          <a:p>
            <a:endParaRPr lang="en-US"/>
          </a:p>
        </p:txBody>
      </p:sp>
      <p:sp>
        <p:nvSpPr>
          <p:cNvPr id="31" name="Shape 25"/>
          <p:cNvSpPr/>
          <p:nvPr/>
        </p:nvSpPr>
        <p:spPr>
          <a:xfrm>
            <a:off x="548640" y="3977640"/>
            <a:ext cx="73152" cy="2011680"/>
          </a:xfrm>
          <a:prstGeom prst="rect">
            <a:avLst/>
          </a:prstGeom>
          <a:solidFill>
            <a:srgbClr val="27558A"/>
          </a:solidFill>
          <a:ln/>
        </p:spPr>
        <p:txBody>
          <a:bodyPr/>
          <a:lstStyle/>
          <a:p>
            <a:endParaRPr lang="en-US"/>
          </a:p>
        </p:txBody>
      </p:sp>
      <p:sp>
        <p:nvSpPr>
          <p:cNvPr id="32" name="Shape 26"/>
          <p:cNvSpPr/>
          <p:nvPr/>
        </p:nvSpPr>
        <p:spPr>
          <a:xfrm>
            <a:off x="822960" y="4206240"/>
            <a:ext cx="502920" cy="502920"/>
          </a:xfrm>
          <a:prstGeom prst="ellipse">
            <a:avLst/>
          </a:prstGeom>
          <a:solidFill>
            <a:srgbClr val="27558A"/>
          </a:solidFill>
          <a:ln/>
        </p:spPr>
        <p:txBody>
          <a:bodyPr/>
          <a:lstStyle/>
          <a:p>
            <a:endParaRPr lang="en-US"/>
          </a:p>
        </p:txBody>
      </p:sp>
      <p:pic>
        <p:nvPicPr>
          <p:cNvPr id="33" name="Image 4" descr="preencoded.png"/>
          <p:cNvPicPr>
            <a:picLocks noChangeAspect="1"/>
          </p:cNvPicPr>
          <p:nvPr/>
        </p:nvPicPr>
        <p:blipFill>
          <a:blip r:embed="rId7"/>
          <a:stretch>
            <a:fillRect/>
          </a:stretch>
        </p:blipFill>
        <p:spPr>
          <a:xfrm>
            <a:off x="896112" y="4279392"/>
            <a:ext cx="356616" cy="356616"/>
          </a:xfrm>
          <a:prstGeom prst="rect">
            <a:avLst/>
          </a:prstGeom>
        </p:spPr>
      </p:pic>
      <p:sp>
        <p:nvSpPr>
          <p:cNvPr id="34" name="Text 27"/>
          <p:cNvSpPr/>
          <p:nvPr/>
        </p:nvSpPr>
        <p:spPr>
          <a:xfrm>
            <a:off x="1463040" y="4160520"/>
            <a:ext cx="1737360" cy="457200"/>
          </a:xfrm>
          <a:prstGeom prst="rect">
            <a:avLst/>
          </a:prstGeom>
          <a:noFill/>
          <a:ln/>
        </p:spPr>
        <p:txBody>
          <a:bodyPr wrap="square" lIns="0" tIns="0" rIns="0" bIns="0" rtlCol="0" anchor="ctr"/>
          <a:lstStyle/>
          <a:p>
            <a:pPr marL="0" indent="0">
              <a:buNone/>
            </a:pPr>
            <a:r>
              <a:rPr lang="en-US" sz="1400" b="1" dirty="0">
                <a:solidFill>
                  <a:srgbClr val="0B1F3A"/>
                </a:solidFill>
                <a:latin typeface="Georgia" pitchFamily="34" charset="0"/>
                <a:ea typeface="Georgia" pitchFamily="34" charset="-122"/>
                <a:cs typeface="Georgia" pitchFamily="34" charset="-120"/>
              </a:rPr>
              <a:t>LLM red-teaming</a:t>
            </a:r>
            <a:endParaRPr lang="en-US" sz="1400" dirty="0"/>
          </a:p>
        </p:txBody>
      </p:sp>
      <p:sp>
        <p:nvSpPr>
          <p:cNvPr id="35" name="Text 28"/>
          <p:cNvSpPr/>
          <p:nvPr/>
        </p:nvSpPr>
        <p:spPr>
          <a:xfrm>
            <a:off x="822960" y="4846320"/>
            <a:ext cx="2286000" cy="1005840"/>
          </a:xfrm>
          <a:prstGeom prst="rect">
            <a:avLst/>
          </a:prstGeom>
          <a:noFill/>
          <a:ln/>
        </p:spPr>
        <p:txBody>
          <a:bodyPr wrap="square" lIns="0" tIns="0" rIns="0" bIns="0" rtlCol="0" anchor="t"/>
          <a:lstStyle/>
          <a:p>
            <a:pPr marL="0" indent="0">
              <a:spcAft>
                <a:spcPts val="400"/>
              </a:spcAft>
              <a:buNone/>
            </a:pPr>
            <a:r>
              <a:rPr lang="en-US" sz="1100" dirty="0">
                <a:solidFill>
                  <a:srgbClr val="5B6A82"/>
                </a:solidFill>
                <a:latin typeface="Calibri" pitchFamily="34" charset="0"/>
                <a:ea typeface="Calibri" pitchFamily="34" charset="-122"/>
                <a:cs typeface="Calibri" pitchFamily="34" charset="-120"/>
              </a:rPr>
              <a:t>Role-play adversary agents probe prompt injection, jailbreaks, policy evasion.</a:t>
            </a:r>
            <a:endParaRPr lang="en-US" sz="1100" dirty="0"/>
          </a:p>
        </p:txBody>
      </p:sp>
      <p:sp>
        <p:nvSpPr>
          <p:cNvPr id="36" name="Shape 29"/>
          <p:cNvSpPr/>
          <p:nvPr/>
        </p:nvSpPr>
        <p:spPr>
          <a:xfrm>
            <a:off x="3383280" y="3977640"/>
            <a:ext cx="2743200" cy="2011680"/>
          </a:xfrm>
          <a:prstGeom prst="rect">
            <a:avLst/>
          </a:prstGeom>
          <a:solidFill>
            <a:srgbClr val="FFFFFF"/>
          </a:solidFill>
          <a:ln w="6350">
            <a:solidFill>
              <a:srgbClr val="E5E5E5"/>
            </a:solidFill>
            <a:prstDash val="solid"/>
          </a:ln>
          <a:effectLst>
            <a:outerShdw blurRad="101600" dist="25400" dir="5400000" algn="bl" rotWithShape="0">
              <a:srgbClr val="000000">
                <a:alpha val="10000"/>
              </a:srgbClr>
            </a:outerShdw>
          </a:effectLst>
        </p:spPr>
        <p:txBody>
          <a:bodyPr/>
          <a:lstStyle/>
          <a:p>
            <a:endParaRPr lang="en-US"/>
          </a:p>
        </p:txBody>
      </p:sp>
      <p:sp>
        <p:nvSpPr>
          <p:cNvPr id="37" name="Shape 30"/>
          <p:cNvSpPr/>
          <p:nvPr/>
        </p:nvSpPr>
        <p:spPr>
          <a:xfrm>
            <a:off x="3383280" y="3977640"/>
            <a:ext cx="73152" cy="2011680"/>
          </a:xfrm>
          <a:prstGeom prst="rect">
            <a:avLst/>
          </a:prstGeom>
          <a:solidFill>
            <a:srgbClr val="27558A"/>
          </a:solidFill>
          <a:ln/>
        </p:spPr>
        <p:txBody>
          <a:bodyPr/>
          <a:lstStyle/>
          <a:p>
            <a:endParaRPr lang="en-US"/>
          </a:p>
        </p:txBody>
      </p:sp>
      <p:sp>
        <p:nvSpPr>
          <p:cNvPr id="38" name="Shape 31"/>
          <p:cNvSpPr/>
          <p:nvPr/>
        </p:nvSpPr>
        <p:spPr>
          <a:xfrm>
            <a:off x="3657600" y="4206240"/>
            <a:ext cx="502920" cy="502920"/>
          </a:xfrm>
          <a:prstGeom prst="ellipse">
            <a:avLst/>
          </a:prstGeom>
          <a:solidFill>
            <a:srgbClr val="27558A"/>
          </a:solidFill>
          <a:ln/>
        </p:spPr>
        <p:txBody>
          <a:bodyPr/>
          <a:lstStyle/>
          <a:p>
            <a:endParaRPr lang="en-US"/>
          </a:p>
        </p:txBody>
      </p:sp>
      <p:pic>
        <p:nvPicPr>
          <p:cNvPr id="39" name="Image 5" descr="preencoded.png"/>
          <p:cNvPicPr>
            <a:picLocks noChangeAspect="1"/>
          </p:cNvPicPr>
          <p:nvPr/>
        </p:nvPicPr>
        <p:blipFill>
          <a:blip r:embed="rId8"/>
          <a:stretch>
            <a:fillRect/>
          </a:stretch>
        </p:blipFill>
        <p:spPr>
          <a:xfrm>
            <a:off x="3730752" y="4279392"/>
            <a:ext cx="356616" cy="356616"/>
          </a:xfrm>
          <a:prstGeom prst="rect">
            <a:avLst/>
          </a:prstGeom>
        </p:spPr>
      </p:pic>
      <p:sp>
        <p:nvSpPr>
          <p:cNvPr id="40" name="Text 32"/>
          <p:cNvSpPr/>
          <p:nvPr/>
        </p:nvSpPr>
        <p:spPr>
          <a:xfrm>
            <a:off x="4297680" y="4160520"/>
            <a:ext cx="1737360" cy="457200"/>
          </a:xfrm>
          <a:prstGeom prst="rect">
            <a:avLst/>
          </a:prstGeom>
          <a:noFill/>
          <a:ln/>
        </p:spPr>
        <p:txBody>
          <a:bodyPr wrap="square" lIns="0" tIns="0" rIns="0" bIns="0" rtlCol="0" anchor="ctr"/>
          <a:lstStyle/>
          <a:p>
            <a:pPr marL="0" indent="0">
              <a:buNone/>
            </a:pPr>
            <a:r>
              <a:rPr lang="en-US" sz="1400" b="1" dirty="0">
                <a:solidFill>
                  <a:srgbClr val="0B1F3A"/>
                </a:solidFill>
                <a:latin typeface="Georgia" pitchFamily="34" charset="0"/>
                <a:ea typeface="Georgia" pitchFamily="34" charset="-122"/>
                <a:cs typeface="Georgia" pitchFamily="34" charset="-120"/>
              </a:rPr>
              <a:t>Drift detection</a:t>
            </a:r>
            <a:endParaRPr lang="en-US" sz="1400" dirty="0"/>
          </a:p>
        </p:txBody>
      </p:sp>
      <p:sp>
        <p:nvSpPr>
          <p:cNvPr id="41" name="Text 33"/>
          <p:cNvSpPr/>
          <p:nvPr/>
        </p:nvSpPr>
        <p:spPr>
          <a:xfrm>
            <a:off x="3657600" y="4846320"/>
            <a:ext cx="2286000" cy="1005840"/>
          </a:xfrm>
          <a:prstGeom prst="rect">
            <a:avLst/>
          </a:prstGeom>
          <a:noFill/>
          <a:ln/>
        </p:spPr>
        <p:txBody>
          <a:bodyPr wrap="square" lIns="0" tIns="0" rIns="0" bIns="0" rtlCol="0" anchor="t"/>
          <a:lstStyle/>
          <a:p>
            <a:pPr marL="0" indent="0">
              <a:spcAft>
                <a:spcPts val="400"/>
              </a:spcAft>
              <a:buNone/>
            </a:pPr>
            <a:r>
              <a:rPr lang="en-US" sz="1100" dirty="0">
                <a:solidFill>
                  <a:srgbClr val="5B6A82"/>
                </a:solidFill>
                <a:latin typeface="Calibri" pitchFamily="34" charset="0"/>
                <a:ea typeface="Calibri" pitchFamily="34" charset="-122"/>
                <a:cs typeface="Calibri" pitchFamily="34" charset="-120"/>
              </a:rPr>
              <a:t>Evidently, Alibi Detect, online SHAP, concept-drift alarms post-deployment.</a:t>
            </a:r>
            <a:endParaRPr lang="en-US" sz="1100" dirty="0"/>
          </a:p>
        </p:txBody>
      </p:sp>
      <p:sp>
        <p:nvSpPr>
          <p:cNvPr id="42" name="Shape 34"/>
          <p:cNvSpPr/>
          <p:nvPr/>
        </p:nvSpPr>
        <p:spPr>
          <a:xfrm>
            <a:off x="6217920" y="3977640"/>
            <a:ext cx="2743200" cy="2011680"/>
          </a:xfrm>
          <a:prstGeom prst="rect">
            <a:avLst/>
          </a:prstGeom>
          <a:solidFill>
            <a:srgbClr val="FFFFFF"/>
          </a:solidFill>
          <a:ln w="6350">
            <a:solidFill>
              <a:srgbClr val="E5E5E5"/>
            </a:solidFill>
            <a:prstDash val="solid"/>
          </a:ln>
          <a:effectLst>
            <a:outerShdw blurRad="101600" dist="25400" dir="5400000" algn="bl" rotWithShape="0">
              <a:srgbClr val="000000">
                <a:alpha val="10000"/>
              </a:srgbClr>
            </a:outerShdw>
          </a:effectLst>
        </p:spPr>
        <p:txBody>
          <a:bodyPr/>
          <a:lstStyle/>
          <a:p>
            <a:endParaRPr lang="en-US"/>
          </a:p>
        </p:txBody>
      </p:sp>
      <p:sp>
        <p:nvSpPr>
          <p:cNvPr id="43" name="Shape 35"/>
          <p:cNvSpPr/>
          <p:nvPr/>
        </p:nvSpPr>
        <p:spPr>
          <a:xfrm>
            <a:off x="6217920" y="3977640"/>
            <a:ext cx="73152" cy="2011680"/>
          </a:xfrm>
          <a:prstGeom prst="rect">
            <a:avLst/>
          </a:prstGeom>
          <a:solidFill>
            <a:srgbClr val="27558A"/>
          </a:solidFill>
          <a:ln/>
        </p:spPr>
        <p:txBody>
          <a:bodyPr/>
          <a:lstStyle/>
          <a:p>
            <a:endParaRPr lang="en-US"/>
          </a:p>
        </p:txBody>
      </p:sp>
      <p:sp>
        <p:nvSpPr>
          <p:cNvPr id="44" name="Shape 36"/>
          <p:cNvSpPr/>
          <p:nvPr/>
        </p:nvSpPr>
        <p:spPr>
          <a:xfrm>
            <a:off x="6492240" y="4206240"/>
            <a:ext cx="502920" cy="502920"/>
          </a:xfrm>
          <a:prstGeom prst="ellipse">
            <a:avLst/>
          </a:prstGeom>
          <a:solidFill>
            <a:srgbClr val="27558A"/>
          </a:solidFill>
          <a:ln/>
        </p:spPr>
        <p:txBody>
          <a:bodyPr/>
          <a:lstStyle/>
          <a:p>
            <a:endParaRPr lang="en-US"/>
          </a:p>
        </p:txBody>
      </p:sp>
      <p:pic>
        <p:nvPicPr>
          <p:cNvPr id="45" name="Image 6" descr="preencoded.png"/>
          <p:cNvPicPr>
            <a:picLocks noChangeAspect="1"/>
          </p:cNvPicPr>
          <p:nvPr/>
        </p:nvPicPr>
        <p:blipFill>
          <a:blip r:embed="rId9"/>
          <a:stretch>
            <a:fillRect/>
          </a:stretch>
        </p:blipFill>
        <p:spPr>
          <a:xfrm>
            <a:off x="6565392" y="4279392"/>
            <a:ext cx="356616" cy="356616"/>
          </a:xfrm>
          <a:prstGeom prst="rect">
            <a:avLst/>
          </a:prstGeom>
        </p:spPr>
      </p:pic>
      <p:sp>
        <p:nvSpPr>
          <p:cNvPr id="46" name="Text 37"/>
          <p:cNvSpPr/>
          <p:nvPr/>
        </p:nvSpPr>
        <p:spPr>
          <a:xfrm>
            <a:off x="7132320" y="4160520"/>
            <a:ext cx="1737360" cy="457200"/>
          </a:xfrm>
          <a:prstGeom prst="rect">
            <a:avLst/>
          </a:prstGeom>
          <a:noFill/>
          <a:ln/>
        </p:spPr>
        <p:txBody>
          <a:bodyPr wrap="square" lIns="0" tIns="0" rIns="0" bIns="0" rtlCol="0" anchor="ctr"/>
          <a:lstStyle/>
          <a:p>
            <a:pPr marL="0" indent="0">
              <a:buNone/>
            </a:pPr>
            <a:r>
              <a:rPr lang="en-US" sz="1400" b="1" dirty="0">
                <a:solidFill>
                  <a:srgbClr val="0B1F3A"/>
                </a:solidFill>
                <a:latin typeface="Georgia" pitchFamily="34" charset="0"/>
                <a:ea typeface="Georgia" pitchFamily="34" charset="-122"/>
                <a:cs typeface="Georgia" pitchFamily="34" charset="-120"/>
              </a:rPr>
              <a:t>Differential &amp; mutation</a:t>
            </a:r>
            <a:endParaRPr lang="en-US" sz="1400" dirty="0"/>
          </a:p>
        </p:txBody>
      </p:sp>
      <p:sp>
        <p:nvSpPr>
          <p:cNvPr id="47" name="Text 38"/>
          <p:cNvSpPr/>
          <p:nvPr/>
        </p:nvSpPr>
        <p:spPr>
          <a:xfrm>
            <a:off x="6492240" y="4846320"/>
            <a:ext cx="2286000" cy="1005840"/>
          </a:xfrm>
          <a:prstGeom prst="rect">
            <a:avLst/>
          </a:prstGeom>
          <a:noFill/>
          <a:ln/>
        </p:spPr>
        <p:txBody>
          <a:bodyPr wrap="square" lIns="0" tIns="0" rIns="0" bIns="0" rtlCol="0" anchor="t"/>
          <a:lstStyle/>
          <a:p>
            <a:pPr marL="0" indent="0">
              <a:spcAft>
                <a:spcPts val="400"/>
              </a:spcAft>
              <a:buNone/>
            </a:pPr>
            <a:r>
              <a:rPr lang="en-US" sz="1100" dirty="0">
                <a:solidFill>
                  <a:srgbClr val="5B6A82"/>
                </a:solidFill>
                <a:latin typeface="Calibri" pitchFamily="34" charset="0"/>
                <a:ea typeface="Calibri" pitchFamily="34" charset="-122"/>
                <a:cs typeface="Calibri" pitchFamily="34" charset="-120"/>
              </a:rPr>
              <a:t>Shadow-mode comparison; DeepMutation++ injects faults to measure test suite strength.</a:t>
            </a:r>
            <a:endParaRPr lang="en-US" sz="1100" dirty="0"/>
          </a:p>
        </p:txBody>
      </p:sp>
      <p:sp>
        <p:nvSpPr>
          <p:cNvPr id="48" name="Shape 39"/>
          <p:cNvSpPr/>
          <p:nvPr/>
        </p:nvSpPr>
        <p:spPr>
          <a:xfrm>
            <a:off x="9052560" y="3977640"/>
            <a:ext cx="2743200" cy="2011680"/>
          </a:xfrm>
          <a:prstGeom prst="rect">
            <a:avLst/>
          </a:prstGeom>
          <a:solidFill>
            <a:srgbClr val="FFFFFF"/>
          </a:solidFill>
          <a:ln w="6350">
            <a:solidFill>
              <a:srgbClr val="E5E5E5"/>
            </a:solidFill>
            <a:prstDash val="solid"/>
          </a:ln>
          <a:effectLst>
            <a:outerShdw blurRad="101600" dist="25400" dir="5400000" algn="bl" rotWithShape="0">
              <a:srgbClr val="000000">
                <a:alpha val="10000"/>
              </a:srgbClr>
            </a:outerShdw>
          </a:effectLst>
        </p:spPr>
        <p:txBody>
          <a:bodyPr/>
          <a:lstStyle/>
          <a:p>
            <a:endParaRPr lang="en-US"/>
          </a:p>
        </p:txBody>
      </p:sp>
      <p:sp>
        <p:nvSpPr>
          <p:cNvPr id="49" name="Shape 40"/>
          <p:cNvSpPr/>
          <p:nvPr/>
        </p:nvSpPr>
        <p:spPr>
          <a:xfrm>
            <a:off x="9052560" y="3977640"/>
            <a:ext cx="73152" cy="2011680"/>
          </a:xfrm>
          <a:prstGeom prst="rect">
            <a:avLst/>
          </a:prstGeom>
          <a:solidFill>
            <a:srgbClr val="27558A"/>
          </a:solidFill>
          <a:ln/>
        </p:spPr>
        <p:txBody>
          <a:bodyPr/>
          <a:lstStyle/>
          <a:p>
            <a:endParaRPr lang="en-US"/>
          </a:p>
        </p:txBody>
      </p:sp>
      <p:sp>
        <p:nvSpPr>
          <p:cNvPr id="50" name="Shape 41"/>
          <p:cNvSpPr/>
          <p:nvPr/>
        </p:nvSpPr>
        <p:spPr>
          <a:xfrm>
            <a:off x="9326880" y="4206240"/>
            <a:ext cx="502920" cy="502920"/>
          </a:xfrm>
          <a:prstGeom prst="ellipse">
            <a:avLst/>
          </a:prstGeom>
          <a:solidFill>
            <a:srgbClr val="27558A"/>
          </a:solidFill>
          <a:ln/>
        </p:spPr>
        <p:txBody>
          <a:bodyPr/>
          <a:lstStyle/>
          <a:p>
            <a:endParaRPr lang="en-US"/>
          </a:p>
        </p:txBody>
      </p:sp>
      <p:pic>
        <p:nvPicPr>
          <p:cNvPr id="51" name="Image 7" descr="preencoded.png"/>
          <p:cNvPicPr>
            <a:picLocks noChangeAspect="1"/>
          </p:cNvPicPr>
          <p:nvPr/>
        </p:nvPicPr>
        <p:blipFill>
          <a:blip r:embed="rId10"/>
          <a:stretch>
            <a:fillRect/>
          </a:stretch>
        </p:blipFill>
        <p:spPr>
          <a:xfrm>
            <a:off x="9400032" y="4279392"/>
            <a:ext cx="356616" cy="356616"/>
          </a:xfrm>
          <a:prstGeom prst="rect">
            <a:avLst/>
          </a:prstGeom>
        </p:spPr>
      </p:pic>
      <p:sp>
        <p:nvSpPr>
          <p:cNvPr id="52" name="Text 42"/>
          <p:cNvSpPr/>
          <p:nvPr/>
        </p:nvSpPr>
        <p:spPr>
          <a:xfrm>
            <a:off x="9966960" y="4160520"/>
            <a:ext cx="1737360" cy="457200"/>
          </a:xfrm>
          <a:prstGeom prst="rect">
            <a:avLst/>
          </a:prstGeom>
          <a:noFill/>
          <a:ln/>
        </p:spPr>
        <p:txBody>
          <a:bodyPr wrap="square" lIns="0" tIns="0" rIns="0" bIns="0" rtlCol="0" anchor="ctr"/>
          <a:lstStyle/>
          <a:p>
            <a:pPr marL="0" indent="0">
              <a:buNone/>
            </a:pPr>
            <a:r>
              <a:rPr lang="en-US" sz="1400" b="1" dirty="0">
                <a:solidFill>
                  <a:srgbClr val="0B1F3A"/>
                </a:solidFill>
                <a:latin typeface="Georgia" pitchFamily="34" charset="0"/>
                <a:ea typeface="Georgia" pitchFamily="34" charset="-122"/>
                <a:cs typeface="Georgia" pitchFamily="34" charset="-120"/>
              </a:rPr>
              <a:t>Safety case critique</a:t>
            </a:r>
            <a:endParaRPr lang="en-US" sz="1400" dirty="0"/>
          </a:p>
        </p:txBody>
      </p:sp>
      <p:sp>
        <p:nvSpPr>
          <p:cNvPr id="53" name="Text 43"/>
          <p:cNvSpPr/>
          <p:nvPr/>
        </p:nvSpPr>
        <p:spPr>
          <a:xfrm>
            <a:off x="9326880" y="4846320"/>
            <a:ext cx="2286000" cy="1005840"/>
          </a:xfrm>
          <a:prstGeom prst="rect">
            <a:avLst/>
          </a:prstGeom>
          <a:noFill/>
          <a:ln/>
        </p:spPr>
        <p:txBody>
          <a:bodyPr wrap="square" lIns="0" tIns="0" rIns="0" bIns="0" rtlCol="0" anchor="t"/>
          <a:lstStyle/>
          <a:p>
            <a:pPr marL="0" indent="0">
              <a:spcAft>
                <a:spcPts val="400"/>
              </a:spcAft>
              <a:buNone/>
            </a:pPr>
            <a:r>
              <a:rPr lang="en-US" sz="1100" dirty="0">
                <a:solidFill>
                  <a:srgbClr val="5B6A82"/>
                </a:solidFill>
                <a:latin typeface="Calibri" pitchFamily="34" charset="0"/>
                <a:ea typeface="Calibri" pitchFamily="34" charset="-122"/>
                <a:cs typeface="Calibri" pitchFamily="34" charset="-120"/>
              </a:rPr>
              <a:t>LLM GSN review, unsupported-claim detection, automated traceability matrices.</a:t>
            </a:r>
            <a:endParaRPr lang="en-US" sz="1100" dirty="0"/>
          </a:p>
        </p:txBody>
      </p:sp>
      <p:sp>
        <p:nvSpPr>
          <p:cNvPr id="54" name="Text 44"/>
          <p:cNvSpPr/>
          <p:nvPr/>
        </p:nvSpPr>
        <p:spPr>
          <a:xfrm>
            <a:off x="548640" y="6309360"/>
            <a:ext cx="11155680" cy="274320"/>
          </a:xfrm>
          <a:prstGeom prst="rect">
            <a:avLst/>
          </a:prstGeom>
          <a:noFill/>
          <a:ln/>
        </p:spPr>
        <p:txBody>
          <a:bodyPr wrap="square" lIns="0" tIns="0" rIns="0" bIns="0" rtlCol="0" anchor="ctr"/>
          <a:lstStyle/>
          <a:p>
            <a:pPr marL="0" indent="0" algn="ctr">
              <a:buNone/>
            </a:pPr>
            <a:r>
              <a:rPr lang="en-US" sz="1100" i="1" dirty="0">
                <a:solidFill>
                  <a:srgbClr val="5B6A82"/>
                </a:solidFill>
                <a:latin typeface="Calibri" pitchFamily="34" charset="0"/>
                <a:ea typeface="Calibri" pitchFamily="34" charset="-122"/>
                <a:cs typeface="Calibri" pitchFamily="34" charset="-120"/>
              </a:rPr>
              <a:t>Every play has proven industrial analogues — autonomous driving, fintech fraud detection, medical imaging, LLM safety.</a:t>
            </a:r>
            <a:endParaRPr lang="en-US" sz="1100" dirty="0"/>
          </a:p>
        </p:txBody>
      </p:sp>
      <p:sp>
        <p:nvSpPr>
          <p:cNvPr id="55" name="Shape 45"/>
          <p:cNvSpPr/>
          <p:nvPr/>
        </p:nvSpPr>
        <p:spPr>
          <a:xfrm>
            <a:off x="0" y="6537960"/>
            <a:ext cx="12191695" cy="320040"/>
          </a:xfrm>
          <a:prstGeom prst="rect">
            <a:avLst/>
          </a:prstGeom>
          <a:solidFill>
            <a:srgbClr val="0B1F3A"/>
          </a:solidFill>
          <a:ln/>
        </p:spPr>
        <p:txBody>
          <a:bodyPr/>
          <a:lstStyle/>
          <a:p>
            <a:endParaRPr lang="en-US"/>
          </a:p>
        </p:txBody>
      </p:sp>
      <p:sp>
        <p:nvSpPr>
          <p:cNvPr id="56" name="Text 46"/>
          <p:cNvSpPr/>
          <p:nvPr/>
        </p:nvSpPr>
        <p:spPr>
          <a:xfrm>
            <a:off x="365760" y="6547104"/>
            <a:ext cx="8229600" cy="301752"/>
          </a:xfrm>
          <a:prstGeom prst="rect">
            <a:avLst/>
          </a:prstGeom>
          <a:noFill/>
          <a:ln/>
        </p:spPr>
        <p:txBody>
          <a:bodyPr wrap="square" lIns="0" tIns="0" rIns="0" bIns="0" rtlCol="0" anchor="ctr"/>
          <a:lstStyle/>
          <a:p>
            <a:pPr marL="0" indent="0">
              <a:buNone/>
            </a:pPr>
            <a:r>
              <a:rPr lang="en-US" sz="900" dirty="0">
                <a:solidFill>
                  <a:srgbClr val="F4F1EC"/>
                </a:solidFill>
                <a:latin typeface="Calibri" pitchFamily="34" charset="0"/>
                <a:ea typeface="Calibri" pitchFamily="34" charset="-122"/>
                <a:cs typeface="Calibri" pitchFamily="34" charset="-120"/>
              </a:rPr>
              <a:t>UNCLASSIFIED  |  UK MOD  |  Testing AI with AI  |  April 2026</a:t>
            </a:r>
            <a:endParaRPr lang="en-US" sz="900" dirty="0"/>
          </a:p>
        </p:txBody>
      </p:sp>
      <p:sp>
        <p:nvSpPr>
          <p:cNvPr id="57" name="Text 47"/>
          <p:cNvSpPr/>
          <p:nvPr/>
        </p:nvSpPr>
        <p:spPr>
          <a:xfrm>
            <a:off x="11094415" y="6547104"/>
            <a:ext cx="731520" cy="301752"/>
          </a:xfrm>
          <a:prstGeom prst="rect">
            <a:avLst/>
          </a:prstGeom>
          <a:noFill/>
          <a:ln/>
        </p:spPr>
        <p:txBody>
          <a:bodyPr wrap="square" lIns="0" tIns="0" rIns="0" bIns="0" rtlCol="0" anchor="ctr"/>
          <a:lstStyle/>
          <a:p>
            <a:pPr marL="0" indent="0" algn="r">
              <a:buNone/>
            </a:pPr>
            <a:r>
              <a:rPr lang="en-US" sz="900" dirty="0">
                <a:solidFill>
                  <a:srgbClr val="F4F1EC"/>
                </a:solidFill>
                <a:latin typeface="Calibri" pitchFamily="34" charset="0"/>
                <a:ea typeface="Calibri" pitchFamily="34" charset="-122"/>
                <a:cs typeface="Calibri" pitchFamily="34" charset="-120"/>
              </a:rPr>
              <a:t>4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D9488"/>
          </a:solidFill>
          <a:ln/>
        </p:spPr>
        <p:txBody>
          <a:bodyPr/>
          <a:lstStyle/>
          <a:p>
            <a:endParaRPr lang="en-US"/>
          </a:p>
        </p:txBody>
      </p:sp>
      <p:sp>
        <p:nvSpPr>
          <p:cNvPr id="3" name="Text 1"/>
          <p:cNvSpPr/>
          <p:nvPr/>
        </p:nvSpPr>
        <p:spPr>
          <a:xfrm>
            <a:off x="548640" y="320040"/>
            <a:ext cx="10972800" cy="320040"/>
          </a:xfrm>
          <a:prstGeom prst="rect">
            <a:avLst/>
          </a:prstGeom>
          <a:noFill/>
          <a:ln/>
        </p:spPr>
        <p:txBody>
          <a:bodyPr wrap="square" lIns="0" tIns="0" rIns="0" bIns="0" rtlCol="0" anchor="ctr"/>
          <a:lstStyle/>
          <a:p>
            <a:pPr marL="0" indent="0">
              <a:buNone/>
            </a:pPr>
            <a:r>
              <a:rPr lang="en-US" sz="1100" b="1" kern="0" spc="600" dirty="0">
                <a:solidFill>
                  <a:srgbClr val="0D9488"/>
                </a:solidFill>
                <a:latin typeface="Calibri" pitchFamily="34" charset="0"/>
                <a:ea typeface="Calibri" pitchFamily="34" charset="-122"/>
                <a:cs typeface="Calibri" pitchFamily="34" charset="-120"/>
              </a:rPr>
              <a:t>RECOMMENDATION 01</a:t>
            </a:r>
            <a:endParaRPr lang="en-US" sz="1100" dirty="0"/>
          </a:p>
        </p:txBody>
      </p:sp>
      <p:sp>
        <p:nvSpPr>
          <p:cNvPr id="4" name="Text 2"/>
          <p:cNvSpPr/>
          <p:nvPr/>
        </p:nvSpPr>
        <p:spPr>
          <a:xfrm>
            <a:off x="548640" y="640080"/>
            <a:ext cx="11155680" cy="777240"/>
          </a:xfrm>
          <a:prstGeom prst="rect">
            <a:avLst/>
          </a:prstGeom>
          <a:noFill/>
          <a:ln/>
        </p:spPr>
        <p:txBody>
          <a:bodyPr wrap="square" lIns="0" tIns="0" rIns="0" bIns="0" rtlCol="0" anchor="ctr"/>
          <a:lstStyle/>
          <a:p>
            <a:pPr marL="0" indent="0">
              <a:buNone/>
            </a:pPr>
            <a:r>
              <a:rPr lang="en-US" sz="3000" b="1" dirty="0">
                <a:solidFill>
                  <a:srgbClr val="0B1F3A"/>
                </a:solidFill>
                <a:latin typeface="Georgia" pitchFamily="34" charset="0"/>
                <a:ea typeface="Georgia" pitchFamily="34" charset="-122"/>
                <a:cs typeface="Georgia" pitchFamily="34" charset="-120"/>
              </a:rPr>
              <a:t>AI-driven test case &amp; scenario generation</a:t>
            </a:r>
            <a:endParaRPr lang="en-US" sz="3000" dirty="0"/>
          </a:p>
        </p:txBody>
      </p:sp>
      <p:sp>
        <p:nvSpPr>
          <p:cNvPr id="5" name="Shape 3"/>
          <p:cNvSpPr/>
          <p:nvPr/>
        </p:nvSpPr>
        <p:spPr>
          <a:xfrm>
            <a:off x="548640" y="1508760"/>
            <a:ext cx="822960" cy="36576"/>
          </a:xfrm>
          <a:prstGeom prst="rect">
            <a:avLst/>
          </a:prstGeom>
          <a:solidFill>
            <a:srgbClr val="0D9488"/>
          </a:solidFill>
          <a:ln/>
        </p:spPr>
        <p:txBody>
          <a:bodyPr/>
          <a:lstStyle/>
          <a:p>
            <a:endParaRPr lang="en-US"/>
          </a:p>
        </p:txBody>
      </p:sp>
      <p:sp>
        <p:nvSpPr>
          <p:cNvPr id="6" name="Shape 4"/>
          <p:cNvSpPr/>
          <p:nvPr/>
        </p:nvSpPr>
        <p:spPr>
          <a:xfrm>
            <a:off x="548640" y="1828800"/>
            <a:ext cx="6583680" cy="4114800"/>
          </a:xfrm>
          <a:prstGeom prst="rect">
            <a:avLst/>
          </a:prstGeom>
          <a:solidFill>
            <a:srgbClr val="FFFFFF"/>
          </a:solidFill>
          <a:ln w="6350">
            <a:solidFill>
              <a:srgbClr val="E5E5E5"/>
            </a:solidFill>
            <a:prstDash val="solid"/>
          </a:ln>
          <a:effectLst>
            <a:outerShdw blurRad="101600" dist="25400" dir="5400000" algn="bl" rotWithShape="0">
              <a:srgbClr val="000000">
                <a:alpha val="10000"/>
              </a:srgbClr>
            </a:outerShdw>
          </a:effectLst>
        </p:spPr>
        <p:txBody>
          <a:bodyPr/>
          <a:lstStyle/>
          <a:p>
            <a:endParaRPr lang="en-US"/>
          </a:p>
        </p:txBody>
      </p:sp>
      <p:sp>
        <p:nvSpPr>
          <p:cNvPr id="7" name="Shape 5"/>
          <p:cNvSpPr/>
          <p:nvPr/>
        </p:nvSpPr>
        <p:spPr>
          <a:xfrm>
            <a:off x="548640" y="1828800"/>
            <a:ext cx="6583680" cy="73152"/>
          </a:xfrm>
          <a:prstGeom prst="rect">
            <a:avLst/>
          </a:prstGeom>
          <a:solidFill>
            <a:srgbClr val="0D9488"/>
          </a:solidFill>
          <a:ln/>
        </p:spPr>
        <p:txBody>
          <a:bodyPr/>
          <a:lstStyle/>
          <a:p>
            <a:endParaRPr lang="en-US"/>
          </a:p>
        </p:txBody>
      </p:sp>
      <p:sp>
        <p:nvSpPr>
          <p:cNvPr id="8" name="Text 6"/>
          <p:cNvSpPr/>
          <p:nvPr/>
        </p:nvSpPr>
        <p:spPr>
          <a:xfrm>
            <a:off x="777240" y="2011680"/>
            <a:ext cx="6309360" cy="365760"/>
          </a:xfrm>
          <a:prstGeom prst="rect">
            <a:avLst/>
          </a:prstGeom>
          <a:noFill/>
          <a:ln/>
        </p:spPr>
        <p:txBody>
          <a:bodyPr wrap="square" lIns="0" tIns="0" rIns="0" bIns="0" rtlCol="0" anchor="ctr"/>
          <a:lstStyle/>
          <a:p>
            <a:pPr marL="0" indent="0">
              <a:buNone/>
            </a:pPr>
            <a:r>
              <a:rPr lang="en-US" sz="1400" b="1" dirty="0">
                <a:solidFill>
                  <a:srgbClr val="0D9488"/>
                </a:solidFill>
                <a:latin typeface="Georgia" pitchFamily="34" charset="0"/>
                <a:ea typeface="Georgia" pitchFamily="34" charset="-122"/>
                <a:cs typeface="Georgia" pitchFamily="34" charset="-120"/>
              </a:rPr>
              <a:t>The problem</a:t>
            </a:r>
            <a:endParaRPr lang="en-US" sz="1400" dirty="0"/>
          </a:p>
        </p:txBody>
      </p:sp>
      <p:sp>
        <p:nvSpPr>
          <p:cNvPr id="9" name="Text 7"/>
          <p:cNvSpPr/>
          <p:nvPr/>
        </p:nvSpPr>
        <p:spPr>
          <a:xfrm>
            <a:off x="777240" y="2377440"/>
            <a:ext cx="6309360" cy="1143000"/>
          </a:xfrm>
          <a:prstGeom prst="rect">
            <a:avLst/>
          </a:prstGeom>
          <a:noFill/>
          <a:ln/>
        </p:spPr>
        <p:txBody>
          <a:bodyPr wrap="square" lIns="0" tIns="0" rIns="0" bIns="0" rtlCol="0" anchor="t"/>
          <a:lstStyle/>
          <a:p>
            <a:pPr marL="0" indent="0">
              <a:buNone/>
            </a:pPr>
            <a:r>
              <a:rPr lang="en-US" sz="1200" dirty="0">
                <a:solidFill>
                  <a:srgbClr val="0B1F3A"/>
                </a:solidFill>
                <a:latin typeface="Calibri" pitchFamily="34" charset="0"/>
                <a:ea typeface="Calibri" pitchFamily="34" charset="-122"/>
                <a:cs typeface="Calibri" pitchFamily="34" charset="-120"/>
              </a:rPr>
              <a:t>Defence AI systems face vast input spaces — sensor conditions, adversary behaviour, weapon configurations, legal contexts. Manually specified test suites under-sample edges, miss combinatorial corners, and rarely reflect the requirements language they are meant to cover.</a:t>
            </a:r>
            <a:endParaRPr lang="en-US" sz="1200" dirty="0"/>
          </a:p>
        </p:txBody>
      </p:sp>
      <p:sp>
        <p:nvSpPr>
          <p:cNvPr id="10" name="Text 8"/>
          <p:cNvSpPr/>
          <p:nvPr/>
        </p:nvSpPr>
        <p:spPr>
          <a:xfrm>
            <a:off x="777240" y="3611880"/>
            <a:ext cx="6309360" cy="365760"/>
          </a:xfrm>
          <a:prstGeom prst="rect">
            <a:avLst/>
          </a:prstGeom>
          <a:noFill/>
          <a:ln/>
        </p:spPr>
        <p:txBody>
          <a:bodyPr wrap="square" lIns="0" tIns="0" rIns="0" bIns="0" rtlCol="0" anchor="ctr"/>
          <a:lstStyle/>
          <a:p>
            <a:pPr marL="0" indent="0">
              <a:buNone/>
            </a:pPr>
            <a:r>
              <a:rPr lang="en-US" sz="1400" b="1" dirty="0">
                <a:solidFill>
                  <a:srgbClr val="0D9488"/>
                </a:solidFill>
                <a:latin typeface="Georgia" pitchFamily="34" charset="0"/>
                <a:ea typeface="Georgia" pitchFamily="34" charset="-122"/>
                <a:cs typeface="Georgia" pitchFamily="34" charset="-120"/>
              </a:rPr>
              <a:t>The approach</a:t>
            </a:r>
            <a:endParaRPr lang="en-US" sz="1400" dirty="0"/>
          </a:p>
        </p:txBody>
      </p:sp>
      <p:sp>
        <p:nvSpPr>
          <p:cNvPr id="11" name="Text 9"/>
          <p:cNvSpPr/>
          <p:nvPr/>
        </p:nvSpPr>
        <p:spPr>
          <a:xfrm>
            <a:off x="777240" y="3977640"/>
            <a:ext cx="6309360" cy="192024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0B1F3A"/>
                </a:solidFill>
                <a:latin typeface="Calibri" pitchFamily="34" charset="0"/>
                <a:ea typeface="Calibri" pitchFamily="34" charset="-122"/>
                <a:cs typeface="Calibri" pitchFamily="34" charset="-120"/>
              </a:rPr>
              <a:t>DeFOSPAM agent pipeline — validate requirements for ambiguity, completeness, testability</a:t>
            </a:r>
            <a:endParaRPr lang="en-US" sz="1200" dirty="0"/>
          </a:p>
          <a:p>
            <a:pPr marL="342900" indent="-342900">
              <a:spcAft>
                <a:spcPts val="400"/>
              </a:spcAft>
              <a:buSzPct val="100000"/>
              <a:buChar char="•"/>
            </a:pPr>
            <a:r>
              <a:rPr lang="en-US" sz="1200" dirty="0">
                <a:solidFill>
                  <a:srgbClr val="0B1F3A"/>
                </a:solidFill>
                <a:latin typeface="Calibri" pitchFamily="34" charset="0"/>
                <a:ea typeface="Calibri" pitchFamily="34" charset="-122"/>
                <a:cs typeface="Calibri" pitchFamily="34" charset="-120"/>
              </a:rPr>
              <a:t>Metamorphic testing: LLM-generated input transformations with invariant oracles</a:t>
            </a:r>
            <a:endParaRPr lang="en-US" sz="1200" dirty="0"/>
          </a:p>
          <a:p>
            <a:pPr marL="342900" indent="-342900">
              <a:spcAft>
                <a:spcPts val="400"/>
              </a:spcAft>
              <a:buSzPct val="100000"/>
              <a:buChar char="•"/>
            </a:pPr>
            <a:r>
              <a:rPr lang="en-US" sz="1200" dirty="0">
                <a:solidFill>
                  <a:srgbClr val="0B1F3A"/>
                </a:solidFill>
                <a:latin typeface="Calibri" pitchFamily="34" charset="0"/>
                <a:ea typeface="Calibri" pitchFamily="34" charset="-122"/>
                <a:cs typeface="Calibri" pitchFamily="34" charset="-120"/>
              </a:rPr>
              <a:t>Boundary-value and equivalence-class test generation driven by specification-by-example</a:t>
            </a:r>
            <a:endParaRPr lang="en-US" sz="1200" dirty="0"/>
          </a:p>
          <a:p>
            <a:pPr marL="342900" indent="-342900">
              <a:spcAft>
                <a:spcPts val="400"/>
              </a:spcAft>
              <a:buSzPct val="100000"/>
              <a:buChar char="•"/>
            </a:pPr>
            <a:r>
              <a:rPr lang="en-US" sz="1200" dirty="0">
                <a:solidFill>
                  <a:srgbClr val="0B1F3A"/>
                </a:solidFill>
                <a:latin typeface="Calibri" pitchFamily="34" charset="0"/>
                <a:ea typeface="Calibri" pitchFamily="34" charset="-122"/>
                <a:cs typeface="Calibri" pitchFamily="34" charset="-120"/>
              </a:rPr>
              <a:t>Pairwise / t-wise combinatorial coverage across high-dimensional configuration spaces</a:t>
            </a:r>
            <a:endParaRPr lang="en-US" sz="1200" dirty="0"/>
          </a:p>
        </p:txBody>
      </p:sp>
      <p:sp>
        <p:nvSpPr>
          <p:cNvPr id="12" name="Shape 10"/>
          <p:cNvSpPr/>
          <p:nvPr/>
        </p:nvSpPr>
        <p:spPr>
          <a:xfrm>
            <a:off x="7406640" y="1828800"/>
            <a:ext cx="4297680" cy="1737360"/>
          </a:xfrm>
          <a:prstGeom prst="rect">
            <a:avLst/>
          </a:prstGeom>
          <a:solidFill>
            <a:srgbClr val="0B1F3A"/>
          </a:solidFill>
          <a:ln/>
        </p:spPr>
        <p:txBody>
          <a:bodyPr/>
          <a:lstStyle/>
          <a:p>
            <a:endParaRPr lang="en-US"/>
          </a:p>
        </p:txBody>
      </p:sp>
      <p:sp>
        <p:nvSpPr>
          <p:cNvPr id="13" name="Text 11"/>
          <p:cNvSpPr/>
          <p:nvPr/>
        </p:nvSpPr>
        <p:spPr>
          <a:xfrm>
            <a:off x="7680960" y="1920240"/>
            <a:ext cx="3840480" cy="914400"/>
          </a:xfrm>
          <a:prstGeom prst="rect">
            <a:avLst/>
          </a:prstGeom>
          <a:noFill/>
          <a:ln/>
        </p:spPr>
        <p:txBody>
          <a:bodyPr wrap="square" lIns="0" tIns="0" rIns="0" bIns="0" rtlCol="0" anchor="ctr"/>
          <a:lstStyle/>
          <a:p>
            <a:pPr marL="0" indent="0">
              <a:buNone/>
            </a:pPr>
            <a:r>
              <a:rPr lang="en-US" sz="5200" b="1" dirty="0">
                <a:solidFill>
                  <a:srgbClr val="5EEAD4"/>
                </a:solidFill>
                <a:latin typeface="Georgia" pitchFamily="34" charset="0"/>
                <a:ea typeface="Georgia" pitchFamily="34" charset="-122"/>
                <a:cs typeface="Georgia" pitchFamily="34" charset="-120"/>
              </a:rPr>
              <a:t>10×</a:t>
            </a:r>
            <a:endParaRPr lang="en-US" sz="5200" dirty="0"/>
          </a:p>
        </p:txBody>
      </p:sp>
      <p:sp>
        <p:nvSpPr>
          <p:cNvPr id="14" name="Text 12"/>
          <p:cNvSpPr/>
          <p:nvPr/>
        </p:nvSpPr>
        <p:spPr>
          <a:xfrm>
            <a:off x="7680960" y="2834640"/>
            <a:ext cx="3840480" cy="640080"/>
          </a:xfrm>
          <a:prstGeom prst="rect">
            <a:avLst/>
          </a:prstGeom>
          <a:noFill/>
          <a:ln/>
        </p:spPr>
        <p:txBody>
          <a:bodyPr wrap="square" lIns="0" tIns="0" rIns="0" bIns="0" rtlCol="0" anchor="t"/>
          <a:lstStyle/>
          <a:p>
            <a:pPr marL="0" indent="0">
              <a:buNone/>
            </a:pPr>
            <a:r>
              <a:rPr lang="en-US" sz="1100" dirty="0">
                <a:solidFill>
                  <a:srgbClr val="F4F1EC"/>
                </a:solidFill>
                <a:latin typeface="Calibri" pitchFamily="34" charset="0"/>
                <a:ea typeface="Calibri" pitchFamily="34" charset="-122"/>
                <a:cs typeface="Calibri" pitchFamily="34" charset="-120"/>
              </a:rPr>
              <a:t>more scenarios covered in the same engineer-hours vs. manual test design (industrial LLM pilots).</a:t>
            </a:r>
            <a:endParaRPr lang="en-US" sz="1100" dirty="0"/>
          </a:p>
        </p:txBody>
      </p:sp>
      <p:sp>
        <p:nvSpPr>
          <p:cNvPr id="15" name="Shape 13"/>
          <p:cNvSpPr/>
          <p:nvPr/>
        </p:nvSpPr>
        <p:spPr>
          <a:xfrm>
            <a:off x="7406640" y="3703320"/>
            <a:ext cx="4297680" cy="2240280"/>
          </a:xfrm>
          <a:prstGeom prst="rect">
            <a:avLst/>
          </a:prstGeom>
          <a:solidFill>
            <a:srgbClr val="FFFFFF"/>
          </a:solidFill>
          <a:ln w="6350">
            <a:solidFill>
              <a:srgbClr val="E5E5E5"/>
            </a:solidFill>
            <a:prstDash val="solid"/>
          </a:ln>
        </p:spPr>
        <p:txBody>
          <a:bodyPr/>
          <a:lstStyle/>
          <a:p>
            <a:endParaRPr lang="en-US"/>
          </a:p>
        </p:txBody>
      </p:sp>
      <p:sp>
        <p:nvSpPr>
          <p:cNvPr id="16" name="Shape 14"/>
          <p:cNvSpPr/>
          <p:nvPr/>
        </p:nvSpPr>
        <p:spPr>
          <a:xfrm>
            <a:off x="7406640" y="3703320"/>
            <a:ext cx="73152" cy="2240280"/>
          </a:xfrm>
          <a:prstGeom prst="rect">
            <a:avLst/>
          </a:prstGeom>
          <a:solidFill>
            <a:srgbClr val="D4A24C"/>
          </a:solidFill>
          <a:ln/>
        </p:spPr>
        <p:txBody>
          <a:bodyPr/>
          <a:lstStyle/>
          <a:p>
            <a:endParaRPr lang="en-US"/>
          </a:p>
        </p:txBody>
      </p:sp>
      <p:sp>
        <p:nvSpPr>
          <p:cNvPr id="17" name="Text 15"/>
          <p:cNvSpPr/>
          <p:nvPr/>
        </p:nvSpPr>
        <p:spPr>
          <a:xfrm>
            <a:off x="7635240" y="3794760"/>
            <a:ext cx="3931920" cy="365760"/>
          </a:xfrm>
          <a:prstGeom prst="rect">
            <a:avLst/>
          </a:prstGeom>
          <a:noFill/>
          <a:ln/>
        </p:spPr>
        <p:txBody>
          <a:bodyPr wrap="square" lIns="0" tIns="0" rIns="0" bIns="0" rtlCol="0" anchor="ctr"/>
          <a:lstStyle/>
          <a:p>
            <a:pPr marL="0" indent="0">
              <a:buNone/>
            </a:pPr>
            <a:r>
              <a:rPr lang="en-US" sz="1300" b="1" dirty="0">
                <a:solidFill>
                  <a:srgbClr val="0B1F3A"/>
                </a:solidFill>
                <a:latin typeface="Georgia" pitchFamily="34" charset="0"/>
                <a:ea typeface="Georgia" pitchFamily="34" charset="-122"/>
                <a:cs typeface="Georgia" pitchFamily="34" charset="-120"/>
              </a:rPr>
              <a:t>Assurance guardrails</a:t>
            </a:r>
            <a:endParaRPr lang="en-US" sz="1300" dirty="0"/>
          </a:p>
        </p:txBody>
      </p:sp>
      <p:sp>
        <p:nvSpPr>
          <p:cNvPr id="18" name="Text 16"/>
          <p:cNvSpPr/>
          <p:nvPr/>
        </p:nvSpPr>
        <p:spPr>
          <a:xfrm>
            <a:off x="7635240" y="4160520"/>
            <a:ext cx="3931920" cy="1737360"/>
          </a:xfrm>
          <a:prstGeom prst="rect">
            <a:avLst/>
          </a:prstGeom>
          <a:noFill/>
          <a:ln/>
        </p:spPr>
        <p:txBody>
          <a:bodyPr wrap="square" lIns="0" tIns="0" rIns="0" bIns="0" rtlCol="0" anchor="ctr"/>
          <a:lstStyle/>
          <a:p>
            <a:pPr marL="342900" indent="-342900">
              <a:spcAft>
                <a:spcPts val="300"/>
              </a:spcAft>
              <a:buSzPct val="100000"/>
              <a:buChar char="•"/>
            </a:pPr>
            <a:r>
              <a:rPr lang="en-US" sz="1100" dirty="0">
                <a:solidFill>
                  <a:srgbClr val="0B1F3A"/>
                </a:solidFill>
                <a:latin typeface="Calibri" pitchFamily="34" charset="0"/>
                <a:ea typeface="Calibri" pitchFamily="34" charset="-122"/>
                <a:cs typeface="Calibri" pitchFamily="34" charset="-120"/>
              </a:rPr>
              <a:t>LLM-generated tests need human-reviewed acceptance criteria</a:t>
            </a:r>
            <a:endParaRPr lang="en-US" sz="1100" dirty="0"/>
          </a:p>
          <a:p>
            <a:pPr marL="342900" indent="-342900">
              <a:spcAft>
                <a:spcPts val="300"/>
              </a:spcAft>
              <a:buSzPct val="100000"/>
              <a:buChar char="•"/>
            </a:pPr>
            <a:r>
              <a:rPr lang="en-US" sz="1100" dirty="0">
                <a:solidFill>
                  <a:srgbClr val="0B1F3A"/>
                </a:solidFill>
                <a:latin typeface="Calibri" pitchFamily="34" charset="0"/>
                <a:ea typeface="Calibri" pitchFamily="34" charset="-122"/>
                <a:cs typeface="Calibri" pitchFamily="34" charset="-120"/>
              </a:rPr>
              <a:t>Metamorphic oracles must be traceable to a named requirement</a:t>
            </a:r>
            <a:endParaRPr lang="en-US" sz="1100" dirty="0"/>
          </a:p>
          <a:p>
            <a:pPr marL="342900" indent="-342900">
              <a:spcAft>
                <a:spcPts val="300"/>
              </a:spcAft>
              <a:buSzPct val="100000"/>
              <a:buChar char="•"/>
            </a:pPr>
            <a:r>
              <a:rPr lang="en-US" sz="1100" dirty="0">
                <a:solidFill>
                  <a:srgbClr val="0B1F3A"/>
                </a:solidFill>
                <a:latin typeface="Calibri" pitchFamily="34" charset="0"/>
                <a:ea typeface="Calibri" pitchFamily="34" charset="-122"/>
                <a:cs typeface="Calibri" pitchFamily="34" charset="-120"/>
              </a:rPr>
              <a:t>Coverage metrics (MC/DC, combinatorial) remain the truth source</a:t>
            </a:r>
            <a:endParaRPr lang="en-US" sz="1100" dirty="0"/>
          </a:p>
          <a:p>
            <a:pPr marL="342900" indent="-342900">
              <a:spcAft>
                <a:spcPts val="300"/>
              </a:spcAft>
              <a:buSzPct val="100000"/>
              <a:buChar char="•"/>
            </a:pPr>
            <a:r>
              <a:rPr lang="en-US" sz="1100" dirty="0">
                <a:solidFill>
                  <a:srgbClr val="0B1F3A"/>
                </a:solidFill>
                <a:latin typeface="Calibri" pitchFamily="34" charset="0"/>
                <a:ea typeface="Calibri" pitchFamily="34" charset="-122"/>
                <a:cs typeface="Calibri" pitchFamily="34" charset="-120"/>
              </a:rPr>
              <a:t>Every generated test artefact versioned in the AMLAS evidence store</a:t>
            </a:r>
            <a:endParaRPr lang="en-US" sz="1100" dirty="0"/>
          </a:p>
        </p:txBody>
      </p:sp>
      <p:sp>
        <p:nvSpPr>
          <p:cNvPr id="19" name="Shape 17"/>
          <p:cNvSpPr/>
          <p:nvPr/>
        </p:nvSpPr>
        <p:spPr>
          <a:xfrm>
            <a:off x="548640" y="6126480"/>
            <a:ext cx="11155680" cy="411480"/>
          </a:xfrm>
          <a:prstGeom prst="rect">
            <a:avLst/>
          </a:prstGeom>
          <a:solidFill>
            <a:srgbClr val="0D9488"/>
          </a:solidFill>
          <a:ln/>
        </p:spPr>
        <p:txBody>
          <a:bodyPr/>
          <a:lstStyle/>
          <a:p>
            <a:endParaRPr lang="en-US"/>
          </a:p>
        </p:txBody>
      </p:sp>
      <p:sp>
        <p:nvSpPr>
          <p:cNvPr id="20" name="Text 18"/>
          <p:cNvSpPr/>
          <p:nvPr/>
        </p:nvSpPr>
        <p:spPr>
          <a:xfrm>
            <a:off x="731520" y="6126480"/>
            <a:ext cx="10972800" cy="411480"/>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Tooling fits: OpenRequirements DeFOSPAM   |   Specification-by-Example   |   Test design technique library (106 methods)</a:t>
            </a:r>
            <a:endParaRPr lang="en-US" sz="1200" dirty="0"/>
          </a:p>
        </p:txBody>
      </p:sp>
      <p:sp>
        <p:nvSpPr>
          <p:cNvPr id="21" name="Shape 19"/>
          <p:cNvSpPr/>
          <p:nvPr/>
        </p:nvSpPr>
        <p:spPr>
          <a:xfrm>
            <a:off x="0" y="6537960"/>
            <a:ext cx="12191695" cy="320040"/>
          </a:xfrm>
          <a:prstGeom prst="rect">
            <a:avLst/>
          </a:prstGeom>
          <a:solidFill>
            <a:srgbClr val="0B1F3A"/>
          </a:solidFill>
          <a:ln/>
        </p:spPr>
        <p:txBody>
          <a:bodyPr/>
          <a:lstStyle/>
          <a:p>
            <a:endParaRPr lang="en-US"/>
          </a:p>
        </p:txBody>
      </p:sp>
      <p:sp>
        <p:nvSpPr>
          <p:cNvPr id="22" name="Text 20"/>
          <p:cNvSpPr/>
          <p:nvPr/>
        </p:nvSpPr>
        <p:spPr>
          <a:xfrm>
            <a:off x="365760" y="6547104"/>
            <a:ext cx="8229600" cy="301752"/>
          </a:xfrm>
          <a:prstGeom prst="rect">
            <a:avLst/>
          </a:prstGeom>
          <a:noFill/>
          <a:ln/>
        </p:spPr>
        <p:txBody>
          <a:bodyPr wrap="square" lIns="0" tIns="0" rIns="0" bIns="0" rtlCol="0" anchor="ctr"/>
          <a:lstStyle/>
          <a:p>
            <a:pPr marL="0" indent="0">
              <a:buNone/>
            </a:pPr>
            <a:r>
              <a:rPr lang="en-US" sz="900" dirty="0">
                <a:solidFill>
                  <a:srgbClr val="F4F1EC"/>
                </a:solidFill>
                <a:latin typeface="Calibri" pitchFamily="34" charset="0"/>
                <a:ea typeface="Calibri" pitchFamily="34" charset="-122"/>
                <a:cs typeface="Calibri" pitchFamily="34" charset="-120"/>
              </a:rPr>
              <a:t>UNCLASSIFIED  |  UK MOD  |  Testing AI with AI  |  April 2026</a:t>
            </a:r>
            <a:endParaRPr lang="en-US" sz="900" dirty="0"/>
          </a:p>
        </p:txBody>
      </p:sp>
      <p:sp>
        <p:nvSpPr>
          <p:cNvPr id="23" name="Text 21"/>
          <p:cNvSpPr/>
          <p:nvPr/>
        </p:nvSpPr>
        <p:spPr>
          <a:xfrm>
            <a:off x="11094415" y="6547104"/>
            <a:ext cx="731520" cy="301752"/>
          </a:xfrm>
          <a:prstGeom prst="rect">
            <a:avLst/>
          </a:prstGeom>
          <a:noFill/>
          <a:ln/>
        </p:spPr>
        <p:txBody>
          <a:bodyPr wrap="square" lIns="0" tIns="0" rIns="0" bIns="0" rtlCol="0" anchor="ctr"/>
          <a:lstStyle/>
          <a:p>
            <a:pPr marL="0" indent="0" algn="r">
              <a:buNone/>
            </a:pPr>
            <a:r>
              <a:rPr lang="en-US" sz="900" dirty="0">
                <a:solidFill>
                  <a:srgbClr val="F4F1EC"/>
                </a:solidFill>
                <a:latin typeface="Calibri" pitchFamily="34" charset="0"/>
                <a:ea typeface="Calibri" pitchFamily="34" charset="-122"/>
                <a:cs typeface="Calibri" pitchFamily="34" charset="-120"/>
              </a:rPr>
              <a:t>5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D9488"/>
          </a:solidFill>
          <a:ln/>
        </p:spPr>
        <p:txBody>
          <a:bodyPr/>
          <a:lstStyle/>
          <a:p>
            <a:endParaRPr lang="en-US"/>
          </a:p>
        </p:txBody>
      </p:sp>
      <p:sp>
        <p:nvSpPr>
          <p:cNvPr id="3" name="Text 1"/>
          <p:cNvSpPr/>
          <p:nvPr/>
        </p:nvSpPr>
        <p:spPr>
          <a:xfrm>
            <a:off x="548640" y="320040"/>
            <a:ext cx="10972800" cy="320040"/>
          </a:xfrm>
          <a:prstGeom prst="rect">
            <a:avLst/>
          </a:prstGeom>
          <a:noFill/>
          <a:ln/>
        </p:spPr>
        <p:txBody>
          <a:bodyPr wrap="square" lIns="0" tIns="0" rIns="0" bIns="0" rtlCol="0" anchor="ctr"/>
          <a:lstStyle/>
          <a:p>
            <a:pPr marL="0" indent="0">
              <a:buNone/>
            </a:pPr>
            <a:r>
              <a:rPr lang="en-US" sz="1100" b="1" kern="0" spc="600" dirty="0">
                <a:solidFill>
                  <a:srgbClr val="0D9488"/>
                </a:solidFill>
                <a:latin typeface="Calibri" pitchFamily="34" charset="0"/>
                <a:ea typeface="Calibri" pitchFamily="34" charset="-122"/>
                <a:cs typeface="Calibri" pitchFamily="34" charset="-120"/>
              </a:rPr>
              <a:t>RECOMMENDATION 02</a:t>
            </a:r>
            <a:endParaRPr lang="en-US" sz="1100" dirty="0"/>
          </a:p>
        </p:txBody>
      </p:sp>
      <p:sp>
        <p:nvSpPr>
          <p:cNvPr id="4" name="Text 2"/>
          <p:cNvSpPr/>
          <p:nvPr/>
        </p:nvSpPr>
        <p:spPr>
          <a:xfrm>
            <a:off x="548640" y="640080"/>
            <a:ext cx="11155680" cy="777240"/>
          </a:xfrm>
          <a:prstGeom prst="rect">
            <a:avLst/>
          </a:prstGeom>
          <a:noFill/>
          <a:ln/>
        </p:spPr>
        <p:txBody>
          <a:bodyPr wrap="square" lIns="0" tIns="0" rIns="0" bIns="0" rtlCol="0" anchor="ctr"/>
          <a:lstStyle/>
          <a:p>
            <a:pPr marL="0" indent="0">
              <a:buNone/>
            </a:pPr>
            <a:r>
              <a:rPr lang="en-US" sz="3000" b="1" dirty="0">
                <a:solidFill>
                  <a:srgbClr val="0B1F3A"/>
                </a:solidFill>
                <a:latin typeface="Georgia" pitchFamily="34" charset="0"/>
                <a:ea typeface="Georgia" pitchFamily="34" charset="-122"/>
                <a:cs typeface="Georgia" pitchFamily="34" charset="-120"/>
              </a:rPr>
              <a:t>Synthetic data &amp; simulated worlds for coverage</a:t>
            </a:r>
            <a:endParaRPr lang="en-US" sz="3000" dirty="0"/>
          </a:p>
        </p:txBody>
      </p:sp>
      <p:sp>
        <p:nvSpPr>
          <p:cNvPr id="5" name="Shape 3"/>
          <p:cNvSpPr/>
          <p:nvPr/>
        </p:nvSpPr>
        <p:spPr>
          <a:xfrm>
            <a:off x="548640" y="1508760"/>
            <a:ext cx="822960" cy="36576"/>
          </a:xfrm>
          <a:prstGeom prst="rect">
            <a:avLst/>
          </a:prstGeom>
          <a:solidFill>
            <a:srgbClr val="0D9488"/>
          </a:solidFill>
          <a:ln/>
        </p:spPr>
        <p:txBody>
          <a:bodyPr/>
          <a:lstStyle/>
          <a:p>
            <a:endParaRPr lang="en-US"/>
          </a:p>
        </p:txBody>
      </p:sp>
      <p:sp>
        <p:nvSpPr>
          <p:cNvPr id="6" name="Text 4"/>
          <p:cNvSpPr/>
          <p:nvPr/>
        </p:nvSpPr>
        <p:spPr>
          <a:xfrm>
            <a:off x="548640" y="1828800"/>
            <a:ext cx="5943600" cy="1737360"/>
          </a:xfrm>
          <a:prstGeom prst="rect">
            <a:avLst/>
          </a:prstGeom>
          <a:noFill/>
          <a:ln/>
        </p:spPr>
        <p:txBody>
          <a:bodyPr wrap="square" lIns="0" tIns="0" rIns="0" bIns="0" rtlCol="0" anchor="t"/>
          <a:lstStyle/>
          <a:p>
            <a:pPr marL="0" indent="0">
              <a:buNone/>
            </a:pPr>
            <a:r>
              <a:rPr lang="en-US" sz="1300" dirty="0">
                <a:solidFill>
                  <a:srgbClr val="0B1F3A"/>
                </a:solidFill>
                <a:latin typeface="Calibri" pitchFamily="34" charset="0"/>
                <a:ea typeface="Calibri" pitchFamily="34" charset="-122"/>
                <a:cs typeface="Calibri" pitchFamily="34" charset="-120"/>
              </a:rPr>
              <a:t>Defence rare events — IM anomalies, swarm adversaries, XLUUV mine encounters, sensor degradation — are by definition under-represented in collected data. Generative models and physics-accurate digital twins manufacture unlimited, labelled, safety-critical test scenarios, closing the long tail of risk that empirical data cannot reach.</a:t>
            </a:r>
            <a:endParaRPr lang="en-US" sz="1300" dirty="0"/>
          </a:p>
        </p:txBody>
      </p:sp>
      <p:sp>
        <p:nvSpPr>
          <p:cNvPr id="7" name="Shape 5"/>
          <p:cNvSpPr/>
          <p:nvPr/>
        </p:nvSpPr>
        <p:spPr>
          <a:xfrm>
            <a:off x="548640" y="3703320"/>
            <a:ext cx="1417320" cy="2331720"/>
          </a:xfrm>
          <a:prstGeom prst="rect">
            <a:avLst/>
          </a:prstGeom>
          <a:solidFill>
            <a:srgbClr val="FFFFFF"/>
          </a:solidFill>
          <a:ln w="6350">
            <a:solidFill>
              <a:srgbClr val="E5E5E5"/>
            </a:solidFill>
            <a:prstDash val="solid"/>
          </a:ln>
        </p:spPr>
        <p:txBody>
          <a:bodyPr/>
          <a:lstStyle/>
          <a:p>
            <a:endParaRPr lang="en-US"/>
          </a:p>
        </p:txBody>
      </p:sp>
      <p:sp>
        <p:nvSpPr>
          <p:cNvPr id="8" name="Shape 6"/>
          <p:cNvSpPr/>
          <p:nvPr/>
        </p:nvSpPr>
        <p:spPr>
          <a:xfrm>
            <a:off x="548640" y="3703320"/>
            <a:ext cx="1417320" cy="73152"/>
          </a:xfrm>
          <a:prstGeom prst="rect">
            <a:avLst/>
          </a:prstGeom>
          <a:solidFill>
            <a:srgbClr val="0D9488"/>
          </a:solidFill>
          <a:ln/>
        </p:spPr>
        <p:txBody>
          <a:bodyPr/>
          <a:lstStyle/>
          <a:p>
            <a:endParaRPr lang="en-US"/>
          </a:p>
        </p:txBody>
      </p:sp>
      <p:sp>
        <p:nvSpPr>
          <p:cNvPr id="9" name="Text 7"/>
          <p:cNvSpPr/>
          <p:nvPr/>
        </p:nvSpPr>
        <p:spPr>
          <a:xfrm>
            <a:off x="658368" y="3867912"/>
            <a:ext cx="1197864" cy="685800"/>
          </a:xfrm>
          <a:prstGeom prst="rect">
            <a:avLst/>
          </a:prstGeom>
          <a:noFill/>
          <a:ln/>
        </p:spPr>
        <p:txBody>
          <a:bodyPr wrap="square" lIns="0" tIns="0" rIns="0" bIns="0" rtlCol="0" anchor="t"/>
          <a:lstStyle/>
          <a:p>
            <a:pPr marL="0" indent="0">
              <a:buNone/>
            </a:pPr>
            <a:r>
              <a:rPr lang="en-US" sz="1100" b="1" dirty="0">
                <a:solidFill>
                  <a:srgbClr val="0B1F3A"/>
                </a:solidFill>
                <a:latin typeface="Georgia" pitchFamily="34" charset="0"/>
                <a:ea typeface="Georgia" pitchFamily="34" charset="-122"/>
                <a:cs typeface="Georgia" pitchFamily="34" charset="-120"/>
              </a:rPr>
              <a:t>GAN / diffusion</a:t>
            </a:r>
            <a:endParaRPr lang="en-US" sz="1100" dirty="0"/>
          </a:p>
        </p:txBody>
      </p:sp>
      <p:sp>
        <p:nvSpPr>
          <p:cNvPr id="10" name="Text 8"/>
          <p:cNvSpPr/>
          <p:nvPr/>
        </p:nvSpPr>
        <p:spPr>
          <a:xfrm>
            <a:off x="658368" y="4572000"/>
            <a:ext cx="1197864" cy="1325880"/>
          </a:xfrm>
          <a:prstGeom prst="rect">
            <a:avLst/>
          </a:prstGeom>
          <a:noFill/>
          <a:ln/>
        </p:spPr>
        <p:txBody>
          <a:bodyPr wrap="square" lIns="0" tIns="0" rIns="0" bIns="0" rtlCol="0" anchor="t"/>
          <a:lstStyle/>
          <a:p>
            <a:pPr marL="0" indent="0">
              <a:spcAft>
                <a:spcPts val="300"/>
              </a:spcAft>
              <a:buNone/>
            </a:pPr>
            <a:r>
              <a:rPr lang="en-US" sz="1000" dirty="0">
                <a:solidFill>
                  <a:srgbClr val="5B6A82"/>
                </a:solidFill>
                <a:latin typeface="Calibri" pitchFamily="34" charset="0"/>
                <a:ea typeface="Calibri" pitchFamily="34" charset="-122"/>
                <a:cs typeface="Calibri" pitchFamily="34" charset="-120"/>
              </a:rPr>
              <a:t>Edge-case images, radar returns, acoustic signatures for training and test.</a:t>
            </a:r>
            <a:endParaRPr lang="en-US" sz="1000" dirty="0"/>
          </a:p>
        </p:txBody>
      </p:sp>
      <p:sp>
        <p:nvSpPr>
          <p:cNvPr id="11" name="Shape 9"/>
          <p:cNvSpPr/>
          <p:nvPr/>
        </p:nvSpPr>
        <p:spPr>
          <a:xfrm>
            <a:off x="2057400" y="3703320"/>
            <a:ext cx="1417320" cy="2331720"/>
          </a:xfrm>
          <a:prstGeom prst="rect">
            <a:avLst/>
          </a:prstGeom>
          <a:solidFill>
            <a:srgbClr val="FFFFFF"/>
          </a:solidFill>
          <a:ln w="6350">
            <a:solidFill>
              <a:srgbClr val="E5E5E5"/>
            </a:solidFill>
            <a:prstDash val="solid"/>
          </a:ln>
        </p:spPr>
        <p:txBody>
          <a:bodyPr/>
          <a:lstStyle/>
          <a:p>
            <a:endParaRPr lang="en-US"/>
          </a:p>
        </p:txBody>
      </p:sp>
      <p:sp>
        <p:nvSpPr>
          <p:cNvPr id="12" name="Shape 10"/>
          <p:cNvSpPr/>
          <p:nvPr/>
        </p:nvSpPr>
        <p:spPr>
          <a:xfrm>
            <a:off x="2057400" y="3703320"/>
            <a:ext cx="1417320" cy="73152"/>
          </a:xfrm>
          <a:prstGeom prst="rect">
            <a:avLst/>
          </a:prstGeom>
          <a:solidFill>
            <a:srgbClr val="0D9488"/>
          </a:solidFill>
          <a:ln/>
        </p:spPr>
        <p:txBody>
          <a:bodyPr/>
          <a:lstStyle/>
          <a:p>
            <a:endParaRPr lang="en-US"/>
          </a:p>
        </p:txBody>
      </p:sp>
      <p:sp>
        <p:nvSpPr>
          <p:cNvPr id="13" name="Text 11"/>
          <p:cNvSpPr/>
          <p:nvPr/>
        </p:nvSpPr>
        <p:spPr>
          <a:xfrm>
            <a:off x="2167128" y="3867912"/>
            <a:ext cx="1197864" cy="685800"/>
          </a:xfrm>
          <a:prstGeom prst="rect">
            <a:avLst/>
          </a:prstGeom>
          <a:noFill/>
          <a:ln/>
        </p:spPr>
        <p:txBody>
          <a:bodyPr wrap="square" lIns="0" tIns="0" rIns="0" bIns="0" rtlCol="0" anchor="t"/>
          <a:lstStyle/>
          <a:p>
            <a:pPr marL="0" indent="0">
              <a:buNone/>
            </a:pPr>
            <a:r>
              <a:rPr lang="en-US" sz="1100" b="1" dirty="0">
                <a:solidFill>
                  <a:srgbClr val="0B1F3A"/>
                </a:solidFill>
                <a:latin typeface="Georgia" pitchFamily="34" charset="0"/>
                <a:ea typeface="Georgia" pitchFamily="34" charset="-122"/>
                <a:cs typeface="Georgia" pitchFamily="34" charset="-120"/>
              </a:rPr>
              <a:t>Digital twins</a:t>
            </a:r>
            <a:endParaRPr lang="en-US" sz="1100" dirty="0"/>
          </a:p>
        </p:txBody>
      </p:sp>
      <p:sp>
        <p:nvSpPr>
          <p:cNvPr id="14" name="Text 12"/>
          <p:cNvSpPr/>
          <p:nvPr/>
        </p:nvSpPr>
        <p:spPr>
          <a:xfrm>
            <a:off x="2167128" y="4572000"/>
            <a:ext cx="1197864" cy="1325880"/>
          </a:xfrm>
          <a:prstGeom prst="rect">
            <a:avLst/>
          </a:prstGeom>
          <a:noFill/>
          <a:ln/>
        </p:spPr>
        <p:txBody>
          <a:bodyPr wrap="square" lIns="0" tIns="0" rIns="0" bIns="0" rtlCol="0" anchor="t"/>
          <a:lstStyle/>
          <a:p>
            <a:pPr marL="0" indent="0">
              <a:spcAft>
                <a:spcPts val="300"/>
              </a:spcAft>
              <a:buNone/>
            </a:pPr>
            <a:r>
              <a:rPr lang="en-US" sz="1000" dirty="0">
                <a:solidFill>
                  <a:srgbClr val="5B6A82"/>
                </a:solidFill>
                <a:latin typeface="Calibri" pitchFamily="34" charset="0"/>
                <a:ea typeface="Calibri" pitchFamily="34" charset="-122"/>
                <a:cs typeface="Calibri" pitchFamily="34" charset="-120"/>
              </a:rPr>
              <a:t>Physics-fidelity Isaac Sim, AirSim, VBS4 under AMLAS evidence requirements.</a:t>
            </a:r>
            <a:endParaRPr lang="en-US" sz="1000" dirty="0"/>
          </a:p>
        </p:txBody>
      </p:sp>
      <p:sp>
        <p:nvSpPr>
          <p:cNvPr id="15" name="Shape 13"/>
          <p:cNvSpPr/>
          <p:nvPr/>
        </p:nvSpPr>
        <p:spPr>
          <a:xfrm>
            <a:off x="3566160" y="3703320"/>
            <a:ext cx="1417320" cy="2331720"/>
          </a:xfrm>
          <a:prstGeom prst="rect">
            <a:avLst/>
          </a:prstGeom>
          <a:solidFill>
            <a:srgbClr val="FFFFFF"/>
          </a:solidFill>
          <a:ln w="6350">
            <a:solidFill>
              <a:srgbClr val="E5E5E5"/>
            </a:solidFill>
            <a:prstDash val="solid"/>
          </a:ln>
        </p:spPr>
        <p:txBody>
          <a:bodyPr/>
          <a:lstStyle/>
          <a:p>
            <a:endParaRPr lang="en-US"/>
          </a:p>
        </p:txBody>
      </p:sp>
      <p:sp>
        <p:nvSpPr>
          <p:cNvPr id="16" name="Shape 14"/>
          <p:cNvSpPr/>
          <p:nvPr/>
        </p:nvSpPr>
        <p:spPr>
          <a:xfrm>
            <a:off x="3566160" y="3703320"/>
            <a:ext cx="1417320" cy="73152"/>
          </a:xfrm>
          <a:prstGeom prst="rect">
            <a:avLst/>
          </a:prstGeom>
          <a:solidFill>
            <a:srgbClr val="0D9488"/>
          </a:solidFill>
          <a:ln/>
        </p:spPr>
        <p:txBody>
          <a:bodyPr/>
          <a:lstStyle/>
          <a:p>
            <a:endParaRPr lang="en-US"/>
          </a:p>
        </p:txBody>
      </p:sp>
      <p:sp>
        <p:nvSpPr>
          <p:cNvPr id="17" name="Text 15"/>
          <p:cNvSpPr/>
          <p:nvPr/>
        </p:nvSpPr>
        <p:spPr>
          <a:xfrm>
            <a:off x="3675888" y="3867912"/>
            <a:ext cx="1197864" cy="685800"/>
          </a:xfrm>
          <a:prstGeom prst="rect">
            <a:avLst/>
          </a:prstGeom>
          <a:noFill/>
          <a:ln/>
        </p:spPr>
        <p:txBody>
          <a:bodyPr wrap="square" lIns="0" tIns="0" rIns="0" bIns="0" rtlCol="0" anchor="t"/>
          <a:lstStyle/>
          <a:p>
            <a:pPr marL="0" indent="0">
              <a:buNone/>
            </a:pPr>
            <a:r>
              <a:rPr lang="en-US" sz="1100" b="1" dirty="0">
                <a:solidFill>
                  <a:srgbClr val="0B1F3A"/>
                </a:solidFill>
                <a:latin typeface="Georgia" pitchFamily="34" charset="0"/>
                <a:ea typeface="Georgia" pitchFamily="34" charset="-122"/>
                <a:cs typeface="Georgia" pitchFamily="34" charset="-120"/>
              </a:rPr>
              <a:t>Domain randomisation</a:t>
            </a:r>
            <a:endParaRPr lang="en-US" sz="1100" dirty="0"/>
          </a:p>
        </p:txBody>
      </p:sp>
      <p:sp>
        <p:nvSpPr>
          <p:cNvPr id="18" name="Text 16"/>
          <p:cNvSpPr/>
          <p:nvPr/>
        </p:nvSpPr>
        <p:spPr>
          <a:xfrm>
            <a:off x="3675888" y="4572000"/>
            <a:ext cx="1197864" cy="1325880"/>
          </a:xfrm>
          <a:prstGeom prst="rect">
            <a:avLst/>
          </a:prstGeom>
          <a:noFill/>
          <a:ln/>
        </p:spPr>
        <p:txBody>
          <a:bodyPr wrap="square" lIns="0" tIns="0" rIns="0" bIns="0" rtlCol="0" anchor="t"/>
          <a:lstStyle/>
          <a:p>
            <a:pPr marL="0" indent="0">
              <a:spcAft>
                <a:spcPts val="300"/>
              </a:spcAft>
              <a:buNone/>
            </a:pPr>
            <a:r>
              <a:rPr lang="en-US" sz="1000" dirty="0">
                <a:solidFill>
                  <a:srgbClr val="5B6A82"/>
                </a:solidFill>
                <a:latin typeface="Calibri" pitchFamily="34" charset="0"/>
                <a:ea typeface="Calibri" pitchFamily="34" charset="-122"/>
                <a:cs typeface="Calibri" pitchFamily="34" charset="-120"/>
              </a:rPr>
              <a:t>Sim-to-real robustness: vary lighting, textures, physics, adversary behaviour.</a:t>
            </a:r>
            <a:endParaRPr lang="en-US" sz="1000" dirty="0"/>
          </a:p>
        </p:txBody>
      </p:sp>
      <p:sp>
        <p:nvSpPr>
          <p:cNvPr id="19" name="Shape 17"/>
          <p:cNvSpPr/>
          <p:nvPr/>
        </p:nvSpPr>
        <p:spPr>
          <a:xfrm>
            <a:off x="5074920" y="3703320"/>
            <a:ext cx="1417320" cy="2331720"/>
          </a:xfrm>
          <a:prstGeom prst="rect">
            <a:avLst/>
          </a:prstGeom>
          <a:solidFill>
            <a:srgbClr val="FFFFFF"/>
          </a:solidFill>
          <a:ln w="6350">
            <a:solidFill>
              <a:srgbClr val="E5E5E5"/>
            </a:solidFill>
            <a:prstDash val="solid"/>
          </a:ln>
        </p:spPr>
        <p:txBody>
          <a:bodyPr/>
          <a:lstStyle/>
          <a:p>
            <a:endParaRPr lang="en-US"/>
          </a:p>
        </p:txBody>
      </p:sp>
      <p:sp>
        <p:nvSpPr>
          <p:cNvPr id="20" name="Shape 18"/>
          <p:cNvSpPr/>
          <p:nvPr/>
        </p:nvSpPr>
        <p:spPr>
          <a:xfrm>
            <a:off x="5074920" y="3703320"/>
            <a:ext cx="1417320" cy="73152"/>
          </a:xfrm>
          <a:prstGeom prst="rect">
            <a:avLst/>
          </a:prstGeom>
          <a:solidFill>
            <a:srgbClr val="0D9488"/>
          </a:solidFill>
          <a:ln/>
        </p:spPr>
        <p:txBody>
          <a:bodyPr/>
          <a:lstStyle/>
          <a:p>
            <a:endParaRPr lang="en-US"/>
          </a:p>
        </p:txBody>
      </p:sp>
      <p:sp>
        <p:nvSpPr>
          <p:cNvPr id="21" name="Text 19"/>
          <p:cNvSpPr/>
          <p:nvPr/>
        </p:nvSpPr>
        <p:spPr>
          <a:xfrm>
            <a:off x="5184648" y="3867912"/>
            <a:ext cx="1197864" cy="685800"/>
          </a:xfrm>
          <a:prstGeom prst="rect">
            <a:avLst/>
          </a:prstGeom>
          <a:noFill/>
          <a:ln/>
        </p:spPr>
        <p:txBody>
          <a:bodyPr wrap="square" lIns="0" tIns="0" rIns="0" bIns="0" rtlCol="0" anchor="t"/>
          <a:lstStyle/>
          <a:p>
            <a:pPr marL="0" indent="0">
              <a:buNone/>
            </a:pPr>
            <a:r>
              <a:rPr lang="en-US" sz="1100" b="1" dirty="0">
                <a:solidFill>
                  <a:srgbClr val="0B1F3A"/>
                </a:solidFill>
                <a:latin typeface="Georgia" pitchFamily="34" charset="0"/>
                <a:ea typeface="Georgia" pitchFamily="34" charset="-122"/>
                <a:cs typeface="Georgia" pitchFamily="34" charset="-120"/>
              </a:rPr>
              <a:t>Scenario DSLs</a:t>
            </a:r>
            <a:endParaRPr lang="en-US" sz="1100" dirty="0"/>
          </a:p>
        </p:txBody>
      </p:sp>
      <p:sp>
        <p:nvSpPr>
          <p:cNvPr id="22" name="Text 20"/>
          <p:cNvSpPr/>
          <p:nvPr/>
        </p:nvSpPr>
        <p:spPr>
          <a:xfrm>
            <a:off x="5184648" y="4572000"/>
            <a:ext cx="1197864" cy="1325880"/>
          </a:xfrm>
          <a:prstGeom prst="rect">
            <a:avLst/>
          </a:prstGeom>
          <a:noFill/>
          <a:ln/>
        </p:spPr>
        <p:txBody>
          <a:bodyPr wrap="square" lIns="0" tIns="0" rIns="0" bIns="0" rtlCol="0" anchor="t"/>
          <a:lstStyle/>
          <a:p>
            <a:pPr marL="0" indent="0">
              <a:spcAft>
                <a:spcPts val="300"/>
              </a:spcAft>
              <a:buNone/>
            </a:pPr>
            <a:r>
              <a:rPr lang="en-US" sz="1000" dirty="0">
                <a:solidFill>
                  <a:srgbClr val="5B6A82"/>
                </a:solidFill>
                <a:latin typeface="Calibri" pitchFamily="34" charset="0"/>
                <a:ea typeface="Calibri" pitchFamily="34" charset="-122"/>
                <a:cs typeface="Calibri" pitchFamily="34" charset="-120"/>
              </a:rPr>
              <a:t>OpenSCENARIO, Scenic — programmable adversary and environment scripts.</a:t>
            </a:r>
            <a:endParaRPr lang="en-US" sz="1000" dirty="0"/>
          </a:p>
        </p:txBody>
      </p:sp>
      <p:sp>
        <p:nvSpPr>
          <p:cNvPr id="23" name="Text 21"/>
          <p:cNvSpPr/>
          <p:nvPr/>
        </p:nvSpPr>
        <p:spPr>
          <a:xfrm>
            <a:off x="6858000" y="1783080"/>
            <a:ext cx="4846320" cy="411480"/>
          </a:xfrm>
          <a:prstGeom prst="rect">
            <a:avLst/>
          </a:prstGeom>
          <a:noFill/>
          <a:ln/>
        </p:spPr>
        <p:txBody>
          <a:bodyPr wrap="square" lIns="0" tIns="0" rIns="0" bIns="0" rtlCol="0" anchor="ctr"/>
          <a:lstStyle/>
          <a:p>
            <a:pPr marL="0" indent="0">
              <a:buNone/>
            </a:pPr>
            <a:r>
              <a:rPr lang="en-US" sz="1400" b="1" dirty="0">
                <a:solidFill>
                  <a:srgbClr val="0B1F3A"/>
                </a:solidFill>
                <a:latin typeface="Georgia" pitchFamily="34" charset="0"/>
                <a:ea typeface="Georgia" pitchFamily="34" charset="-122"/>
                <a:cs typeface="Georgia" pitchFamily="34" charset="-120"/>
              </a:rPr>
              <a:t>Scenario coverage: real vs. synthetic</a:t>
            </a:r>
            <a:endParaRPr lang="en-US" sz="1400" dirty="0"/>
          </a:p>
        </p:txBody>
      </p:sp>
      <p:graphicFrame>
        <p:nvGraphicFramePr>
          <p:cNvPr id="24" name="Chart 0"/>
          <p:cNvGraphicFramePr/>
          <p:nvPr/>
        </p:nvGraphicFramePr>
        <p:xfrm>
          <a:off x="6858000" y="2240280"/>
          <a:ext cx="484632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25" name="Shape 22"/>
          <p:cNvSpPr/>
          <p:nvPr/>
        </p:nvSpPr>
        <p:spPr>
          <a:xfrm>
            <a:off x="6858000" y="5394960"/>
            <a:ext cx="4846320" cy="914400"/>
          </a:xfrm>
          <a:prstGeom prst="rect">
            <a:avLst/>
          </a:prstGeom>
          <a:solidFill>
            <a:srgbClr val="0B1F3A"/>
          </a:solidFill>
          <a:ln/>
        </p:spPr>
        <p:txBody>
          <a:bodyPr/>
          <a:lstStyle/>
          <a:p>
            <a:endParaRPr lang="en-US"/>
          </a:p>
        </p:txBody>
      </p:sp>
      <p:sp>
        <p:nvSpPr>
          <p:cNvPr id="26" name="Text 23"/>
          <p:cNvSpPr/>
          <p:nvPr/>
        </p:nvSpPr>
        <p:spPr>
          <a:xfrm>
            <a:off x="7040880" y="5440680"/>
            <a:ext cx="4663440" cy="822960"/>
          </a:xfrm>
          <a:prstGeom prst="rect">
            <a:avLst/>
          </a:prstGeom>
          <a:noFill/>
          <a:ln/>
        </p:spPr>
        <p:txBody>
          <a:bodyPr wrap="square" lIns="0" tIns="0" rIns="0" bIns="0" rtlCol="0" anchor="ctr"/>
          <a:lstStyle/>
          <a:p>
            <a:pPr marL="0" indent="0">
              <a:buNone/>
            </a:pPr>
            <a:r>
              <a:rPr lang="en-US" sz="1100" i="1" dirty="0">
                <a:solidFill>
                  <a:srgbClr val="5EEAD4"/>
                </a:solidFill>
                <a:latin typeface="Calibri" pitchFamily="34" charset="0"/>
                <a:ea typeface="Calibri" pitchFamily="34" charset="-122"/>
                <a:cs typeface="Calibri" pitchFamily="34" charset="-120"/>
              </a:rPr>
              <a:t>Indicative coverage gains — % of declared test objectives satisfiable with and without synthetic data</a:t>
            </a:r>
            <a:endParaRPr lang="en-US" sz="1100" dirty="0"/>
          </a:p>
        </p:txBody>
      </p:sp>
      <p:sp>
        <p:nvSpPr>
          <p:cNvPr id="27" name="Shape 24"/>
          <p:cNvSpPr/>
          <p:nvPr/>
        </p:nvSpPr>
        <p:spPr>
          <a:xfrm>
            <a:off x="548640" y="6126480"/>
            <a:ext cx="6126480" cy="411480"/>
          </a:xfrm>
          <a:prstGeom prst="rect">
            <a:avLst/>
          </a:prstGeom>
          <a:solidFill>
            <a:srgbClr val="0D9488"/>
          </a:solidFill>
          <a:ln/>
        </p:spPr>
        <p:txBody>
          <a:bodyPr/>
          <a:lstStyle/>
          <a:p>
            <a:endParaRPr lang="en-US"/>
          </a:p>
        </p:txBody>
      </p:sp>
      <p:sp>
        <p:nvSpPr>
          <p:cNvPr id="28" name="Text 25"/>
          <p:cNvSpPr/>
          <p:nvPr/>
        </p:nvSpPr>
        <p:spPr>
          <a:xfrm>
            <a:off x="731520" y="6126480"/>
            <a:ext cx="5943600" cy="41148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Timeline: 1–3 yrs   |   Partners: Dstl, DAIC, QinetiQ, Cranfield, NavyX</a:t>
            </a:r>
            <a:endParaRPr lang="en-US" sz="1100" dirty="0"/>
          </a:p>
        </p:txBody>
      </p:sp>
      <p:sp>
        <p:nvSpPr>
          <p:cNvPr id="29" name="Shape 26"/>
          <p:cNvSpPr/>
          <p:nvPr/>
        </p:nvSpPr>
        <p:spPr>
          <a:xfrm>
            <a:off x="0" y="6537960"/>
            <a:ext cx="12191695" cy="320040"/>
          </a:xfrm>
          <a:prstGeom prst="rect">
            <a:avLst/>
          </a:prstGeom>
          <a:solidFill>
            <a:srgbClr val="0B1F3A"/>
          </a:solidFill>
          <a:ln/>
        </p:spPr>
        <p:txBody>
          <a:bodyPr/>
          <a:lstStyle/>
          <a:p>
            <a:endParaRPr lang="en-US"/>
          </a:p>
        </p:txBody>
      </p:sp>
      <p:sp>
        <p:nvSpPr>
          <p:cNvPr id="30" name="Text 27"/>
          <p:cNvSpPr/>
          <p:nvPr/>
        </p:nvSpPr>
        <p:spPr>
          <a:xfrm>
            <a:off x="365760" y="6547104"/>
            <a:ext cx="8229600" cy="301752"/>
          </a:xfrm>
          <a:prstGeom prst="rect">
            <a:avLst/>
          </a:prstGeom>
          <a:noFill/>
          <a:ln/>
        </p:spPr>
        <p:txBody>
          <a:bodyPr wrap="square" lIns="0" tIns="0" rIns="0" bIns="0" rtlCol="0" anchor="ctr"/>
          <a:lstStyle/>
          <a:p>
            <a:pPr marL="0" indent="0">
              <a:buNone/>
            </a:pPr>
            <a:r>
              <a:rPr lang="en-US" sz="900" dirty="0">
                <a:solidFill>
                  <a:srgbClr val="F4F1EC"/>
                </a:solidFill>
                <a:latin typeface="Calibri" pitchFamily="34" charset="0"/>
                <a:ea typeface="Calibri" pitchFamily="34" charset="-122"/>
                <a:cs typeface="Calibri" pitchFamily="34" charset="-120"/>
              </a:rPr>
              <a:t>UNCLASSIFIED  |  UK MOD  |  Testing AI with AI  |  April 2026</a:t>
            </a:r>
            <a:endParaRPr lang="en-US" sz="900" dirty="0"/>
          </a:p>
        </p:txBody>
      </p:sp>
      <p:sp>
        <p:nvSpPr>
          <p:cNvPr id="31" name="Text 28"/>
          <p:cNvSpPr/>
          <p:nvPr/>
        </p:nvSpPr>
        <p:spPr>
          <a:xfrm>
            <a:off x="11094415" y="6547104"/>
            <a:ext cx="731520" cy="301752"/>
          </a:xfrm>
          <a:prstGeom prst="rect">
            <a:avLst/>
          </a:prstGeom>
          <a:noFill/>
          <a:ln/>
        </p:spPr>
        <p:txBody>
          <a:bodyPr wrap="square" lIns="0" tIns="0" rIns="0" bIns="0" rtlCol="0" anchor="ctr"/>
          <a:lstStyle/>
          <a:p>
            <a:pPr marL="0" indent="0" algn="r">
              <a:buNone/>
            </a:pPr>
            <a:r>
              <a:rPr lang="en-US" sz="900" dirty="0">
                <a:solidFill>
                  <a:srgbClr val="F4F1EC"/>
                </a:solidFill>
                <a:latin typeface="Calibri" pitchFamily="34" charset="0"/>
                <a:ea typeface="Calibri" pitchFamily="34" charset="-122"/>
                <a:cs typeface="Calibri" pitchFamily="34" charset="-120"/>
              </a:rPr>
              <a:t>6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D9488"/>
          </a:solidFill>
          <a:ln/>
        </p:spPr>
        <p:txBody>
          <a:bodyPr/>
          <a:lstStyle/>
          <a:p>
            <a:endParaRPr lang="en-US"/>
          </a:p>
        </p:txBody>
      </p:sp>
      <p:sp>
        <p:nvSpPr>
          <p:cNvPr id="3" name="Text 1"/>
          <p:cNvSpPr/>
          <p:nvPr/>
        </p:nvSpPr>
        <p:spPr>
          <a:xfrm>
            <a:off x="548640" y="320040"/>
            <a:ext cx="10972800" cy="320040"/>
          </a:xfrm>
          <a:prstGeom prst="rect">
            <a:avLst/>
          </a:prstGeom>
          <a:noFill/>
          <a:ln/>
        </p:spPr>
        <p:txBody>
          <a:bodyPr wrap="square" lIns="0" tIns="0" rIns="0" bIns="0" rtlCol="0" anchor="ctr"/>
          <a:lstStyle/>
          <a:p>
            <a:pPr marL="0" indent="0">
              <a:buNone/>
            </a:pPr>
            <a:r>
              <a:rPr lang="en-US" sz="1100" b="1" kern="0" spc="600" dirty="0">
                <a:solidFill>
                  <a:srgbClr val="0D9488"/>
                </a:solidFill>
                <a:latin typeface="Calibri" pitchFamily="34" charset="0"/>
                <a:ea typeface="Calibri" pitchFamily="34" charset="-122"/>
                <a:cs typeface="Calibri" pitchFamily="34" charset="-120"/>
              </a:rPr>
              <a:t>RECOMMENDATION 03</a:t>
            </a:r>
            <a:endParaRPr lang="en-US" sz="1100" dirty="0"/>
          </a:p>
        </p:txBody>
      </p:sp>
      <p:sp>
        <p:nvSpPr>
          <p:cNvPr id="4" name="Text 2"/>
          <p:cNvSpPr/>
          <p:nvPr/>
        </p:nvSpPr>
        <p:spPr>
          <a:xfrm>
            <a:off x="548640" y="640080"/>
            <a:ext cx="11155680" cy="777240"/>
          </a:xfrm>
          <a:prstGeom prst="rect">
            <a:avLst/>
          </a:prstGeom>
          <a:noFill/>
          <a:ln/>
        </p:spPr>
        <p:txBody>
          <a:bodyPr wrap="square" lIns="0" tIns="0" rIns="0" bIns="0" rtlCol="0" anchor="ctr"/>
          <a:lstStyle/>
          <a:p>
            <a:pPr marL="0" indent="0">
              <a:buNone/>
            </a:pPr>
            <a:r>
              <a:rPr lang="en-US" sz="3000" b="1" dirty="0">
                <a:solidFill>
                  <a:srgbClr val="0B1F3A"/>
                </a:solidFill>
                <a:latin typeface="Georgia" pitchFamily="34" charset="0"/>
                <a:ea typeface="Georgia" pitchFamily="34" charset="-122"/>
                <a:cs typeface="Georgia" pitchFamily="34" charset="-120"/>
              </a:rPr>
              <a:t>Automated adversarial testing &amp; AI red-teaming</a:t>
            </a:r>
            <a:endParaRPr lang="en-US" sz="3000" dirty="0"/>
          </a:p>
        </p:txBody>
      </p:sp>
      <p:sp>
        <p:nvSpPr>
          <p:cNvPr id="5" name="Shape 3"/>
          <p:cNvSpPr/>
          <p:nvPr/>
        </p:nvSpPr>
        <p:spPr>
          <a:xfrm>
            <a:off x="548640" y="1508760"/>
            <a:ext cx="822960" cy="36576"/>
          </a:xfrm>
          <a:prstGeom prst="rect">
            <a:avLst/>
          </a:prstGeom>
          <a:solidFill>
            <a:srgbClr val="0D9488"/>
          </a:solidFill>
          <a:ln/>
        </p:spPr>
        <p:txBody>
          <a:bodyPr/>
          <a:lstStyle/>
          <a:p>
            <a:endParaRPr lang="en-US"/>
          </a:p>
        </p:txBody>
      </p:sp>
      <p:sp>
        <p:nvSpPr>
          <p:cNvPr id="6" name="Shape 4"/>
          <p:cNvSpPr/>
          <p:nvPr/>
        </p:nvSpPr>
        <p:spPr>
          <a:xfrm>
            <a:off x="548640" y="1828800"/>
            <a:ext cx="5669280" cy="1965960"/>
          </a:xfrm>
          <a:prstGeom prst="rect">
            <a:avLst/>
          </a:prstGeom>
          <a:solidFill>
            <a:srgbClr val="FFFFFF"/>
          </a:solidFill>
          <a:ln w="6350">
            <a:solidFill>
              <a:srgbClr val="E5E5E5"/>
            </a:solidFill>
            <a:prstDash val="solid"/>
          </a:ln>
          <a:effectLst>
            <a:outerShdw blurRad="101600" dist="25400" dir="5400000" algn="bl" rotWithShape="0">
              <a:srgbClr val="000000">
                <a:alpha val="10000"/>
              </a:srgbClr>
            </a:outerShdw>
          </a:effectLst>
        </p:spPr>
        <p:txBody>
          <a:bodyPr/>
          <a:lstStyle/>
          <a:p>
            <a:endParaRPr lang="en-US"/>
          </a:p>
        </p:txBody>
      </p:sp>
      <p:sp>
        <p:nvSpPr>
          <p:cNvPr id="7" name="Shape 5"/>
          <p:cNvSpPr/>
          <p:nvPr/>
        </p:nvSpPr>
        <p:spPr>
          <a:xfrm>
            <a:off x="548640" y="1828800"/>
            <a:ext cx="73152" cy="1965960"/>
          </a:xfrm>
          <a:prstGeom prst="rect">
            <a:avLst/>
          </a:prstGeom>
          <a:solidFill>
            <a:srgbClr val="C8102E"/>
          </a:solidFill>
          <a:ln/>
        </p:spPr>
        <p:txBody>
          <a:bodyPr/>
          <a:lstStyle/>
          <a:p>
            <a:endParaRPr lang="en-US"/>
          </a:p>
        </p:txBody>
      </p:sp>
      <p:sp>
        <p:nvSpPr>
          <p:cNvPr id="8" name="Text 6"/>
          <p:cNvSpPr/>
          <p:nvPr/>
        </p:nvSpPr>
        <p:spPr>
          <a:xfrm>
            <a:off x="777240" y="1920240"/>
            <a:ext cx="5486400" cy="365760"/>
          </a:xfrm>
          <a:prstGeom prst="rect">
            <a:avLst/>
          </a:prstGeom>
          <a:noFill/>
          <a:ln/>
        </p:spPr>
        <p:txBody>
          <a:bodyPr wrap="square" lIns="0" tIns="0" rIns="0" bIns="0" rtlCol="0" anchor="ctr"/>
          <a:lstStyle/>
          <a:p>
            <a:pPr marL="0" indent="0">
              <a:buNone/>
            </a:pPr>
            <a:r>
              <a:rPr lang="en-US" sz="1400" b="1" dirty="0">
                <a:solidFill>
                  <a:srgbClr val="C8102E"/>
                </a:solidFill>
                <a:latin typeface="Georgia" pitchFamily="34" charset="0"/>
                <a:ea typeface="Georgia" pitchFamily="34" charset="-122"/>
                <a:cs typeface="Georgia" pitchFamily="34" charset="-120"/>
              </a:rPr>
              <a:t>Threat taxonomy</a:t>
            </a:r>
            <a:endParaRPr lang="en-US" sz="1400" dirty="0"/>
          </a:p>
        </p:txBody>
      </p:sp>
      <p:sp>
        <p:nvSpPr>
          <p:cNvPr id="9" name="Text 7"/>
          <p:cNvSpPr/>
          <p:nvPr/>
        </p:nvSpPr>
        <p:spPr>
          <a:xfrm>
            <a:off x="777240" y="2286000"/>
            <a:ext cx="5486400" cy="146304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0B1F3A"/>
                </a:solidFill>
                <a:latin typeface="Calibri" pitchFamily="34" charset="0"/>
                <a:ea typeface="Calibri" pitchFamily="34" charset="-122"/>
                <a:cs typeface="Calibri" pitchFamily="34" charset="-120"/>
              </a:rPr>
              <a:t>Evasion: FGSM, PGD, C&amp;W, patch, expectation-over-transformation</a:t>
            </a:r>
            <a:endParaRPr lang="en-US" sz="1100" dirty="0"/>
          </a:p>
          <a:p>
            <a:pPr marL="342900" indent="-342900">
              <a:spcAft>
                <a:spcPts val="400"/>
              </a:spcAft>
              <a:buSzPct val="100000"/>
              <a:buChar char="•"/>
            </a:pPr>
            <a:r>
              <a:rPr lang="en-US" sz="1100" dirty="0">
                <a:solidFill>
                  <a:srgbClr val="0B1F3A"/>
                </a:solidFill>
                <a:latin typeface="Calibri" pitchFamily="34" charset="0"/>
                <a:ea typeface="Calibri" pitchFamily="34" charset="-122"/>
                <a:cs typeface="Calibri" pitchFamily="34" charset="-120"/>
              </a:rPr>
              <a:t>Data poisoning: label flipping, backdoor triggers in training sets</a:t>
            </a:r>
            <a:endParaRPr lang="en-US" sz="1100" dirty="0"/>
          </a:p>
          <a:p>
            <a:pPr marL="342900" indent="-342900">
              <a:spcAft>
                <a:spcPts val="400"/>
              </a:spcAft>
              <a:buSzPct val="100000"/>
              <a:buChar char="•"/>
            </a:pPr>
            <a:r>
              <a:rPr lang="en-US" sz="1100" dirty="0">
                <a:solidFill>
                  <a:srgbClr val="0B1F3A"/>
                </a:solidFill>
                <a:latin typeface="Calibri" pitchFamily="34" charset="0"/>
                <a:ea typeface="Calibri" pitchFamily="34" charset="-122"/>
                <a:cs typeface="Calibri" pitchFamily="34" charset="-120"/>
              </a:rPr>
              <a:t>Model extraction &amp; inversion: stealing weights via query APIs</a:t>
            </a:r>
            <a:endParaRPr lang="en-US" sz="1100" dirty="0"/>
          </a:p>
          <a:p>
            <a:pPr marL="342900" indent="-342900">
              <a:spcAft>
                <a:spcPts val="400"/>
              </a:spcAft>
              <a:buSzPct val="100000"/>
              <a:buChar char="•"/>
            </a:pPr>
            <a:r>
              <a:rPr lang="en-US" sz="1100" dirty="0">
                <a:solidFill>
                  <a:srgbClr val="0B1F3A"/>
                </a:solidFill>
                <a:latin typeface="Calibri" pitchFamily="34" charset="0"/>
                <a:ea typeface="Calibri" pitchFamily="34" charset="-122"/>
                <a:cs typeface="Calibri" pitchFamily="34" charset="-120"/>
              </a:rPr>
              <a:t>Prompt injection &amp; jailbreaks for LLM-in-the-loop systems</a:t>
            </a:r>
            <a:endParaRPr lang="en-US" sz="1100" dirty="0"/>
          </a:p>
        </p:txBody>
      </p:sp>
      <p:sp>
        <p:nvSpPr>
          <p:cNvPr id="10" name="Shape 8"/>
          <p:cNvSpPr/>
          <p:nvPr/>
        </p:nvSpPr>
        <p:spPr>
          <a:xfrm>
            <a:off x="548640" y="3931920"/>
            <a:ext cx="5669280" cy="2011680"/>
          </a:xfrm>
          <a:prstGeom prst="rect">
            <a:avLst/>
          </a:prstGeom>
          <a:solidFill>
            <a:srgbClr val="FFFFFF"/>
          </a:solidFill>
          <a:ln w="6350">
            <a:solidFill>
              <a:srgbClr val="E5E5E5"/>
            </a:solidFill>
            <a:prstDash val="solid"/>
          </a:ln>
          <a:effectLst>
            <a:outerShdw blurRad="101600" dist="25400" dir="5400000" algn="bl" rotWithShape="0">
              <a:srgbClr val="000000">
                <a:alpha val="10000"/>
              </a:srgbClr>
            </a:outerShdw>
          </a:effectLst>
        </p:spPr>
        <p:txBody>
          <a:bodyPr/>
          <a:lstStyle/>
          <a:p>
            <a:endParaRPr lang="en-US"/>
          </a:p>
        </p:txBody>
      </p:sp>
      <p:sp>
        <p:nvSpPr>
          <p:cNvPr id="11" name="Shape 9"/>
          <p:cNvSpPr/>
          <p:nvPr/>
        </p:nvSpPr>
        <p:spPr>
          <a:xfrm>
            <a:off x="548640" y="3931920"/>
            <a:ext cx="73152" cy="2011680"/>
          </a:xfrm>
          <a:prstGeom prst="rect">
            <a:avLst/>
          </a:prstGeom>
          <a:solidFill>
            <a:srgbClr val="0D9488"/>
          </a:solidFill>
          <a:ln/>
        </p:spPr>
        <p:txBody>
          <a:bodyPr/>
          <a:lstStyle/>
          <a:p>
            <a:endParaRPr lang="en-US"/>
          </a:p>
        </p:txBody>
      </p:sp>
      <p:sp>
        <p:nvSpPr>
          <p:cNvPr id="12" name="Text 10"/>
          <p:cNvSpPr/>
          <p:nvPr/>
        </p:nvSpPr>
        <p:spPr>
          <a:xfrm>
            <a:off x="777240" y="4023360"/>
            <a:ext cx="5486400" cy="365760"/>
          </a:xfrm>
          <a:prstGeom prst="rect">
            <a:avLst/>
          </a:prstGeom>
          <a:noFill/>
          <a:ln/>
        </p:spPr>
        <p:txBody>
          <a:bodyPr wrap="square" lIns="0" tIns="0" rIns="0" bIns="0" rtlCol="0" anchor="ctr"/>
          <a:lstStyle/>
          <a:p>
            <a:pPr marL="0" indent="0">
              <a:buNone/>
            </a:pPr>
            <a:r>
              <a:rPr lang="en-US" sz="1400" b="1" dirty="0">
                <a:solidFill>
                  <a:srgbClr val="0D9488"/>
                </a:solidFill>
                <a:latin typeface="Georgia" pitchFamily="34" charset="0"/>
                <a:ea typeface="Georgia" pitchFamily="34" charset="-122"/>
                <a:cs typeface="Georgia" pitchFamily="34" charset="-120"/>
              </a:rPr>
              <a:t>Frameworks &amp; agents</a:t>
            </a:r>
            <a:endParaRPr lang="en-US" sz="1400" dirty="0"/>
          </a:p>
        </p:txBody>
      </p:sp>
      <p:sp>
        <p:nvSpPr>
          <p:cNvPr id="13" name="Text 11"/>
          <p:cNvSpPr/>
          <p:nvPr/>
        </p:nvSpPr>
        <p:spPr>
          <a:xfrm>
            <a:off x="777240" y="4389120"/>
            <a:ext cx="5486400" cy="146304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0B1F3A"/>
                </a:solidFill>
                <a:latin typeface="Calibri" pitchFamily="34" charset="0"/>
                <a:ea typeface="Calibri" pitchFamily="34" charset="-122"/>
                <a:cs typeface="Calibri" pitchFamily="34" charset="-120"/>
              </a:rPr>
              <a:t>IBM ART, CleverHans, Foolbox for CV / time-series adversarial suites</a:t>
            </a:r>
            <a:endParaRPr lang="en-US" sz="1100" dirty="0"/>
          </a:p>
          <a:p>
            <a:pPr marL="342900" indent="-342900">
              <a:spcAft>
                <a:spcPts val="400"/>
              </a:spcAft>
              <a:buSzPct val="100000"/>
              <a:buChar char="•"/>
            </a:pPr>
            <a:r>
              <a:rPr lang="en-US" sz="1100" dirty="0">
                <a:solidFill>
                  <a:srgbClr val="0B1F3A"/>
                </a:solidFill>
                <a:latin typeface="Calibri" pitchFamily="34" charset="0"/>
                <a:ea typeface="Calibri" pitchFamily="34" charset="-122"/>
                <a:cs typeface="Calibri" pitchFamily="34" charset="-120"/>
              </a:rPr>
              <a:t>TextAttack and Garak for NLP / LLM adversarial evaluation</a:t>
            </a:r>
            <a:endParaRPr lang="en-US" sz="1100" dirty="0"/>
          </a:p>
          <a:p>
            <a:pPr marL="342900" indent="-342900">
              <a:spcAft>
                <a:spcPts val="400"/>
              </a:spcAft>
              <a:buSzPct val="100000"/>
              <a:buChar char="•"/>
            </a:pPr>
            <a:r>
              <a:rPr lang="en-US" sz="1100" dirty="0">
                <a:solidFill>
                  <a:srgbClr val="0B1F3A"/>
                </a:solidFill>
                <a:latin typeface="Calibri" pitchFamily="34" charset="0"/>
                <a:ea typeface="Calibri" pitchFamily="34" charset="-122"/>
                <a:cs typeface="Calibri" pitchFamily="34" charset="-120"/>
              </a:rPr>
              <a:t>LLM red-team agents — persistent role-play adversary probing policy corners</a:t>
            </a:r>
            <a:endParaRPr lang="en-US" sz="1100" dirty="0"/>
          </a:p>
          <a:p>
            <a:pPr marL="342900" indent="-342900">
              <a:spcAft>
                <a:spcPts val="400"/>
              </a:spcAft>
              <a:buSzPct val="100000"/>
              <a:buChar char="•"/>
            </a:pPr>
            <a:r>
              <a:rPr lang="en-US" sz="1100" dirty="0">
                <a:solidFill>
                  <a:srgbClr val="0B1F3A"/>
                </a:solidFill>
                <a:latin typeface="Calibri" pitchFamily="34" charset="0"/>
                <a:ea typeface="Calibri" pitchFamily="34" charset="-122"/>
                <a:cs typeface="Calibri" pitchFamily="34" charset="-120"/>
              </a:rPr>
              <a:t>Certified-robustness tools (interval-bound propagation, randomised smoothing)</a:t>
            </a:r>
            <a:endParaRPr lang="en-US" sz="1100" dirty="0"/>
          </a:p>
        </p:txBody>
      </p:sp>
      <p:sp>
        <p:nvSpPr>
          <p:cNvPr id="14" name="Shape 12"/>
          <p:cNvSpPr/>
          <p:nvPr/>
        </p:nvSpPr>
        <p:spPr>
          <a:xfrm>
            <a:off x="6492240" y="1828800"/>
            <a:ext cx="5212080" cy="1965960"/>
          </a:xfrm>
          <a:prstGeom prst="rect">
            <a:avLst/>
          </a:prstGeom>
          <a:solidFill>
            <a:srgbClr val="0B1F3A"/>
          </a:solidFill>
          <a:ln/>
        </p:spPr>
        <p:txBody>
          <a:bodyPr/>
          <a:lstStyle/>
          <a:p>
            <a:endParaRPr lang="en-US"/>
          </a:p>
        </p:txBody>
      </p:sp>
      <p:sp>
        <p:nvSpPr>
          <p:cNvPr id="15" name="Text 13"/>
          <p:cNvSpPr/>
          <p:nvPr/>
        </p:nvSpPr>
        <p:spPr>
          <a:xfrm>
            <a:off x="6675120" y="1920240"/>
            <a:ext cx="4846320" cy="914400"/>
          </a:xfrm>
          <a:prstGeom prst="rect">
            <a:avLst/>
          </a:prstGeom>
          <a:noFill/>
          <a:ln/>
        </p:spPr>
        <p:txBody>
          <a:bodyPr wrap="square" lIns="0" tIns="0" rIns="0" bIns="0" rtlCol="0" anchor="ctr"/>
          <a:lstStyle/>
          <a:p>
            <a:pPr marL="0" indent="0">
              <a:buNone/>
            </a:pPr>
            <a:r>
              <a:rPr lang="en-US" sz="5400" b="1" dirty="0">
                <a:solidFill>
                  <a:srgbClr val="C8102E"/>
                </a:solidFill>
                <a:latin typeface="Georgia" pitchFamily="34" charset="0"/>
                <a:ea typeface="Georgia" pitchFamily="34" charset="-122"/>
                <a:cs typeface="Georgia" pitchFamily="34" charset="-120"/>
              </a:rPr>
              <a:t>&lt; 1%</a:t>
            </a:r>
            <a:endParaRPr lang="en-US" sz="5400" dirty="0"/>
          </a:p>
        </p:txBody>
      </p:sp>
      <p:sp>
        <p:nvSpPr>
          <p:cNvPr id="16" name="Text 14"/>
          <p:cNvSpPr/>
          <p:nvPr/>
        </p:nvSpPr>
        <p:spPr>
          <a:xfrm>
            <a:off x="6675120" y="2834640"/>
            <a:ext cx="4846320" cy="1005840"/>
          </a:xfrm>
          <a:prstGeom prst="rect">
            <a:avLst/>
          </a:prstGeom>
          <a:noFill/>
          <a:ln/>
        </p:spPr>
        <p:txBody>
          <a:bodyPr wrap="square" lIns="0" tIns="0" rIns="0" bIns="0" rtlCol="0" anchor="t"/>
          <a:lstStyle/>
          <a:p>
            <a:pPr marL="0" indent="0">
              <a:buNone/>
            </a:pPr>
            <a:r>
              <a:rPr lang="en-US" sz="1200" dirty="0">
                <a:solidFill>
                  <a:srgbClr val="F4F1EC"/>
                </a:solidFill>
                <a:latin typeface="Calibri" pitchFamily="34" charset="0"/>
                <a:ea typeface="Calibri" pitchFamily="34" charset="-122"/>
                <a:cs typeface="Calibri" pitchFamily="34" charset="-120"/>
              </a:rPr>
              <a:t>pixel perturbation can flip most CV classifiers — invisible to the operator, catastrophic to the decision.</a:t>
            </a:r>
            <a:endParaRPr lang="en-US" sz="1200" dirty="0"/>
          </a:p>
        </p:txBody>
      </p:sp>
      <p:sp>
        <p:nvSpPr>
          <p:cNvPr id="17" name="Shape 15"/>
          <p:cNvSpPr/>
          <p:nvPr/>
        </p:nvSpPr>
        <p:spPr>
          <a:xfrm>
            <a:off x="6492240" y="4114800"/>
            <a:ext cx="1207008" cy="1828800"/>
          </a:xfrm>
          <a:prstGeom prst="rect">
            <a:avLst/>
          </a:prstGeom>
          <a:solidFill>
            <a:srgbClr val="FFFFFF"/>
          </a:solidFill>
          <a:ln w="6350">
            <a:solidFill>
              <a:srgbClr val="E5E5E5"/>
            </a:solidFill>
            <a:prstDash val="solid"/>
          </a:ln>
        </p:spPr>
        <p:txBody>
          <a:bodyPr/>
          <a:lstStyle/>
          <a:p>
            <a:endParaRPr lang="en-US"/>
          </a:p>
        </p:txBody>
      </p:sp>
      <p:sp>
        <p:nvSpPr>
          <p:cNvPr id="18" name="Shape 16"/>
          <p:cNvSpPr/>
          <p:nvPr/>
        </p:nvSpPr>
        <p:spPr>
          <a:xfrm>
            <a:off x="6492240" y="4114800"/>
            <a:ext cx="1207008" cy="365760"/>
          </a:xfrm>
          <a:prstGeom prst="rect">
            <a:avLst/>
          </a:prstGeom>
          <a:solidFill>
            <a:srgbClr val="0D9488"/>
          </a:solidFill>
          <a:ln/>
        </p:spPr>
        <p:txBody>
          <a:bodyPr/>
          <a:lstStyle/>
          <a:p>
            <a:endParaRPr lang="en-US"/>
          </a:p>
        </p:txBody>
      </p:sp>
      <p:sp>
        <p:nvSpPr>
          <p:cNvPr id="19" name="Text 17"/>
          <p:cNvSpPr/>
          <p:nvPr/>
        </p:nvSpPr>
        <p:spPr>
          <a:xfrm>
            <a:off x="6492240" y="4133088"/>
            <a:ext cx="1207008"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01</a:t>
            </a:r>
            <a:endParaRPr lang="en-US" sz="1300" dirty="0"/>
          </a:p>
        </p:txBody>
      </p:sp>
      <p:sp>
        <p:nvSpPr>
          <p:cNvPr id="20" name="Text 18"/>
          <p:cNvSpPr/>
          <p:nvPr/>
        </p:nvSpPr>
        <p:spPr>
          <a:xfrm>
            <a:off x="6583680" y="4572000"/>
            <a:ext cx="1024128" cy="365760"/>
          </a:xfrm>
          <a:prstGeom prst="rect">
            <a:avLst/>
          </a:prstGeom>
          <a:noFill/>
          <a:ln/>
        </p:spPr>
        <p:txBody>
          <a:bodyPr wrap="square" lIns="0" tIns="0" rIns="0" bIns="0" rtlCol="0" anchor="ctr"/>
          <a:lstStyle/>
          <a:p>
            <a:pPr marL="0" indent="0">
              <a:buNone/>
            </a:pPr>
            <a:r>
              <a:rPr lang="en-US" sz="1200" b="1" dirty="0">
                <a:solidFill>
                  <a:srgbClr val="0B1F3A"/>
                </a:solidFill>
                <a:latin typeface="Georgia" pitchFamily="34" charset="0"/>
                <a:ea typeface="Georgia" pitchFamily="34" charset="-122"/>
                <a:cs typeface="Georgia" pitchFamily="34" charset="-120"/>
              </a:rPr>
              <a:t>Inventory</a:t>
            </a:r>
            <a:endParaRPr lang="en-US" sz="1200" dirty="0"/>
          </a:p>
        </p:txBody>
      </p:sp>
      <p:sp>
        <p:nvSpPr>
          <p:cNvPr id="21" name="Text 19"/>
          <p:cNvSpPr/>
          <p:nvPr/>
        </p:nvSpPr>
        <p:spPr>
          <a:xfrm>
            <a:off x="6583680" y="4937760"/>
            <a:ext cx="1024128" cy="914400"/>
          </a:xfrm>
          <a:prstGeom prst="rect">
            <a:avLst/>
          </a:prstGeom>
          <a:noFill/>
          <a:ln/>
        </p:spPr>
        <p:txBody>
          <a:bodyPr wrap="square" lIns="0" tIns="0" rIns="0" bIns="0" rtlCol="0" anchor="t"/>
          <a:lstStyle/>
          <a:p>
            <a:pPr marL="0" indent="0">
              <a:buNone/>
            </a:pPr>
            <a:r>
              <a:rPr lang="en-US" sz="900" dirty="0">
                <a:solidFill>
                  <a:srgbClr val="5B6A82"/>
                </a:solidFill>
                <a:latin typeface="Calibri" pitchFamily="34" charset="0"/>
                <a:ea typeface="Calibri" pitchFamily="34" charset="-122"/>
                <a:cs typeface="Calibri" pitchFamily="34" charset="-120"/>
              </a:rPr>
              <a:t>Catalogue models, attack surface, trust boundaries</a:t>
            </a:r>
            <a:endParaRPr lang="en-US" sz="900" dirty="0"/>
          </a:p>
        </p:txBody>
      </p:sp>
      <p:sp>
        <p:nvSpPr>
          <p:cNvPr id="22" name="Shape 20"/>
          <p:cNvSpPr/>
          <p:nvPr/>
        </p:nvSpPr>
        <p:spPr>
          <a:xfrm>
            <a:off x="7781544" y="4114800"/>
            <a:ext cx="1207008" cy="1828800"/>
          </a:xfrm>
          <a:prstGeom prst="rect">
            <a:avLst/>
          </a:prstGeom>
          <a:solidFill>
            <a:srgbClr val="FFFFFF"/>
          </a:solidFill>
          <a:ln w="6350">
            <a:solidFill>
              <a:srgbClr val="E5E5E5"/>
            </a:solidFill>
            <a:prstDash val="solid"/>
          </a:ln>
        </p:spPr>
        <p:txBody>
          <a:bodyPr/>
          <a:lstStyle/>
          <a:p>
            <a:endParaRPr lang="en-US"/>
          </a:p>
        </p:txBody>
      </p:sp>
      <p:sp>
        <p:nvSpPr>
          <p:cNvPr id="23" name="Shape 21"/>
          <p:cNvSpPr/>
          <p:nvPr/>
        </p:nvSpPr>
        <p:spPr>
          <a:xfrm>
            <a:off x="7781544" y="4114800"/>
            <a:ext cx="1207008" cy="365760"/>
          </a:xfrm>
          <a:prstGeom prst="rect">
            <a:avLst/>
          </a:prstGeom>
          <a:solidFill>
            <a:srgbClr val="0D9488"/>
          </a:solidFill>
          <a:ln/>
        </p:spPr>
        <p:txBody>
          <a:bodyPr/>
          <a:lstStyle/>
          <a:p>
            <a:endParaRPr lang="en-US"/>
          </a:p>
        </p:txBody>
      </p:sp>
      <p:sp>
        <p:nvSpPr>
          <p:cNvPr id="24" name="Text 22"/>
          <p:cNvSpPr/>
          <p:nvPr/>
        </p:nvSpPr>
        <p:spPr>
          <a:xfrm>
            <a:off x="7781544" y="4133088"/>
            <a:ext cx="1207008"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02</a:t>
            </a:r>
            <a:endParaRPr lang="en-US" sz="1300" dirty="0"/>
          </a:p>
        </p:txBody>
      </p:sp>
      <p:sp>
        <p:nvSpPr>
          <p:cNvPr id="25" name="Text 23"/>
          <p:cNvSpPr/>
          <p:nvPr/>
        </p:nvSpPr>
        <p:spPr>
          <a:xfrm>
            <a:off x="7872984" y="4572000"/>
            <a:ext cx="1024128" cy="365760"/>
          </a:xfrm>
          <a:prstGeom prst="rect">
            <a:avLst/>
          </a:prstGeom>
          <a:noFill/>
          <a:ln/>
        </p:spPr>
        <p:txBody>
          <a:bodyPr wrap="square" lIns="0" tIns="0" rIns="0" bIns="0" rtlCol="0" anchor="ctr"/>
          <a:lstStyle/>
          <a:p>
            <a:pPr marL="0" indent="0">
              <a:buNone/>
            </a:pPr>
            <a:r>
              <a:rPr lang="en-US" sz="1200" b="1" dirty="0">
                <a:solidFill>
                  <a:srgbClr val="0B1F3A"/>
                </a:solidFill>
                <a:latin typeface="Georgia" pitchFamily="34" charset="0"/>
                <a:ea typeface="Georgia" pitchFamily="34" charset="-122"/>
                <a:cs typeface="Georgia" pitchFamily="34" charset="-120"/>
              </a:rPr>
              <a:t>Attack</a:t>
            </a:r>
            <a:endParaRPr lang="en-US" sz="1200" dirty="0"/>
          </a:p>
        </p:txBody>
      </p:sp>
      <p:sp>
        <p:nvSpPr>
          <p:cNvPr id="26" name="Text 24"/>
          <p:cNvSpPr/>
          <p:nvPr/>
        </p:nvSpPr>
        <p:spPr>
          <a:xfrm>
            <a:off x="7872984" y="4937760"/>
            <a:ext cx="1024128" cy="914400"/>
          </a:xfrm>
          <a:prstGeom prst="rect">
            <a:avLst/>
          </a:prstGeom>
          <a:noFill/>
          <a:ln/>
        </p:spPr>
        <p:txBody>
          <a:bodyPr wrap="square" lIns="0" tIns="0" rIns="0" bIns="0" rtlCol="0" anchor="t"/>
          <a:lstStyle/>
          <a:p>
            <a:pPr marL="0" indent="0">
              <a:buNone/>
            </a:pPr>
            <a:r>
              <a:rPr lang="en-US" sz="900" dirty="0">
                <a:solidFill>
                  <a:srgbClr val="5B6A82"/>
                </a:solidFill>
                <a:latin typeface="Calibri" pitchFamily="34" charset="0"/>
                <a:ea typeface="Calibri" pitchFamily="34" charset="-122"/>
                <a:cs typeface="Calibri" pitchFamily="34" charset="-120"/>
              </a:rPr>
              <a:t>Automated ART / Garak runs in the CI pipeline</a:t>
            </a:r>
            <a:endParaRPr lang="en-US" sz="900" dirty="0"/>
          </a:p>
        </p:txBody>
      </p:sp>
      <p:sp>
        <p:nvSpPr>
          <p:cNvPr id="27" name="Shape 25"/>
          <p:cNvSpPr/>
          <p:nvPr/>
        </p:nvSpPr>
        <p:spPr>
          <a:xfrm>
            <a:off x="9070848" y="4114800"/>
            <a:ext cx="1207008" cy="1828800"/>
          </a:xfrm>
          <a:prstGeom prst="rect">
            <a:avLst/>
          </a:prstGeom>
          <a:solidFill>
            <a:srgbClr val="FFFFFF"/>
          </a:solidFill>
          <a:ln w="6350">
            <a:solidFill>
              <a:srgbClr val="E5E5E5"/>
            </a:solidFill>
            <a:prstDash val="solid"/>
          </a:ln>
        </p:spPr>
        <p:txBody>
          <a:bodyPr/>
          <a:lstStyle/>
          <a:p>
            <a:endParaRPr lang="en-US"/>
          </a:p>
        </p:txBody>
      </p:sp>
      <p:sp>
        <p:nvSpPr>
          <p:cNvPr id="28" name="Shape 26"/>
          <p:cNvSpPr/>
          <p:nvPr/>
        </p:nvSpPr>
        <p:spPr>
          <a:xfrm>
            <a:off x="9070848" y="4114800"/>
            <a:ext cx="1207008" cy="365760"/>
          </a:xfrm>
          <a:prstGeom prst="rect">
            <a:avLst/>
          </a:prstGeom>
          <a:solidFill>
            <a:srgbClr val="0D9488"/>
          </a:solidFill>
          <a:ln/>
        </p:spPr>
        <p:txBody>
          <a:bodyPr/>
          <a:lstStyle/>
          <a:p>
            <a:endParaRPr lang="en-US"/>
          </a:p>
        </p:txBody>
      </p:sp>
      <p:sp>
        <p:nvSpPr>
          <p:cNvPr id="29" name="Text 27"/>
          <p:cNvSpPr/>
          <p:nvPr/>
        </p:nvSpPr>
        <p:spPr>
          <a:xfrm>
            <a:off x="9070848" y="4133088"/>
            <a:ext cx="1207008"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03</a:t>
            </a:r>
            <a:endParaRPr lang="en-US" sz="1300" dirty="0"/>
          </a:p>
        </p:txBody>
      </p:sp>
      <p:sp>
        <p:nvSpPr>
          <p:cNvPr id="30" name="Text 28"/>
          <p:cNvSpPr/>
          <p:nvPr/>
        </p:nvSpPr>
        <p:spPr>
          <a:xfrm>
            <a:off x="9162288" y="4572000"/>
            <a:ext cx="1024128" cy="365760"/>
          </a:xfrm>
          <a:prstGeom prst="rect">
            <a:avLst/>
          </a:prstGeom>
          <a:noFill/>
          <a:ln/>
        </p:spPr>
        <p:txBody>
          <a:bodyPr wrap="square" lIns="0" tIns="0" rIns="0" bIns="0" rtlCol="0" anchor="ctr"/>
          <a:lstStyle/>
          <a:p>
            <a:pPr marL="0" indent="0">
              <a:buNone/>
            </a:pPr>
            <a:r>
              <a:rPr lang="en-US" sz="1200" b="1" dirty="0">
                <a:solidFill>
                  <a:srgbClr val="0B1F3A"/>
                </a:solidFill>
                <a:latin typeface="Georgia" pitchFamily="34" charset="0"/>
                <a:ea typeface="Georgia" pitchFamily="34" charset="-122"/>
                <a:cs typeface="Georgia" pitchFamily="34" charset="-120"/>
              </a:rPr>
              <a:t>Harden</a:t>
            </a:r>
            <a:endParaRPr lang="en-US" sz="1200" dirty="0"/>
          </a:p>
        </p:txBody>
      </p:sp>
      <p:sp>
        <p:nvSpPr>
          <p:cNvPr id="31" name="Text 29"/>
          <p:cNvSpPr/>
          <p:nvPr/>
        </p:nvSpPr>
        <p:spPr>
          <a:xfrm>
            <a:off x="9162288" y="4937760"/>
            <a:ext cx="1024128" cy="914400"/>
          </a:xfrm>
          <a:prstGeom prst="rect">
            <a:avLst/>
          </a:prstGeom>
          <a:noFill/>
          <a:ln/>
        </p:spPr>
        <p:txBody>
          <a:bodyPr wrap="square" lIns="0" tIns="0" rIns="0" bIns="0" rtlCol="0" anchor="t"/>
          <a:lstStyle/>
          <a:p>
            <a:pPr marL="0" indent="0">
              <a:buNone/>
            </a:pPr>
            <a:r>
              <a:rPr lang="en-US" sz="900" dirty="0">
                <a:solidFill>
                  <a:srgbClr val="5B6A82"/>
                </a:solidFill>
                <a:latin typeface="Calibri" pitchFamily="34" charset="0"/>
                <a:ea typeface="Calibri" pitchFamily="34" charset="-122"/>
                <a:cs typeface="Calibri" pitchFamily="34" charset="-120"/>
              </a:rPr>
              <a:t>Adversarial training, smoothing, input sanitisation</a:t>
            </a:r>
            <a:endParaRPr lang="en-US" sz="900" dirty="0"/>
          </a:p>
        </p:txBody>
      </p:sp>
      <p:sp>
        <p:nvSpPr>
          <p:cNvPr id="32" name="Shape 30"/>
          <p:cNvSpPr/>
          <p:nvPr/>
        </p:nvSpPr>
        <p:spPr>
          <a:xfrm>
            <a:off x="10360152" y="4114800"/>
            <a:ext cx="1207008" cy="1828800"/>
          </a:xfrm>
          <a:prstGeom prst="rect">
            <a:avLst/>
          </a:prstGeom>
          <a:solidFill>
            <a:srgbClr val="FFFFFF"/>
          </a:solidFill>
          <a:ln w="6350">
            <a:solidFill>
              <a:srgbClr val="E5E5E5"/>
            </a:solidFill>
            <a:prstDash val="solid"/>
          </a:ln>
        </p:spPr>
        <p:txBody>
          <a:bodyPr/>
          <a:lstStyle/>
          <a:p>
            <a:endParaRPr lang="en-US"/>
          </a:p>
        </p:txBody>
      </p:sp>
      <p:sp>
        <p:nvSpPr>
          <p:cNvPr id="33" name="Shape 31"/>
          <p:cNvSpPr/>
          <p:nvPr/>
        </p:nvSpPr>
        <p:spPr>
          <a:xfrm>
            <a:off x="10360152" y="4114800"/>
            <a:ext cx="1207008" cy="365760"/>
          </a:xfrm>
          <a:prstGeom prst="rect">
            <a:avLst/>
          </a:prstGeom>
          <a:solidFill>
            <a:srgbClr val="0D9488"/>
          </a:solidFill>
          <a:ln/>
        </p:spPr>
        <p:txBody>
          <a:bodyPr/>
          <a:lstStyle/>
          <a:p>
            <a:endParaRPr lang="en-US"/>
          </a:p>
        </p:txBody>
      </p:sp>
      <p:sp>
        <p:nvSpPr>
          <p:cNvPr id="34" name="Text 32"/>
          <p:cNvSpPr/>
          <p:nvPr/>
        </p:nvSpPr>
        <p:spPr>
          <a:xfrm>
            <a:off x="10360152" y="4133088"/>
            <a:ext cx="1207008"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04</a:t>
            </a:r>
            <a:endParaRPr lang="en-US" sz="1300" dirty="0"/>
          </a:p>
        </p:txBody>
      </p:sp>
      <p:sp>
        <p:nvSpPr>
          <p:cNvPr id="35" name="Text 33"/>
          <p:cNvSpPr/>
          <p:nvPr/>
        </p:nvSpPr>
        <p:spPr>
          <a:xfrm>
            <a:off x="10451592" y="4572000"/>
            <a:ext cx="1024128" cy="365760"/>
          </a:xfrm>
          <a:prstGeom prst="rect">
            <a:avLst/>
          </a:prstGeom>
          <a:noFill/>
          <a:ln/>
        </p:spPr>
        <p:txBody>
          <a:bodyPr wrap="square" lIns="0" tIns="0" rIns="0" bIns="0" rtlCol="0" anchor="ctr"/>
          <a:lstStyle/>
          <a:p>
            <a:pPr marL="0" indent="0">
              <a:buNone/>
            </a:pPr>
            <a:r>
              <a:rPr lang="en-US" sz="1200" b="1" dirty="0">
                <a:solidFill>
                  <a:srgbClr val="0B1F3A"/>
                </a:solidFill>
                <a:latin typeface="Georgia" pitchFamily="34" charset="0"/>
                <a:ea typeface="Georgia" pitchFamily="34" charset="-122"/>
                <a:cs typeface="Georgia" pitchFamily="34" charset="-120"/>
              </a:rPr>
              <a:t>Certify</a:t>
            </a:r>
            <a:endParaRPr lang="en-US" sz="1200" dirty="0"/>
          </a:p>
        </p:txBody>
      </p:sp>
      <p:sp>
        <p:nvSpPr>
          <p:cNvPr id="36" name="Text 34"/>
          <p:cNvSpPr/>
          <p:nvPr/>
        </p:nvSpPr>
        <p:spPr>
          <a:xfrm>
            <a:off x="10451592" y="4937760"/>
            <a:ext cx="1024128" cy="914400"/>
          </a:xfrm>
          <a:prstGeom prst="rect">
            <a:avLst/>
          </a:prstGeom>
          <a:noFill/>
          <a:ln/>
        </p:spPr>
        <p:txBody>
          <a:bodyPr wrap="square" lIns="0" tIns="0" rIns="0" bIns="0" rtlCol="0" anchor="t"/>
          <a:lstStyle/>
          <a:p>
            <a:pPr marL="0" indent="0">
              <a:buNone/>
            </a:pPr>
            <a:r>
              <a:rPr lang="en-US" sz="900" dirty="0">
                <a:solidFill>
                  <a:srgbClr val="5B6A82"/>
                </a:solidFill>
                <a:latin typeface="Calibri" pitchFamily="34" charset="0"/>
                <a:ea typeface="Calibri" pitchFamily="34" charset="-122"/>
                <a:cs typeface="Calibri" pitchFamily="34" charset="-120"/>
              </a:rPr>
              <a:t>Robustness bounds filed against Article 36 review</a:t>
            </a:r>
            <a:endParaRPr lang="en-US" sz="900" dirty="0"/>
          </a:p>
        </p:txBody>
      </p:sp>
      <p:sp>
        <p:nvSpPr>
          <p:cNvPr id="37" name="Shape 35"/>
          <p:cNvSpPr/>
          <p:nvPr/>
        </p:nvSpPr>
        <p:spPr>
          <a:xfrm>
            <a:off x="548640" y="6126480"/>
            <a:ext cx="11155680" cy="411480"/>
          </a:xfrm>
          <a:prstGeom prst="rect">
            <a:avLst/>
          </a:prstGeom>
          <a:solidFill>
            <a:srgbClr val="0D9488"/>
          </a:solidFill>
          <a:ln/>
        </p:spPr>
        <p:txBody>
          <a:bodyPr/>
          <a:lstStyle/>
          <a:p>
            <a:endParaRPr lang="en-US"/>
          </a:p>
        </p:txBody>
      </p:sp>
      <p:sp>
        <p:nvSpPr>
          <p:cNvPr id="38" name="Text 36"/>
          <p:cNvSpPr/>
          <p:nvPr/>
        </p:nvSpPr>
        <p:spPr>
          <a:xfrm>
            <a:off x="731520" y="6126480"/>
            <a:ext cx="10972800" cy="41148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Article 36 evidence gain: demonstrable robustness bounds + reproducible red-team transcripts</a:t>
            </a:r>
            <a:endParaRPr lang="en-US" sz="1100" dirty="0"/>
          </a:p>
        </p:txBody>
      </p:sp>
      <p:sp>
        <p:nvSpPr>
          <p:cNvPr id="39" name="Shape 37"/>
          <p:cNvSpPr/>
          <p:nvPr/>
        </p:nvSpPr>
        <p:spPr>
          <a:xfrm>
            <a:off x="0" y="6537960"/>
            <a:ext cx="12191695" cy="320040"/>
          </a:xfrm>
          <a:prstGeom prst="rect">
            <a:avLst/>
          </a:prstGeom>
          <a:solidFill>
            <a:srgbClr val="0B1F3A"/>
          </a:solidFill>
          <a:ln/>
        </p:spPr>
        <p:txBody>
          <a:bodyPr/>
          <a:lstStyle/>
          <a:p>
            <a:endParaRPr lang="en-US"/>
          </a:p>
        </p:txBody>
      </p:sp>
      <p:sp>
        <p:nvSpPr>
          <p:cNvPr id="40" name="Text 38"/>
          <p:cNvSpPr/>
          <p:nvPr/>
        </p:nvSpPr>
        <p:spPr>
          <a:xfrm>
            <a:off x="365760" y="6547104"/>
            <a:ext cx="8229600" cy="301752"/>
          </a:xfrm>
          <a:prstGeom prst="rect">
            <a:avLst/>
          </a:prstGeom>
          <a:noFill/>
          <a:ln/>
        </p:spPr>
        <p:txBody>
          <a:bodyPr wrap="square" lIns="0" tIns="0" rIns="0" bIns="0" rtlCol="0" anchor="ctr"/>
          <a:lstStyle/>
          <a:p>
            <a:pPr marL="0" indent="0">
              <a:buNone/>
            </a:pPr>
            <a:r>
              <a:rPr lang="en-US" sz="900" dirty="0">
                <a:solidFill>
                  <a:srgbClr val="F4F1EC"/>
                </a:solidFill>
                <a:latin typeface="Calibri" pitchFamily="34" charset="0"/>
                <a:ea typeface="Calibri" pitchFamily="34" charset="-122"/>
                <a:cs typeface="Calibri" pitchFamily="34" charset="-120"/>
              </a:rPr>
              <a:t>UNCLASSIFIED  |  UK MOD  |  Testing AI with AI  |  April 2026</a:t>
            </a:r>
            <a:endParaRPr lang="en-US" sz="900" dirty="0"/>
          </a:p>
        </p:txBody>
      </p:sp>
      <p:sp>
        <p:nvSpPr>
          <p:cNvPr id="41" name="Text 39"/>
          <p:cNvSpPr/>
          <p:nvPr/>
        </p:nvSpPr>
        <p:spPr>
          <a:xfrm>
            <a:off x="11094415" y="6547104"/>
            <a:ext cx="731520" cy="301752"/>
          </a:xfrm>
          <a:prstGeom prst="rect">
            <a:avLst/>
          </a:prstGeom>
          <a:noFill/>
          <a:ln/>
        </p:spPr>
        <p:txBody>
          <a:bodyPr wrap="square" lIns="0" tIns="0" rIns="0" bIns="0" rtlCol="0" anchor="ctr"/>
          <a:lstStyle/>
          <a:p>
            <a:pPr marL="0" indent="0" algn="r">
              <a:buNone/>
            </a:pPr>
            <a:r>
              <a:rPr lang="en-US" sz="900" dirty="0">
                <a:solidFill>
                  <a:srgbClr val="F4F1EC"/>
                </a:solidFill>
                <a:latin typeface="Calibri" pitchFamily="34" charset="0"/>
                <a:ea typeface="Calibri" pitchFamily="34" charset="-122"/>
                <a:cs typeface="Calibri" pitchFamily="34" charset="-120"/>
              </a:rPr>
              <a:t>7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D9488"/>
          </a:solidFill>
          <a:ln/>
        </p:spPr>
        <p:txBody>
          <a:bodyPr/>
          <a:lstStyle/>
          <a:p>
            <a:endParaRPr lang="en-US"/>
          </a:p>
        </p:txBody>
      </p:sp>
      <p:sp>
        <p:nvSpPr>
          <p:cNvPr id="3" name="Text 1"/>
          <p:cNvSpPr/>
          <p:nvPr/>
        </p:nvSpPr>
        <p:spPr>
          <a:xfrm>
            <a:off x="548640" y="320040"/>
            <a:ext cx="10972800" cy="320040"/>
          </a:xfrm>
          <a:prstGeom prst="rect">
            <a:avLst/>
          </a:prstGeom>
          <a:noFill/>
          <a:ln/>
        </p:spPr>
        <p:txBody>
          <a:bodyPr wrap="square" lIns="0" tIns="0" rIns="0" bIns="0" rtlCol="0" anchor="ctr"/>
          <a:lstStyle/>
          <a:p>
            <a:pPr marL="0" indent="0">
              <a:buNone/>
            </a:pPr>
            <a:r>
              <a:rPr lang="en-US" sz="1100" b="1" kern="0" spc="600" dirty="0">
                <a:solidFill>
                  <a:srgbClr val="0D9488"/>
                </a:solidFill>
                <a:latin typeface="Calibri" pitchFamily="34" charset="0"/>
                <a:ea typeface="Calibri" pitchFamily="34" charset="-122"/>
                <a:cs typeface="Calibri" pitchFamily="34" charset="-120"/>
              </a:rPr>
              <a:t>RECOMMENDATION 04</a:t>
            </a:r>
            <a:endParaRPr lang="en-US" sz="1100" dirty="0"/>
          </a:p>
        </p:txBody>
      </p:sp>
      <p:sp>
        <p:nvSpPr>
          <p:cNvPr id="4" name="Text 2"/>
          <p:cNvSpPr/>
          <p:nvPr/>
        </p:nvSpPr>
        <p:spPr>
          <a:xfrm>
            <a:off x="548640" y="640080"/>
            <a:ext cx="11155680" cy="777240"/>
          </a:xfrm>
          <a:prstGeom prst="rect">
            <a:avLst/>
          </a:prstGeom>
          <a:noFill/>
          <a:ln/>
        </p:spPr>
        <p:txBody>
          <a:bodyPr wrap="square" lIns="0" tIns="0" rIns="0" bIns="0" rtlCol="0" anchor="ctr"/>
          <a:lstStyle/>
          <a:p>
            <a:pPr marL="0" indent="0">
              <a:buNone/>
            </a:pPr>
            <a:r>
              <a:rPr lang="en-US" sz="3000" b="1" dirty="0">
                <a:solidFill>
                  <a:srgbClr val="0B1F3A"/>
                </a:solidFill>
                <a:latin typeface="Georgia" pitchFamily="34" charset="0"/>
                <a:ea typeface="Georgia" pitchFamily="34" charset="-122"/>
                <a:cs typeface="Georgia" pitchFamily="34" charset="-120"/>
              </a:rPr>
              <a:t>Continuous monitoring &amp; drift detection in production</a:t>
            </a:r>
            <a:endParaRPr lang="en-US" sz="3000" dirty="0"/>
          </a:p>
        </p:txBody>
      </p:sp>
      <p:sp>
        <p:nvSpPr>
          <p:cNvPr id="5" name="Shape 3"/>
          <p:cNvSpPr/>
          <p:nvPr/>
        </p:nvSpPr>
        <p:spPr>
          <a:xfrm>
            <a:off x="548640" y="1508760"/>
            <a:ext cx="822960" cy="36576"/>
          </a:xfrm>
          <a:prstGeom prst="rect">
            <a:avLst/>
          </a:prstGeom>
          <a:solidFill>
            <a:srgbClr val="0D9488"/>
          </a:solidFill>
          <a:ln/>
        </p:spPr>
        <p:txBody>
          <a:bodyPr/>
          <a:lstStyle/>
          <a:p>
            <a:endParaRPr lang="en-US"/>
          </a:p>
        </p:txBody>
      </p:sp>
      <p:sp>
        <p:nvSpPr>
          <p:cNvPr id="6" name="Shape 4"/>
          <p:cNvSpPr/>
          <p:nvPr/>
        </p:nvSpPr>
        <p:spPr>
          <a:xfrm>
            <a:off x="548640" y="1828800"/>
            <a:ext cx="5486400" cy="4114800"/>
          </a:xfrm>
          <a:prstGeom prst="rect">
            <a:avLst/>
          </a:prstGeom>
          <a:solidFill>
            <a:srgbClr val="FFFFFF"/>
          </a:solidFill>
          <a:ln w="6350">
            <a:solidFill>
              <a:srgbClr val="E5E5E5"/>
            </a:solidFill>
            <a:prstDash val="solid"/>
          </a:ln>
          <a:effectLst>
            <a:outerShdw blurRad="101600" dist="25400" dir="5400000" algn="bl" rotWithShape="0">
              <a:srgbClr val="000000">
                <a:alpha val="10000"/>
              </a:srgbClr>
            </a:outerShdw>
          </a:effectLst>
        </p:spPr>
        <p:txBody>
          <a:bodyPr/>
          <a:lstStyle/>
          <a:p>
            <a:endParaRPr lang="en-US"/>
          </a:p>
        </p:txBody>
      </p:sp>
      <p:sp>
        <p:nvSpPr>
          <p:cNvPr id="7" name="Shape 5"/>
          <p:cNvSpPr/>
          <p:nvPr/>
        </p:nvSpPr>
        <p:spPr>
          <a:xfrm>
            <a:off x="548640" y="1828800"/>
            <a:ext cx="5486400" cy="73152"/>
          </a:xfrm>
          <a:prstGeom prst="rect">
            <a:avLst/>
          </a:prstGeom>
          <a:solidFill>
            <a:srgbClr val="0D9488"/>
          </a:solidFill>
          <a:ln/>
        </p:spPr>
        <p:txBody>
          <a:bodyPr/>
          <a:lstStyle/>
          <a:p>
            <a:endParaRPr lang="en-US"/>
          </a:p>
        </p:txBody>
      </p:sp>
      <p:sp>
        <p:nvSpPr>
          <p:cNvPr id="8" name="Shape 6"/>
          <p:cNvSpPr/>
          <p:nvPr/>
        </p:nvSpPr>
        <p:spPr>
          <a:xfrm>
            <a:off x="777240" y="2057400"/>
            <a:ext cx="548640" cy="548640"/>
          </a:xfrm>
          <a:prstGeom prst="ellipse">
            <a:avLst/>
          </a:prstGeom>
          <a:solidFill>
            <a:srgbClr val="0D9488"/>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859536" y="2139696"/>
            <a:ext cx="384048" cy="384048"/>
          </a:xfrm>
          <a:prstGeom prst="rect">
            <a:avLst/>
          </a:prstGeom>
        </p:spPr>
      </p:pic>
      <p:sp>
        <p:nvSpPr>
          <p:cNvPr id="10" name="Text 7"/>
          <p:cNvSpPr/>
          <p:nvPr/>
        </p:nvSpPr>
        <p:spPr>
          <a:xfrm>
            <a:off x="1463040" y="2103120"/>
            <a:ext cx="4480560" cy="457200"/>
          </a:xfrm>
          <a:prstGeom prst="rect">
            <a:avLst/>
          </a:prstGeom>
          <a:noFill/>
          <a:ln/>
        </p:spPr>
        <p:txBody>
          <a:bodyPr wrap="square" lIns="0" tIns="0" rIns="0" bIns="0" rtlCol="0" anchor="ctr"/>
          <a:lstStyle/>
          <a:p>
            <a:pPr marL="0" indent="0">
              <a:buNone/>
            </a:pPr>
            <a:r>
              <a:rPr lang="en-US" sz="1500" b="1" dirty="0">
                <a:solidFill>
                  <a:srgbClr val="0B1F3A"/>
                </a:solidFill>
                <a:latin typeface="Georgia" pitchFamily="34" charset="0"/>
                <a:ea typeface="Georgia" pitchFamily="34" charset="-122"/>
                <a:cs typeface="Georgia" pitchFamily="34" charset="-120"/>
              </a:rPr>
              <a:t>Drift &amp; online assurance</a:t>
            </a:r>
            <a:endParaRPr lang="en-US" sz="1500" dirty="0"/>
          </a:p>
        </p:txBody>
      </p:sp>
      <p:sp>
        <p:nvSpPr>
          <p:cNvPr id="11" name="Text 8"/>
          <p:cNvSpPr/>
          <p:nvPr/>
        </p:nvSpPr>
        <p:spPr>
          <a:xfrm>
            <a:off x="777240" y="2743200"/>
            <a:ext cx="5029200" cy="1005840"/>
          </a:xfrm>
          <a:prstGeom prst="rect">
            <a:avLst/>
          </a:prstGeom>
          <a:noFill/>
          <a:ln/>
        </p:spPr>
        <p:txBody>
          <a:bodyPr wrap="square" lIns="0" tIns="0" rIns="0" bIns="0" rtlCol="0" anchor="t"/>
          <a:lstStyle/>
          <a:p>
            <a:pPr marL="0" indent="0">
              <a:buNone/>
            </a:pPr>
            <a:r>
              <a:rPr lang="en-US" sz="1100" dirty="0">
                <a:solidFill>
                  <a:srgbClr val="0B1F3A"/>
                </a:solidFill>
                <a:latin typeface="Calibri" pitchFamily="34" charset="0"/>
                <a:ea typeface="Calibri" pitchFamily="34" charset="-122"/>
                <a:cs typeface="Calibri" pitchFamily="34" charset="-120"/>
              </a:rPr>
              <a:t>Operational environments shift: new adversary tactics, worn sensors, updated maps, fresh classes. Models that passed gate tests degrade silently. Assurance must extend into production.</a:t>
            </a:r>
            <a:endParaRPr lang="en-US" sz="1100" dirty="0"/>
          </a:p>
        </p:txBody>
      </p:sp>
      <p:sp>
        <p:nvSpPr>
          <p:cNvPr id="12" name="Text 9"/>
          <p:cNvSpPr/>
          <p:nvPr/>
        </p:nvSpPr>
        <p:spPr>
          <a:xfrm>
            <a:off x="777240" y="3749040"/>
            <a:ext cx="5029200" cy="1463040"/>
          </a:xfrm>
          <a:prstGeom prst="rect">
            <a:avLst/>
          </a:prstGeom>
          <a:noFill/>
          <a:ln/>
        </p:spPr>
        <p:txBody>
          <a:bodyPr wrap="square" lIns="0" tIns="0" rIns="0" bIns="0" rtlCol="0" anchor="ctr"/>
          <a:lstStyle/>
          <a:p>
            <a:pPr marL="342900" indent="-342900">
              <a:spcAft>
                <a:spcPts val="300"/>
              </a:spcAft>
              <a:buSzPct val="100000"/>
              <a:buChar char="•"/>
            </a:pPr>
            <a:r>
              <a:rPr lang="en-US" sz="1100" dirty="0">
                <a:solidFill>
                  <a:srgbClr val="0B1F3A"/>
                </a:solidFill>
                <a:latin typeface="Calibri" pitchFamily="34" charset="0"/>
                <a:ea typeface="Calibri" pitchFamily="34" charset="-122"/>
                <a:cs typeface="Calibri" pitchFamily="34" charset="-120"/>
              </a:rPr>
              <a:t>Evidently AI / Alibi Detect — data and concept drift alarms</a:t>
            </a:r>
            <a:endParaRPr lang="en-US" sz="1100" dirty="0"/>
          </a:p>
          <a:p>
            <a:pPr marL="342900" indent="-342900">
              <a:spcAft>
                <a:spcPts val="300"/>
              </a:spcAft>
              <a:buSzPct val="100000"/>
              <a:buChar char="•"/>
            </a:pPr>
            <a:r>
              <a:rPr lang="en-US" sz="1100" dirty="0">
                <a:solidFill>
                  <a:srgbClr val="0B1F3A"/>
                </a:solidFill>
                <a:latin typeface="Calibri" pitchFamily="34" charset="0"/>
                <a:ea typeface="Calibri" pitchFamily="34" charset="-122"/>
                <a:cs typeface="Calibri" pitchFamily="34" charset="-120"/>
              </a:rPr>
              <a:t>Production-SHAP: explanation drift as leading failure indicator</a:t>
            </a:r>
            <a:endParaRPr lang="en-US" sz="1100" dirty="0"/>
          </a:p>
          <a:p>
            <a:pPr marL="342900" indent="-342900">
              <a:spcAft>
                <a:spcPts val="300"/>
              </a:spcAft>
              <a:buSzPct val="100000"/>
              <a:buChar char="•"/>
            </a:pPr>
            <a:r>
              <a:rPr lang="en-US" sz="1100" dirty="0">
                <a:solidFill>
                  <a:srgbClr val="0B1F3A"/>
                </a:solidFill>
                <a:latin typeface="Calibri" pitchFamily="34" charset="0"/>
                <a:ea typeface="Calibri" pitchFamily="34" charset="-122"/>
                <a:cs typeface="Calibri" pitchFamily="34" charset="-120"/>
              </a:rPr>
              <a:t>Canary &amp; shadow deployments comparing new vs. incumbent model</a:t>
            </a:r>
            <a:endParaRPr lang="en-US" sz="1100" dirty="0"/>
          </a:p>
          <a:p>
            <a:pPr marL="342900" indent="-342900">
              <a:spcAft>
                <a:spcPts val="300"/>
              </a:spcAft>
              <a:buSzPct val="100000"/>
              <a:buChar char="•"/>
            </a:pPr>
            <a:r>
              <a:rPr lang="en-US" sz="1100" dirty="0">
                <a:solidFill>
                  <a:srgbClr val="0B1F3A"/>
                </a:solidFill>
                <a:latin typeface="Calibri" pitchFamily="34" charset="0"/>
                <a:ea typeface="Calibri" pitchFamily="34" charset="-122"/>
                <a:cs typeface="Calibri" pitchFamily="34" charset="-120"/>
              </a:rPr>
              <a:t>Human-on-loop escalation triggered when drift exceeds SLOs</a:t>
            </a:r>
            <a:endParaRPr lang="en-US" sz="1100" dirty="0"/>
          </a:p>
        </p:txBody>
      </p:sp>
      <p:sp>
        <p:nvSpPr>
          <p:cNvPr id="13" name="Shape 10"/>
          <p:cNvSpPr/>
          <p:nvPr/>
        </p:nvSpPr>
        <p:spPr>
          <a:xfrm>
            <a:off x="548640" y="5349240"/>
            <a:ext cx="5486400" cy="594360"/>
          </a:xfrm>
          <a:prstGeom prst="rect">
            <a:avLst/>
          </a:prstGeom>
          <a:solidFill>
            <a:srgbClr val="0B1F3A"/>
          </a:solidFill>
          <a:ln/>
        </p:spPr>
        <p:txBody>
          <a:bodyPr/>
          <a:lstStyle/>
          <a:p>
            <a:endParaRPr lang="en-US"/>
          </a:p>
        </p:txBody>
      </p:sp>
      <p:sp>
        <p:nvSpPr>
          <p:cNvPr id="14" name="Text 11"/>
          <p:cNvSpPr/>
          <p:nvPr/>
        </p:nvSpPr>
        <p:spPr>
          <a:xfrm>
            <a:off x="777240" y="5394960"/>
            <a:ext cx="5029200" cy="502920"/>
          </a:xfrm>
          <a:prstGeom prst="rect">
            <a:avLst/>
          </a:prstGeom>
          <a:noFill/>
          <a:ln/>
        </p:spPr>
        <p:txBody>
          <a:bodyPr wrap="square" lIns="0" tIns="0" rIns="0" bIns="0" rtlCol="0" anchor="ctr"/>
          <a:lstStyle/>
          <a:p>
            <a:pPr marL="0" indent="0">
              <a:buNone/>
            </a:pPr>
            <a:r>
              <a:rPr lang="en-US" sz="1300" b="1" dirty="0">
                <a:solidFill>
                  <a:srgbClr val="5EEAD4"/>
                </a:solidFill>
                <a:latin typeface="Georgia" pitchFamily="34" charset="0"/>
                <a:ea typeface="Georgia" pitchFamily="34" charset="-122"/>
                <a:cs typeface="Georgia" pitchFamily="34" charset="-120"/>
              </a:rPr>
              <a:t>Early-warning window:  weeks, not post-incident months</a:t>
            </a:r>
            <a:endParaRPr lang="en-US" sz="1300" dirty="0"/>
          </a:p>
        </p:txBody>
      </p:sp>
      <p:sp>
        <p:nvSpPr>
          <p:cNvPr id="15" name="Text 12"/>
          <p:cNvSpPr/>
          <p:nvPr/>
        </p:nvSpPr>
        <p:spPr>
          <a:xfrm>
            <a:off x="6217920" y="1828800"/>
            <a:ext cx="5486400" cy="365760"/>
          </a:xfrm>
          <a:prstGeom prst="rect">
            <a:avLst/>
          </a:prstGeom>
          <a:noFill/>
          <a:ln/>
        </p:spPr>
        <p:txBody>
          <a:bodyPr wrap="square" lIns="0" tIns="0" rIns="0" bIns="0" rtlCol="0" anchor="ctr"/>
          <a:lstStyle/>
          <a:p>
            <a:pPr marL="0" indent="0">
              <a:buNone/>
            </a:pPr>
            <a:r>
              <a:rPr lang="en-US" sz="1300" b="1" dirty="0">
                <a:solidFill>
                  <a:srgbClr val="0B1F3A"/>
                </a:solidFill>
                <a:latin typeface="Georgia" pitchFamily="34" charset="0"/>
                <a:ea typeface="Georgia" pitchFamily="34" charset="-122"/>
                <a:cs typeface="Georgia" pitchFamily="34" charset="-120"/>
              </a:rPr>
              <a:t>Accuracy degradation without vs. with drift monitoring</a:t>
            </a:r>
            <a:endParaRPr lang="en-US" sz="1300" dirty="0"/>
          </a:p>
        </p:txBody>
      </p:sp>
      <p:graphicFrame>
        <p:nvGraphicFramePr>
          <p:cNvPr id="16" name="Chart 0"/>
          <p:cNvGraphicFramePr/>
          <p:nvPr/>
        </p:nvGraphicFramePr>
        <p:xfrm>
          <a:off x="6217920" y="2240280"/>
          <a:ext cx="5486400" cy="3108960"/>
        </p:xfrm>
        <a:graphic>
          <a:graphicData uri="http://schemas.openxmlformats.org/drawingml/2006/chart">
            <c:chart xmlns:c="http://schemas.openxmlformats.org/drawingml/2006/chart" xmlns:r="http://schemas.openxmlformats.org/officeDocument/2006/relationships" r:id="rId4"/>
          </a:graphicData>
        </a:graphic>
      </p:graphicFrame>
      <p:sp>
        <p:nvSpPr>
          <p:cNvPr id="17" name="Shape 13"/>
          <p:cNvSpPr/>
          <p:nvPr/>
        </p:nvSpPr>
        <p:spPr>
          <a:xfrm>
            <a:off x="6217920" y="5440680"/>
            <a:ext cx="5486400" cy="502920"/>
          </a:xfrm>
          <a:prstGeom prst="rect">
            <a:avLst/>
          </a:prstGeom>
          <a:solidFill>
            <a:srgbClr val="0D9488"/>
          </a:solidFill>
          <a:ln/>
        </p:spPr>
        <p:txBody>
          <a:bodyPr/>
          <a:lstStyle/>
          <a:p>
            <a:endParaRPr lang="en-US"/>
          </a:p>
        </p:txBody>
      </p:sp>
      <p:sp>
        <p:nvSpPr>
          <p:cNvPr id="18" name="Text 14"/>
          <p:cNvSpPr/>
          <p:nvPr/>
        </p:nvSpPr>
        <p:spPr>
          <a:xfrm>
            <a:off x="6355080" y="5440680"/>
            <a:ext cx="5349240" cy="50292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Illustrative — accuracy (%) vs. months in production</a:t>
            </a:r>
            <a:endParaRPr lang="en-US" sz="1100" dirty="0"/>
          </a:p>
        </p:txBody>
      </p:sp>
      <p:sp>
        <p:nvSpPr>
          <p:cNvPr id="19" name="Shape 15"/>
          <p:cNvSpPr/>
          <p:nvPr/>
        </p:nvSpPr>
        <p:spPr>
          <a:xfrm>
            <a:off x="0" y="6537960"/>
            <a:ext cx="12191695" cy="320040"/>
          </a:xfrm>
          <a:prstGeom prst="rect">
            <a:avLst/>
          </a:prstGeom>
          <a:solidFill>
            <a:srgbClr val="0B1F3A"/>
          </a:solidFill>
          <a:ln/>
        </p:spPr>
        <p:txBody>
          <a:bodyPr/>
          <a:lstStyle/>
          <a:p>
            <a:endParaRPr lang="en-US"/>
          </a:p>
        </p:txBody>
      </p:sp>
      <p:sp>
        <p:nvSpPr>
          <p:cNvPr id="20" name="Text 16"/>
          <p:cNvSpPr/>
          <p:nvPr/>
        </p:nvSpPr>
        <p:spPr>
          <a:xfrm>
            <a:off x="365760" y="6547104"/>
            <a:ext cx="8229600" cy="301752"/>
          </a:xfrm>
          <a:prstGeom prst="rect">
            <a:avLst/>
          </a:prstGeom>
          <a:noFill/>
          <a:ln/>
        </p:spPr>
        <p:txBody>
          <a:bodyPr wrap="square" lIns="0" tIns="0" rIns="0" bIns="0" rtlCol="0" anchor="ctr"/>
          <a:lstStyle/>
          <a:p>
            <a:pPr marL="0" indent="0">
              <a:buNone/>
            </a:pPr>
            <a:r>
              <a:rPr lang="en-US" sz="900" dirty="0">
                <a:solidFill>
                  <a:srgbClr val="F4F1EC"/>
                </a:solidFill>
                <a:latin typeface="Calibri" pitchFamily="34" charset="0"/>
                <a:ea typeface="Calibri" pitchFamily="34" charset="-122"/>
                <a:cs typeface="Calibri" pitchFamily="34" charset="-120"/>
              </a:rPr>
              <a:t>UNCLASSIFIED  |  UK MOD  |  Testing AI with AI  |  April 2026</a:t>
            </a:r>
            <a:endParaRPr lang="en-US" sz="900" dirty="0"/>
          </a:p>
        </p:txBody>
      </p:sp>
      <p:sp>
        <p:nvSpPr>
          <p:cNvPr id="21" name="Text 17"/>
          <p:cNvSpPr/>
          <p:nvPr/>
        </p:nvSpPr>
        <p:spPr>
          <a:xfrm>
            <a:off x="11094415" y="6547104"/>
            <a:ext cx="731520" cy="301752"/>
          </a:xfrm>
          <a:prstGeom prst="rect">
            <a:avLst/>
          </a:prstGeom>
          <a:noFill/>
          <a:ln/>
        </p:spPr>
        <p:txBody>
          <a:bodyPr wrap="square" lIns="0" tIns="0" rIns="0" bIns="0" rtlCol="0" anchor="ctr"/>
          <a:lstStyle/>
          <a:p>
            <a:pPr marL="0" indent="0" algn="r">
              <a:buNone/>
            </a:pPr>
            <a:r>
              <a:rPr lang="en-US" sz="900" dirty="0">
                <a:solidFill>
                  <a:srgbClr val="F4F1EC"/>
                </a:solidFill>
                <a:latin typeface="Calibri" pitchFamily="34" charset="0"/>
                <a:ea typeface="Calibri" pitchFamily="34" charset="-122"/>
                <a:cs typeface="Calibri" pitchFamily="34" charset="-120"/>
              </a:rPr>
              <a:t>8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D9488"/>
          </a:solidFill>
          <a:ln/>
        </p:spPr>
        <p:txBody>
          <a:bodyPr/>
          <a:lstStyle/>
          <a:p>
            <a:endParaRPr lang="en-US"/>
          </a:p>
        </p:txBody>
      </p:sp>
      <p:sp>
        <p:nvSpPr>
          <p:cNvPr id="3" name="Text 1"/>
          <p:cNvSpPr/>
          <p:nvPr/>
        </p:nvSpPr>
        <p:spPr>
          <a:xfrm>
            <a:off x="548640" y="320040"/>
            <a:ext cx="10972800" cy="320040"/>
          </a:xfrm>
          <a:prstGeom prst="rect">
            <a:avLst/>
          </a:prstGeom>
          <a:noFill/>
          <a:ln/>
        </p:spPr>
        <p:txBody>
          <a:bodyPr wrap="square" lIns="0" tIns="0" rIns="0" bIns="0" rtlCol="0" anchor="ctr"/>
          <a:lstStyle/>
          <a:p>
            <a:pPr marL="0" indent="0">
              <a:buNone/>
            </a:pPr>
            <a:r>
              <a:rPr lang="en-US" sz="1100" b="1" kern="0" spc="600" dirty="0">
                <a:solidFill>
                  <a:srgbClr val="0D9488"/>
                </a:solidFill>
                <a:latin typeface="Calibri" pitchFamily="34" charset="0"/>
                <a:ea typeface="Calibri" pitchFamily="34" charset="-122"/>
                <a:cs typeface="Calibri" pitchFamily="34" charset="-120"/>
              </a:rPr>
              <a:t>RECOMMENDATION 05</a:t>
            </a:r>
            <a:endParaRPr lang="en-US" sz="1100" dirty="0"/>
          </a:p>
        </p:txBody>
      </p:sp>
      <p:sp>
        <p:nvSpPr>
          <p:cNvPr id="4" name="Text 2"/>
          <p:cNvSpPr/>
          <p:nvPr/>
        </p:nvSpPr>
        <p:spPr>
          <a:xfrm>
            <a:off x="548640" y="640080"/>
            <a:ext cx="11155680" cy="777240"/>
          </a:xfrm>
          <a:prstGeom prst="rect">
            <a:avLst/>
          </a:prstGeom>
          <a:noFill/>
          <a:ln/>
        </p:spPr>
        <p:txBody>
          <a:bodyPr wrap="square" lIns="0" tIns="0" rIns="0" bIns="0" rtlCol="0" anchor="ctr"/>
          <a:lstStyle/>
          <a:p>
            <a:pPr marL="0" indent="0">
              <a:buNone/>
            </a:pPr>
            <a:r>
              <a:rPr lang="en-US" sz="3000" b="1" dirty="0">
                <a:solidFill>
                  <a:srgbClr val="0B1F3A"/>
                </a:solidFill>
                <a:latin typeface="Georgia" pitchFamily="34" charset="0"/>
                <a:ea typeface="Georgia" pitchFamily="34" charset="-122"/>
                <a:cs typeface="Georgia" pitchFamily="34" charset="-120"/>
              </a:rPr>
              <a:t>AI-assisted safety case &amp; GSN validation</a:t>
            </a:r>
            <a:endParaRPr lang="en-US" sz="3000" dirty="0"/>
          </a:p>
        </p:txBody>
      </p:sp>
      <p:sp>
        <p:nvSpPr>
          <p:cNvPr id="5" name="Shape 3"/>
          <p:cNvSpPr/>
          <p:nvPr/>
        </p:nvSpPr>
        <p:spPr>
          <a:xfrm>
            <a:off x="548640" y="1508760"/>
            <a:ext cx="822960" cy="36576"/>
          </a:xfrm>
          <a:prstGeom prst="rect">
            <a:avLst/>
          </a:prstGeom>
          <a:solidFill>
            <a:srgbClr val="0D9488"/>
          </a:solidFill>
          <a:ln/>
        </p:spPr>
        <p:txBody>
          <a:bodyPr/>
          <a:lstStyle/>
          <a:p>
            <a:endParaRPr lang="en-US"/>
          </a:p>
        </p:txBody>
      </p:sp>
      <p:sp>
        <p:nvSpPr>
          <p:cNvPr id="6" name="Shape 4"/>
          <p:cNvSpPr/>
          <p:nvPr/>
        </p:nvSpPr>
        <p:spPr>
          <a:xfrm>
            <a:off x="548640" y="1828800"/>
            <a:ext cx="5577840" cy="4114800"/>
          </a:xfrm>
          <a:prstGeom prst="rect">
            <a:avLst/>
          </a:prstGeom>
          <a:solidFill>
            <a:srgbClr val="0B1F3A"/>
          </a:solidFill>
          <a:ln/>
        </p:spPr>
        <p:txBody>
          <a:bodyPr/>
          <a:lstStyle/>
          <a:p>
            <a:endParaRPr lang="en-US"/>
          </a:p>
        </p:txBody>
      </p:sp>
      <p:sp>
        <p:nvSpPr>
          <p:cNvPr id="7" name="Shape 5"/>
          <p:cNvSpPr/>
          <p:nvPr/>
        </p:nvSpPr>
        <p:spPr>
          <a:xfrm>
            <a:off x="777240" y="2057400"/>
            <a:ext cx="594360" cy="594360"/>
          </a:xfrm>
          <a:prstGeom prst="ellipse">
            <a:avLst/>
          </a:prstGeom>
          <a:solidFill>
            <a:srgbClr val="0D9488"/>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868680" y="2148840"/>
            <a:ext cx="411480" cy="411480"/>
          </a:xfrm>
          <a:prstGeom prst="rect">
            <a:avLst/>
          </a:prstGeom>
        </p:spPr>
      </p:pic>
      <p:sp>
        <p:nvSpPr>
          <p:cNvPr id="9" name="Text 6"/>
          <p:cNvSpPr/>
          <p:nvPr/>
        </p:nvSpPr>
        <p:spPr>
          <a:xfrm>
            <a:off x="1508760" y="2103120"/>
            <a:ext cx="4480560" cy="50292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AI-audited safety cases</a:t>
            </a:r>
            <a:endParaRPr lang="en-US" sz="1600" dirty="0"/>
          </a:p>
        </p:txBody>
      </p:sp>
      <p:sp>
        <p:nvSpPr>
          <p:cNvPr id="10" name="Text 7"/>
          <p:cNvSpPr/>
          <p:nvPr/>
        </p:nvSpPr>
        <p:spPr>
          <a:xfrm>
            <a:off x="777240" y="2788920"/>
            <a:ext cx="5120640" cy="1097280"/>
          </a:xfrm>
          <a:prstGeom prst="rect">
            <a:avLst/>
          </a:prstGeom>
          <a:noFill/>
          <a:ln/>
        </p:spPr>
        <p:txBody>
          <a:bodyPr wrap="square" lIns="0" tIns="0" rIns="0" bIns="0" rtlCol="0" anchor="t"/>
          <a:lstStyle/>
          <a:p>
            <a:pPr marL="0" indent="0">
              <a:buNone/>
            </a:pPr>
            <a:r>
              <a:rPr lang="en-US" sz="1200" dirty="0">
                <a:solidFill>
                  <a:srgbClr val="F4F1EC"/>
                </a:solidFill>
                <a:latin typeface="Calibri" pitchFamily="34" charset="0"/>
                <a:ea typeface="Calibri" pitchFamily="34" charset="-122"/>
                <a:cs typeface="Calibri" pitchFamily="34" charset="-120"/>
              </a:rPr>
              <a:t>AMLAS argument patterns are long, interconnected, and prone to implicit claims. LLMs can flag unsupported claims, generate traceability matrices and draft counterfactual safety arguments — always with human sign-off.</a:t>
            </a:r>
            <a:endParaRPr lang="en-US" sz="1200" dirty="0"/>
          </a:p>
        </p:txBody>
      </p:sp>
      <p:sp>
        <p:nvSpPr>
          <p:cNvPr id="11" name="Text 8"/>
          <p:cNvSpPr/>
          <p:nvPr/>
        </p:nvSpPr>
        <p:spPr>
          <a:xfrm>
            <a:off x="777240" y="3931920"/>
            <a:ext cx="5120640" cy="173736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F4F1EC"/>
                </a:solidFill>
                <a:latin typeface="Calibri" pitchFamily="34" charset="0"/>
                <a:ea typeface="Calibri" pitchFamily="34" charset="-122"/>
                <a:cs typeface="Calibri" pitchFamily="34" charset="-120"/>
              </a:rPr>
              <a:t>GSN critique: highlight nodes with insufficient evidence links</a:t>
            </a:r>
            <a:endParaRPr lang="en-US" sz="1100" dirty="0"/>
          </a:p>
          <a:p>
            <a:pPr marL="342900" indent="-342900">
              <a:spcAft>
                <a:spcPts val="400"/>
              </a:spcAft>
              <a:buSzPct val="100000"/>
              <a:buChar char="•"/>
            </a:pPr>
            <a:r>
              <a:rPr lang="en-US" sz="1100" dirty="0">
                <a:solidFill>
                  <a:srgbClr val="F4F1EC"/>
                </a:solidFill>
                <a:latin typeface="Calibri" pitchFamily="34" charset="0"/>
                <a:ea typeface="Calibri" pitchFamily="34" charset="-122"/>
                <a:cs typeface="Calibri" pitchFamily="34" charset="-120"/>
              </a:rPr>
              <a:t>Automated claim ↔ evidence traceability matrix (RTM) generation</a:t>
            </a:r>
            <a:endParaRPr lang="en-US" sz="1100" dirty="0"/>
          </a:p>
          <a:p>
            <a:pPr marL="342900" indent="-342900">
              <a:spcAft>
                <a:spcPts val="400"/>
              </a:spcAft>
              <a:buSzPct val="100000"/>
              <a:buChar char="•"/>
            </a:pPr>
            <a:r>
              <a:rPr lang="en-US" sz="1100" dirty="0">
                <a:solidFill>
                  <a:srgbClr val="F4F1EC"/>
                </a:solidFill>
                <a:latin typeface="Calibri" pitchFamily="34" charset="0"/>
                <a:ea typeface="Calibri" pitchFamily="34" charset="-122"/>
                <a:cs typeface="Calibri" pitchFamily="34" charset="-120"/>
              </a:rPr>
              <a:t>Counterfactual argument: 'what would falsify this claim?'</a:t>
            </a:r>
            <a:endParaRPr lang="en-US" sz="1100" dirty="0"/>
          </a:p>
          <a:p>
            <a:pPr marL="342900" indent="-342900">
              <a:spcAft>
                <a:spcPts val="400"/>
              </a:spcAft>
              <a:buSzPct val="100000"/>
              <a:buChar char="•"/>
            </a:pPr>
            <a:r>
              <a:rPr lang="en-US" sz="1100" dirty="0">
                <a:solidFill>
                  <a:srgbClr val="F4F1EC"/>
                </a:solidFill>
                <a:latin typeface="Calibri" pitchFamily="34" charset="0"/>
                <a:ea typeface="Calibri" pitchFamily="34" charset="-122"/>
                <a:cs typeface="Calibri" pitchFamily="34" charset="-120"/>
              </a:rPr>
              <a:t>AMLAS artefact compliance checks across the 6-activity lifecycle</a:t>
            </a:r>
            <a:endParaRPr lang="en-US" sz="1100" dirty="0"/>
          </a:p>
        </p:txBody>
      </p:sp>
      <p:sp>
        <p:nvSpPr>
          <p:cNvPr id="12" name="Shape 9"/>
          <p:cNvSpPr/>
          <p:nvPr/>
        </p:nvSpPr>
        <p:spPr>
          <a:xfrm>
            <a:off x="6309360" y="1828800"/>
            <a:ext cx="5394960" cy="4114800"/>
          </a:xfrm>
          <a:prstGeom prst="rect">
            <a:avLst/>
          </a:prstGeom>
          <a:solidFill>
            <a:srgbClr val="FFFFFF"/>
          </a:solidFill>
          <a:ln w="6350">
            <a:solidFill>
              <a:srgbClr val="E5E5E5"/>
            </a:solidFill>
            <a:prstDash val="solid"/>
          </a:ln>
          <a:effectLst>
            <a:outerShdw blurRad="101600" dist="25400" dir="5400000" algn="bl" rotWithShape="0">
              <a:srgbClr val="000000">
                <a:alpha val="10000"/>
              </a:srgbClr>
            </a:outerShdw>
          </a:effectLst>
        </p:spPr>
        <p:txBody>
          <a:bodyPr/>
          <a:lstStyle/>
          <a:p>
            <a:endParaRPr lang="en-US"/>
          </a:p>
        </p:txBody>
      </p:sp>
      <p:sp>
        <p:nvSpPr>
          <p:cNvPr id="13" name="Shape 10"/>
          <p:cNvSpPr/>
          <p:nvPr/>
        </p:nvSpPr>
        <p:spPr>
          <a:xfrm>
            <a:off x="6309360" y="1828800"/>
            <a:ext cx="5394960" cy="73152"/>
          </a:xfrm>
          <a:prstGeom prst="rect">
            <a:avLst/>
          </a:prstGeom>
          <a:solidFill>
            <a:srgbClr val="0D9488"/>
          </a:solidFill>
          <a:ln/>
        </p:spPr>
        <p:txBody>
          <a:bodyPr/>
          <a:lstStyle/>
          <a:p>
            <a:endParaRPr lang="en-US"/>
          </a:p>
        </p:txBody>
      </p:sp>
      <p:sp>
        <p:nvSpPr>
          <p:cNvPr id="14" name="Shape 11"/>
          <p:cNvSpPr/>
          <p:nvPr/>
        </p:nvSpPr>
        <p:spPr>
          <a:xfrm>
            <a:off x="6537960" y="2057400"/>
            <a:ext cx="594360" cy="594360"/>
          </a:xfrm>
          <a:prstGeom prst="ellipse">
            <a:avLst/>
          </a:prstGeom>
          <a:solidFill>
            <a:srgbClr val="0D9488"/>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6629400" y="2148840"/>
            <a:ext cx="411480" cy="411480"/>
          </a:xfrm>
          <a:prstGeom prst="rect">
            <a:avLst/>
          </a:prstGeom>
        </p:spPr>
      </p:pic>
      <p:sp>
        <p:nvSpPr>
          <p:cNvPr id="16" name="Text 12"/>
          <p:cNvSpPr/>
          <p:nvPr/>
        </p:nvSpPr>
        <p:spPr>
          <a:xfrm>
            <a:off x="7269480" y="2103120"/>
            <a:ext cx="4297680" cy="502920"/>
          </a:xfrm>
          <a:prstGeom prst="rect">
            <a:avLst/>
          </a:prstGeom>
          <a:noFill/>
          <a:ln/>
        </p:spPr>
        <p:txBody>
          <a:bodyPr wrap="square" lIns="0" tIns="0" rIns="0" bIns="0" rtlCol="0" anchor="ctr"/>
          <a:lstStyle/>
          <a:p>
            <a:pPr marL="0" indent="0">
              <a:buNone/>
            </a:pPr>
            <a:r>
              <a:rPr lang="en-US" sz="1500" b="1" dirty="0">
                <a:solidFill>
                  <a:srgbClr val="0B1F3A"/>
                </a:solidFill>
                <a:latin typeface="Georgia" pitchFamily="34" charset="0"/>
                <a:ea typeface="Georgia" pitchFamily="34" charset="-122"/>
                <a:cs typeface="Georgia" pitchFamily="34" charset="-120"/>
              </a:rPr>
              <a:t>Human-in-the-loop workflow</a:t>
            </a:r>
            <a:endParaRPr lang="en-US" sz="1500" dirty="0"/>
          </a:p>
        </p:txBody>
      </p:sp>
      <p:sp>
        <p:nvSpPr>
          <p:cNvPr id="17" name="Text 13"/>
          <p:cNvSpPr/>
          <p:nvPr/>
        </p:nvSpPr>
        <p:spPr>
          <a:xfrm>
            <a:off x="6537960" y="2788920"/>
            <a:ext cx="5029200" cy="914400"/>
          </a:xfrm>
          <a:prstGeom prst="rect">
            <a:avLst/>
          </a:prstGeom>
          <a:noFill/>
          <a:ln/>
        </p:spPr>
        <p:txBody>
          <a:bodyPr wrap="square" lIns="0" tIns="0" rIns="0" bIns="0" rtlCol="0" anchor="t"/>
          <a:lstStyle/>
          <a:p>
            <a:pPr marL="0" indent="0">
              <a:buNone/>
            </a:pPr>
            <a:r>
              <a:rPr lang="en-US" sz="1100" dirty="0">
                <a:solidFill>
                  <a:srgbClr val="0B1F3A"/>
                </a:solidFill>
                <a:latin typeface="Calibri" pitchFamily="34" charset="0"/>
                <a:ea typeface="Calibri" pitchFamily="34" charset="-122"/>
                <a:cs typeface="Calibri" pitchFamily="34" charset="-120"/>
              </a:rPr>
              <a:t>AI drafts — humans decide. Every generated claim must trace to a source page; DOSR, MAA and RAISO retain sign-off authority.</a:t>
            </a:r>
            <a:endParaRPr lang="en-US" sz="1100" dirty="0"/>
          </a:p>
        </p:txBody>
      </p:sp>
      <p:sp>
        <p:nvSpPr>
          <p:cNvPr id="18" name="Text 14"/>
          <p:cNvSpPr/>
          <p:nvPr/>
        </p:nvSpPr>
        <p:spPr>
          <a:xfrm>
            <a:off x="6537960" y="3703320"/>
            <a:ext cx="5029200" cy="18288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0B1F3A"/>
                </a:solidFill>
                <a:latin typeface="Calibri" pitchFamily="34" charset="0"/>
                <a:ea typeface="Calibri" pitchFamily="34" charset="-122"/>
                <a:cs typeface="Calibri" pitchFamily="34" charset="-120"/>
              </a:rPr>
              <a:t>Inputs: requirements, test reports, data sheets, change logs</a:t>
            </a:r>
            <a:endParaRPr lang="en-US" sz="1100" dirty="0"/>
          </a:p>
          <a:p>
            <a:pPr marL="342900" indent="-342900">
              <a:spcAft>
                <a:spcPts val="400"/>
              </a:spcAft>
              <a:buSzPct val="100000"/>
              <a:buChar char="•"/>
            </a:pPr>
            <a:r>
              <a:rPr lang="en-US" sz="1100" dirty="0">
                <a:solidFill>
                  <a:srgbClr val="0B1F3A"/>
                </a:solidFill>
                <a:latin typeface="Calibri" pitchFamily="34" charset="0"/>
                <a:ea typeface="Calibri" pitchFamily="34" charset="-122"/>
                <a:cs typeface="Calibri" pitchFamily="34" charset="-120"/>
              </a:rPr>
              <a:t>AI outputs: GSN draft, RTM, gap report, risk deltas</a:t>
            </a:r>
            <a:endParaRPr lang="en-US" sz="1100" dirty="0"/>
          </a:p>
          <a:p>
            <a:pPr marL="342900" indent="-342900">
              <a:spcAft>
                <a:spcPts val="400"/>
              </a:spcAft>
              <a:buSzPct val="100000"/>
              <a:buChar char="•"/>
            </a:pPr>
            <a:r>
              <a:rPr lang="en-US" sz="1100" dirty="0">
                <a:solidFill>
                  <a:srgbClr val="0B1F3A"/>
                </a:solidFill>
                <a:latin typeface="Calibri" pitchFamily="34" charset="0"/>
                <a:ea typeface="Calibri" pitchFamily="34" charset="-122"/>
                <a:cs typeface="Calibri" pitchFamily="34" charset="-120"/>
              </a:rPr>
              <a:t>Human review: safety engineer, RAISO, independent assessor</a:t>
            </a:r>
            <a:endParaRPr lang="en-US" sz="1100" dirty="0"/>
          </a:p>
          <a:p>
            <a:pPr marL="342900" indent="-342900">
              <a:spcAft>
                <a:spcPts val="400"/>
              </a:spcAft>
              <a:buSzPct val="100000"/>
              <a:buChar char="•"/>
            </a:pPr>
            <a:r>
              <a:rPr lang="en-US" sz="1100" dirty="0">
                <a:solidFill>
                  <a:srgbClr val="0B1F3A"/>
                </a:solidFill>
                <a:latin typeface="Calibri" pitchFamily="34" charset="0"/>
                <a:ea typeface="Calibri" pitchFamily="34" charset="-122"/>
                <a:cs typeface="Calibri" pitchFamily="34" charset="-120"/>
              </a:rPr>
              <a:t>Certify: DOSR / MAA with reproducible, versioned evidence</a:t>
            </a:r>
            <a:endParaRPr lang="en-US" sz="1100" dirty="0"/>
          </a:p>
        </p:txBody>
      </p:sp>
      <p:sp>
        <p:nvSpPr>
          <p:cNvPr id="19" name="Text 15"/>
          <p:cNvSpPr/>
          <p:nvPr/>
        </p:nvSpPr>
        <p:spPr>
          <a:xfrm>
            <a:off x="6537960" y="5577840"/>
            <a:ext cx="5029200" cy="274320"/>
          </a:xfrm>
          <a:prstGeom prst="rect">
            <a:avLst/>
          </a:prstGeom>
          <a:noFill/>
          <a:ln/>
        </p:spPr>
        <p:txBody>
          <a:bodyPr wrap="square" lIns="0" tIns="0" rIns="0" bIns="0" rtlCol="0" anchor="ctr"/>
          <a:lstStyle/>
          <a:p>
            <a:pPr marL="0" indent="0">
              <a:buNone/>
            </a:pPr>
            <a:r>
              <a:rPr lang="en-US" sz="1000" i="1" dirty="0">
                <a:solidFill>
                  <a:srgbClr val="C8102E"/>
                </a:solidFill>
                <a:latin typeface="Calibri" pitchFamily="34" charset="0"/>
                <a:ea typeface="Calibri" pitchFamily="34" charset="-122"/>
                <a:cs typeface="Calibri" pitchFamily="34" charset="-120"/>
              </a:rPr>
              <a:t>Hallucination is a non-negotiable failure mode — pipelines must enforce citation to source.</a:t>
            </a:r>
            <a:endParaRPr lang="en-US" sz="1000" dirty="0"/>
          </a:p>
        </p:txBody>
      </p:sp>
      <p:sp>
        <p:nvSpPr>
          <p:cNvPr id="20" name="Shape 16"/>
          <p:cNvSpPr/>
          <p:nvPr/>
        </p:nvSpPr>
        <p:spPr>
          <a:xfrm>
            <a:off x="548640" y="6126480"/>
            <a:ext cx="11155680" cy="411480"/>
          </a:xfrm>
          <a:prstGeom prst="rect">
            <a:avLst/>
          </a:prstGeom>
          <a:solidFill>
            <a:srgbClr val="0D9488"/>
          </a:solidFill>
          <a:ln/>
        </p:spPr>
        <p:txBody>
          <a:bodyPr/>
          <a:lstStyle/>
          <a:p>
            <a:endParaRPr lang="en-US"/>
          </a:p>
        </p:txBody>
      </p:sp>
      <p:sp>
        <p:nvSpPr>
          <p:cNvPr id="21" name="Text 17"/>
          <p:cNvSpPr/>
          <p:nvPr/>
        </p:nvSpPr>
        <p:spPr>
          <a:xfrm>
            <a:off x="731520" y="6126480"/>
            <a:ext cx="10972800" cy="41148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Skills fits: OpenRequirements, Requirement Specification, Specification-by-Example, Vibe Requirements</a:t>
            </a:r>
            <a:endParaRPr lang="en-US" sz="1100" dirty="0"/>
          </a:p>
        </p:txBody>
      </p:sp>
      <p:sp>
        <p:nvSpPr>
          <p:cNvPr id="22" name="Shape 18"/>
          <p:cNvSpPr/>
          <p:nvPr/>
        </p:nvSpPr>
        <p:spPr>
          <a:xfrm>
            <a:off x="0" y="6537960"/>
            <a:ext cx="12191695" cy="320040"/>
          </a:xfrm>
          <a:prstGeom prst="rect">
            <a:avLst/>
          </a:prstGeom>
          <a:solidFill>
            <a:srgbClr val="0B1F3A"/>
          </a:solidFill>
          <a:ln/>
        </p:spPr>
        <p:txBody>
          <a:bodyPr/>
          <a:lstStyle/>
          <a:p>
            <a:endParaRPr lang="en-US"/>
          </a:p>
        </p:txBody>
      </p:sp>
      <p:sp>
        <p:nvSpPr>
          <p:cNvPr id="23" name="Text 19"/>
          <p:cNvSpPr/>
          <p:nvPr/>
        </p:nvSpPr>
        <p:spPr>
          <a:xfrm>
            <a:off x="365760" y="6547104"/>
            <a:ext cx="8229600" cy="301752"/>
          </a:xfrm>
          <a:prstGeom prst="rect">
            <a:avLst/>
          </a:prstGeom>
          <a:noFill/>
          <a:ln/>
        </p:spPr>
        <p:txBody>
          <a:bodyPr wrap="square" lIns="0" tIns="0" rIns="0" bIns="0" rtlCol="0" anchor="ctr"/>
          <a:lstStyle/>
          <a:p>
            <a:pPr marL="0" indent="0">
              <a:buNone/>
            </a:pPr>
            <a:r>
              <a:rPr lang="en-US" sz="900" dirty="0">
                <a:solidFill>
                  <a:srgbClr val="F4F1EC"/>
                </a:solidFill>
                <a:latin typeface="Calibri" pitchFamily="34" charset="0"/>
                <a:ea typeface="Calibri" pitchFamily="34" charset="-122"/>
                <a:cs typeface="Calibri" pitchFamily="34" charset="-120"/>
              </a:rPr>
              <a:t>UNCLASSIFIED  |  UK MOD  |  Testing AI with AI  |  April 2026</a:t>
            </a:r>
            <a:endParaRPr lang="en-US" sz="900" dirty="0"/>
          </a:p>
        </p:txBody>
      </p:sp>
      <p:sp>
        <p:nvSpPr>
          <p:cNvPr id="24" name="Text 20"/>
          <p:cNvSpPr/>
          <p:nvPr/>
        </p:nvSpPr>
        <p:spPr>
          <a:xfrm>
            <a:off x="11094415" y="6547104"/>
            <a:ext cx="731520" cy="301752"/>
          </a:xfrm>
          <a:prstGeom prst="rect">
            <a:avLst/>
          </a:prstGeom>
          <a:noFill/>
          <a:ln/>
        </p:spPr>
        <p:txBody>
          <a:bodyPr wrap="square" lIns="0" tIns="0" rIns="0" bIns="0" rtlCol="0" anchor="ctr"/>
          <a:lstStyle/>
          <a:p>
            <a:pPr marL="0" indent="0" algn="r">
              <a:buNone/>
            </a:pPr>
            <a:r>
              <a:rPr lang="en-US" sz="900" dirty="0">
                <a:solidFill>
                  <a:srgbClr val="F4F1EC"/>
                </a:solidFill>
                <a:latin typeface="Calibri" pitchFamily="34" charset="0"/>
                <a:ea typeface="Calibri" pitchFamily="34" charset="-122"/>
                <a:cs typeface="Calibri" pitchFamily="34" charset="-120"/>
              </a:rPr>
              <a:t>9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D9488"/>
          </a:solidFill>
          <a:ln/>
        </p:spPr>
        <p:txBody>
          <a:bodyPr/>
          <a:lstStyle/>
          <a:p>
            <a:endParaRPr lang="en-US"/>
          </a:p>
        </p:txBody>
      </p:sp>
      <p:sp>
        <p:nvSpPr>
          <p:cNvPr id="3" name="Text 1"/>
          <p:cNvSpPr/>
          <p:nvPr/>
        </p:nvSpPr>
        <p:spPr>
          <a:xfrm>
            <a:off x="548640" y="320040"/>
            <a:ext cx="10972800" cy="320040"/>
          </a:xfrm>
          <a:prstGeom prst="rect">
            <a:avLst/>
          </a:prstGeom>
          <a:noFill/>
          <a:ln/>
        </p:spPr>
        <p:txBody>
          <a:bodyPr wrap="square" lIns="0" tIns="0" rIns="0" bIns="0" rtlCol="0" anchor="ctr"/>
          <a:lstStyle/>
          <a:p>
            <a:pPr marL="0" indent="0">
              <a:buNone/>
            </a:pPr>
            <a:r>
              <a:rPr lang="en-US" sz="1100" b="1" kern="0" spc="600" dirty="0">
                <a:solidFill>
                  <a:srgbClr val="0D9488"/>
                </a:solidFill>
                <a:latin typeface="Calibri" pitchFamily="34" charset="0"/>
                <a:ea typeface="Calibri" pitchFamily="34" charset="-122"/>
                <a:cs typeface="Calibri" pitchFamily="34" charset="-120"/>
              </a:rPr>
              <a:t>COVERAGE MATRIX</a:t>
            </a:r>
            <a:endParaRPr lang="en-US" sz="1100" dirty="0"/>
          </a:p>
        </p:txBody>
      </p:sp>
      <p:sp>
        <p:nvSpPr>
          <p:cNvPr id="4" name="Text 2"/>
          <p:cNvSpPr/>
          <p:nvPr/>
        </p:nvSpPr>
        <p:spPr>
          <a:xfrm>
            <a:off x="548640" y="640080"/>
            <a:ext cx="11155680" cy="777240"/>
          </a:xfrm>
          <a:prstGeom prst="rect">
            <a:avLst/>
          </a:prstGeom>
          <a:noFill/>
          <a:ln/>
        </p:spPr>
        <p:txBody>
          <a:bodyPr wrap="square" lIns="0" tIns="0" rIns="0" bIns="0" rtlCol="0" anchor="ctr"/>
          <a:lstStyle/>
          <a:p>
            <a:pPr marL="0" indent="0">
              <a:buNone/>
            </a:pPr>
            <a:r>
              <a:rPr lang="en-US" sz="3000" b="1" dirty="0">
                <a:solidFill>
                  <a:srgbClr val="0B1F3A"/>
                </a:solidFill>
                <a:latin typeface="Georgia" pitchFamily="34" charset="0"/>
                <a:ea typeface="Georgia" pitchFamily="34" charset="-122"/>
                <a:cs typeface="Georgia" pitchFamily="34" charset="-120"/>
              </a:rPr>
              <a:t>Pairing Deck 01 AI use cases with testing approaches</a:t>
            </a:r>
            <a:endParaRPr lang="en-US" sz="3000" dirty="0"/>
          </a:p>
        </p:txBody>
      </p:sp>
      <p:sp>
        <p:nvSpPr>
          <p:cNvPr id="5" name="Shape 3"/>
          <p:cNvSpPr/>
          <p:nvPr/>
        </p:nvSpPr>
        <p:spPr>
          <a:xfrm>
            <a:off x="548640" y="1508760"/>
            <a:ext cx="822960" cy="36576"/>
          </a:xfrm>
          <a:prstGeom prst="rect">
            <a:avLst/>
          </a:prstGeom>
          <a:solidFill>
            <a:srgbClr val="0D9488"/>
          </a:solidFill>
          <a:ln/>
        </p:spPr>
        <p:txBody>
          <a:bodyPr/>
          <a:lstStyle/>
          <a:p>
            <a:endParaRPr lang="en-US"/>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155680" cy="4114800"/>
        </p:xfrm>
        <a:graphic>
          <a:graphicData uri="http://schemas.openxmlformats.org/drawingml/2006/table">
            <a:tbl>
              <a:tblPr/>
              <a:tblGrid>
                <a:gridCol w="3291840">
                  <a:extLst>
                    <a:ext uri="{9D8B030D-6E8A-4147-A177-3AD203B41FA5}">
                      <a16:colId xmlns:a16="http://schemas.microsoft.com/office/drawing/2014/main" val="20000"/>
                    </a:ext>
                  </a:extLst>
                </a:gridCol>
                <a:gridCol w="1572768">
                  <a:extLst>
                    <a:ext uri="{9D8B030D-6E8A-4147-A177-3AD203B41FA5}">
                      <a16:colId xmlns:a16="http://schemas.microsoft.com/office/drawing/2014/main" val="20001"/>
                    </a:ext>
                  </a:extLst>
                </a:gridCol>
                <a:gridCol w="1572768">
                  <a:extLst>
                    <a:ext uri="{9D8B030D-6E8A-4147-A177-3AD203B41FA5}">
                      <a16:colId xmlns:a16="http://schemas.microsoft.com/office/drawing/2014/main" val="20002"/>
                    </a:ext>
                  </a:extLst>
                </a:gridCol>
                <a:gridCol w="1572768">
                  <a:extLst>
                    <a:ext uri="{9D8B030D-6E8A-4147-A177-3AD203B41FA5}">
                      <a16:colId xmlns:a16="http://schemas.microsoft.com/office/drawing/2014/main" val="20003"/>
                    </a:ext>
                  </a:extLst>
                </a:gridCol>
                <a:gridCol w="1572768">
                  <a:extLst>
                    <a:ext uri="{9D8B030D-6E8A-4147-A177-3AD203B41FA5}">
                      <a16:colId xmlns:a16="http://schemas.microsoft.com/office/drawing/2014/main" val="20004"/>
                    </a:ext>
                  </a:extLst>
                </a:gridCol>
                <a:gridCol w="1572768">
                  <a:extLst>
                    <a:ext uri="{9D8B030D-6E8A-4147-A177-3AD203B41FA5}">
                      <a16:colId xmlns:a16="http://schemas.microsoft.com/office/drawing/2014/main" val="20005"/>
                    </a:ext>
                  </a:extLst>
                </a:gridCol>
              </a:tblGrid>
              <a:tr h="45720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Deck 01 AI use case</a:t>
                      </a:r>
                      <a:endParaRPr lang="en-US" sz="10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1F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Test generation</a:t>
                      </a:r>
                      <a:endParaRPr lang="en-US" sz="10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1F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Synthetic data &amp; sim</a:t>
                      </a:r>
                      <a:endParaRPr lang="en-US" sz="10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1F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Adversarial / red-team</a:t>
                      </a:r>
                      <a:endParaRPr lang="en-US" sz="10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1F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Drift monitoring</a:t>
                      </a:r>
                      <a:endParaRPr lang="en-US" sz="10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1F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Safety-case AI audit</a:t>
                      </a:r>
                      <a:endParaRPr lang="en-US" sz="10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457200">
                <a:tc>
                  <a:txBody>
                    <a:bodyPr/>
                    <a:lstStyle/>
                    <a:p>
                      <a:pPr marL="0" indent="0" algn="l">
                        <a:buNone/>
                      </a:pPr>
                      <a:r>
                        <a:rPr lang="en-US" sz="1050" b="1" dirty="0">
                          <a:solidFill>
                            <a:srgbClr val="0B1F3A"/>
                          </a:solidFill>
                          <a:latin typeface="Calibri" pitchFamily="34" charset="0"/>
                          <a:ea typeface="Calibri" pitchFamily="34" charset="-122"/>
                          <a:cs typeface="Calibri" pitchFamily="34" charset="-120"/>
                        </a:rPr>
                        <a:t>Safety-case evidence indexing</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1EC"/>
                    </a:solidFill>
                  </a:tcPr>
                </a:tc>
                <a:tc>
                  <a:txBody>
                    <a:bodyPr/>
                    <a:lstStyle/>
                    <a:p>
                      <a:pPr marL="0" indent="0" algn="ctr">
                        <a:buNone/>
                      </a:pPr>
                      <a:r>
                        <a:rPr lang="en-US" sz="1000" dirty="0">
                          <a:solidFill>
                            <a:srgbClr val="0B1F3A"/>
                          </a:solidFill>
                        </a:rPr>
                        <a:t>Low</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E5E5"/>
                    </a:solidFill>
                  </a:tcPr>
                </a:tc>
                <a:tc>
                  <a:txBody>
                    <a:bodyPr/>
                    <a:lstStyle/>
                    <a:p>
                      <a:pPr marL="0" indent="0" algn="ctr">
                        <a:buNone/>
                      </a:pPr>
                      <a:r>
                        <a:rPr lang="en-US" sz="1000" dirty="0">
                          <a:solidFill>
                            <a:srgbClr val="0B1F3A"/>
                          </a:solidFill>
                        </a:rPr>
                        <a:t>Low</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E5E5"/>
                    </a:solidFill>
                  </a:tcPr>
                </a:tc>
                <a:tc>
                  <a:txBody>
                    <a:bodyPr/>
                    <a:lstStyle/>
                    <a:p>
                      <a:pPr marL="0" indent="0" algn="ctr">
                        <a:buNone/>
                      </a:pPr>
                      <a:r>
                        <a:rPr lang="en-US" sz="1000" dirty="0">
                          <a:solidFill>
                            <a:srgbClr val="0B1F3A"/>
                          </a:solidFill>
                        </a:rPr>
                        <a:t>Low</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E5E5"/>
                    </a:solidFill>
                  </a:tcPr>
                </a:tc>
                <a:tc>
                  <a:txBody>
                    <a:bodyPr/>
                    <a:lstStyle/>
                    <a:p>
                      <a:pPr marL="0" indent="0" algn="ctr">
                        <a:buNone/>
                      </a:pPr>
                      <a:r>
                        <a:rPr lang="en-US" sz="1000" dirty="0">
                          <a:solidFill>
                            <a:srgbClr val="0B1F3A"/>
                          </a:solidFill>
                        </a:rPr>
                        <a:t>Low</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E5E5"/>
                    </a:solidFill>
                  </a:tcPr>
                </a:tc>
                <a:tc>
                  <a:txBody>
                    <a:bodyPr/>
                    <a:lstStyle/>
                    <a:p>
                      <a:pPr marL="0" indent="0" algn="ctr">
                        <a:buNone/>
                      </a:pPr>
                      <a:r>
                        <a:rPr lang="en-US" sz="1000" b="1" dirty="0">
                          <a:solidFill>
                            <a:srgbClr val="FFFFFF"/>
                          </a:solidFill>
                        </a:rPr>
                        <a:t>High</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D9488"/>
                    </a:solidFill>
                  </a:tcPr>
                </a:tc>
                <a:extLst>
                  <a:ext uri="{0D108BD9-81ED-4DB2-BD59-A6C34878D82A}">
                    <a16:rowId xmlns:a16="http://schemas.microsoft.com/office/drawing/2014/main" val="10001"/>
                  </a:ext>
                </a:extLst>
              </a:tr>
              <a:tr h="457200">
                <a:tc>
                  <a:txBody>
                    <a:bodyPr/>
                    <a:lstStyle/>
                    <a:p>
                      <a:pPr marL="0" indent="0" algn="l">
                        <a:buNone/>
                      </a:pPr>
                      <a:r>
                        <a:rPr lang="en-US" sz="1050" b="1" dirty="0">
                          <a:solidFill>
                            <a:srgbClr val="0B1F3A"/>
                          </a:solidFill>
                          <a:latin typeface="Calibri" pitchFamily="34" charset="0"/>
                          <a:ea typeface="Calibri" pitchFamily="34" charset="-122"/>
                          <a:cs typeface="Calibri" pitchFamily="34" charset="-120"/>
                        </a:rPr>
                        <a:t>Surrogate models (PINN / GP)</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1EC"/>
                    </a:solidFill>
                  </a:tcPr>
                </a:tc>
                <a:tc>
                  <a:txBody>
                    <a:bodyPr/>
                    <a:lstStyle/>
                    <a:p>
                      <a:pPr marL="0" indent="0" algn="ctr">
                        <a:buNone/>
                      </a:pPr>
                      <a:r>
                        <a:rPr lang="en-US" sz="1000" b="1" dirty="0">
                          <a:solidFill>
                            <a:srgbClr val="FFFFFF"/>
                          </a:solidFill>
                        </a:rPr>
                        <a:t>Med</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A24C"/>
                    </a:solidFill>
                  </a:tcPr>
                </a:tc>
                <a:tc>
                  <a:txBody>
                    <a:bodyPr/>
                    <a:lstStyle/>
                    <a:p>
                      <a:pPr marL="0" indent="0" algn="ctr">
                        <a:buNone/>
                      </a:pPr>
                      <a:r>
                        <a:rPr lang="en-US" sz="1000" b="1" dirty="0">
                          <a:solidFill>
                            <a:srgbClr val="FFFFFF"/>
                          </a:solidFill>
                        </a:rPr>
                        <a:t>High</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D9488"/>
                    </a:solidFill>
                  </a:tcPr>
                </a:tc>
                <a:tc>
                  <a:txBody>
                    <a:bodyPr/>
                    <a:lstStyle/>
                    <a:p>
                      <a:pPr marL="0" indent="0" algn="ctr">
                        <a:buNone/>
                      </a:pPr>
                      <a:r>
                        <a:rPr lang="en-US" sz="1000" b="1" dirty="0">
                          <a:solidFill>
                            <a:srgbClr val="FFFFFF"/>
                          </a:solidFill>
                        </a:rPr>
                        <a:t>High</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D9488"/>
                    </a:solidFill>
                  </a:tcPr>
                </a:tc>
                <a:tc>
                  <a:txBody>
                    <a:bodyPr/>
                    <a:lstStyle/>
                    <a:p>
                      <a:pPr marL="0" indent="0" algn="ctr">
                        <a:buNone/>
                      </a:pPr>
                      <a:r>
                        <a:rPr lang="en-US" sz="1000" dirty="0">
                          <a:solidFill>
                            <a:srgbClr val="0B1F3A"/>
                          </a:solidFill>
                        </a:rPr>
                        <a:t>Low</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E5E5"/>
                    </a:solidFill>
                  </a:tcPr>
                </a:tc>
                <a:tc>
                  <a:txBody>
                    <a:bodyPr/>
                    <a:lstStyle/>
                    <a:p>
                      <a:pPr marL="0" indent="0" algn="ctr">
                        <a:buNone/>
                      </a:pPr>
                      <a:r>
                        <a:rPr lang="en-US" sz="1000" b="1" dirty="0">
                          <a:solidFill>
                            <a:srgbClr val="FFFFFF"/>
                          </a:solidFill>
                        </a:rPr>
                        <a:t>Med</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A24C"/>
                    </a:solidFill>
                  </a:tcPr>
                </a:tc>
                <a:extLst>
                  <a:ext uri="{0D108BD9-81ED-4DB2-BD59-A6C34878D82A}">
                    <a16:rowId xmlns:a16="http://schemas.microsoft.com/office/drawing/2014/main" val="10002"/>
                  </a:ext>
                </a:extLst>
              </a:tr>
              <a:tr h="457200">
                <a:tc>
                  <a:txBody>
                    <a:bodyPr/>
                    <a:lstStyle/>
                    <a:p>
                      <a:pPr marL="0" indent="0" algn="l">
                        <a:buNone/>
                      </a:pPr>
                      <a:r>
                        <a:rPr lang="en-US" sz="1050" b="1" dirty="0">
                          <a:solidFill>
                            <a:srgbClr val="0B1F3A"/>
                          </a:solidFill>
                          <a:latin typeface="Calibri" pitchFamily="34" charset="0"/>
                          <a:ea typeface="Calibri" pitchFamily="34" charset="-122"/>
                          <a:cs typeface="Calibri" pitchFamily="34" charset="-120"/>
                        </a:rPr>
                        <a:t>Anomaly detection in telemetry</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1EC"/>
                    </a:solidFill>
                  </a:tcPr>
                </a:tc>
                <a:tc>
                  <a:txBody>
                    <a:bodyPr/>
                    <a:lstStyle/>
                    <a:p>
                      <a:pPr marL="0" indent="0" algn="ctr">
                        <a:buNone/>
                      </a:pPr>
                      <a:r>
                        <a:rPr lang="en-US" sz="1000" b="1" dirty="0">
                          <a:solidFill>
                            <a:srgbClr val="FFFFFF"/>
                          </a:solidFill>
                        </a:rPr>
                        <a:t>Med</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A24C"/>
                    </a:solidFill>
                  </a:tcPr>
                </a:tc>
                <a:tc>
                  <a:txBody>
                    <a:bodyPr/>
                    <a:lstStyle/>
                    <a:p>
                      <a:pPr marL="0" indent="0" algn="ctr">
                        <a:buNone/>
                      </a:pPr>
                      <a:r>
                        <a:rPr lang="en-US" sz="1000" b="1" dirty="0">
                          <a:solidFill>
                            <a:srgbClr val="FFFFFF"/>
                          </a:solidFill>
                        </a:rPr>
                        <a:t>High</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D9488"/>
                    </a:solidFill>
                  </a:tcPr>
                </a:tc>
                <a:tc>
                  <a:txBody>
                    <a:bodyPr/>
                    <a:lstStyle/>
                    <a:p>
                      <a:pPr marL="0" indent="0" algn="ctr">
                        <a:buNone/>
                      </a:pPr>
                      <a:r>
                        <a:rPr lang="en-US" sz="1000" b="1" dirty="0">
                          <a:solidFill>
                            <a:srgbClr val="FFFFFF"/>
                          </a:solidFill>
                        </a:rPr>
                        <a:t>Med</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A24C"/>
                    </a:solidFill>
                  </a:tcPr>
                </a:tc>
                <a:tc>
                  <a:txBody>
                    <a:bodyPr/>
                    <a:lstStyle/>
                    <a:p>
                      <a:pPr marL="0" indent="0" algn="ctr">
                        <a:buNone/>
                      </a:pPr>
                      <a:r>
                        <a:rPr lang="en-US" sz="1000" b="1" dirty="0">
                          <a:solidFill>
                            <a:srgbClr val="FFFFFF"/>
                          </a:solidFill>
                        </a:rPr>
                        <a:t>High</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D9488"/>
                    </a:solidFill>
                  </a:tcPr>
                </a:tc>
                <a:tc>
                  <a:txBody>
                    <a:bodyPr/>
                    <a:lstStyle/>
                    <a:p>
                      <a:pPr marL="0" indent="0" algn="ctr">
                        <a:buNone/>
                      </a:pPr>
                      <a:r>
                        <a:rPr lang="en-US" sz="1000" dirty="0">
                          <a:solidFill>
                            <a:srgbClr val="0B1F3A"/>
                          </a:solidFill>
                        </a:rPr>
                        <a:t>Low</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E5E5"/>
                    </a:solidFill>
                  </a:tcPr>
                </a:tc>
                <a:extLst>
                  <a:ext uri="{0D108BD9-81ED-4DB2-BD59-A6C34878D82A}">
                    <a16:rowId xmlns:a16="http://schemas.microsoft.com/office/drawing/2014/main" val="10003"/>
                  </a:ext>
                </a:extLst>
              </a:tr>
              <a:tr h="457200">
                <a:tc>
                  <a:txBody>
                    <a:bodyPr/>
                    <a:lstStyle/>
                    <a:p>
                      <a:pPr marL="0" indent="0" algn="l">
                        <a:buNone/>
                      </a:pPr>
                      <a:r>
                        <a:rPr lang="en-US" sz="1050" b="1" dirty="0">
                          <a:solidFill>
                            <a:srgbClr val="0B1F3A"/>
                          </a:solidFill>
                          <a:latin typeface="Calibri" pitchFamily="34" charset="0"/>
                          <a:ea typeface="Calibri" pitchFamily="34" charset="-122"/>
                          <a:cs typeface="Calibri" pitchFamily="34" charset="-120"/>
                        </a:rPr>
                        <a:t>Computer vision for forensics</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1EC"/>
                    </a:solidFill>
                  </a:tcPr>
                </a:tc>
                <a:tc>
                  <a:txBody>
                    <a:bodyPr/>
                    <a:lstStyle/>
                    <a:p>
                      <a:pPr marL="0" indent="0" algn="ctr">
                        <a:buNone/>
                      </a:pPr>
                      <a:r>
                        <a:rPr lang="en-US" sz="1000" b="1" dirty="0">
                          <a:solidFill>
                            <a:srgbClr val="FFFFFF"/>
                          </a:solidFill>
                        </a:rPr>
                        <a:t>High</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D9488"/>
                    </a:solidFill>
                  </a:tcPr>
                </a:tc>
                <a:tc>
                  <a:txBody>
                    <a:bodyPr/>
                    <a:lstStyle/>
                    <a:p>
                      <a:pPr marL="0" indent="0" algn="ctr">
                        <a:buNone/>
                      </a:pPr>
                      <a:r>
                        <a:rPr lang="en-US" sz="1000" b="1" dirty="0">
                          <a:solidFill>
                            <a:srgbClr val="FFFFFF"/>
                          </a:solidFill>
                        </a:rPr>
                        <a:t>High</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D9488"/>
                    </a:solidFill>
                  </a:tcPr>
                </a:tc>
                <a:tc>
                  <a:txBody>
                    <a:bodyPr/>
                    <a:lstStyle/>
                    <a:p>
                      <a:pPr marL="0" indent="0" algn="ctr">
                        <a:buNone/>
                      </a:pPr>
                      <a:r>
                        <a:rPr lang="en-US" sz="1000" b="1" dirty="0">
                          <a:solidFill>
                            <a:srgbClr val="FFFFFF"/>
                          </a:solidFill>
                        </a:rPr>
                        <a:t>High</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D9488"/>
                    </a:solidFill>
                  </a:tcPr>
                </a:tc>
                <a:tc>
                  <a:txBody>
                    <a:bodyPr/>
                    <a:lstStyle/>
                    <a:p>
                      <a:pPr marL="0" indent="0" algn="ctr">
                        <a:buNone/>
                      </a:pPr>
                      <a:r>
                        <a:rPr lang="en-US" sz="1000" b="1" dirty="0">
                          <a:solidFill>
                            <a:srgbClr val="FFFFFF"/>
                          </a:solidFill>
                        </a:rPr>
                        <a:t>Med</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A24C"/>
                    </a:solidFill>
                  </a:tcPr>
                </a:tc>
                <a:tc>
                  <a:txBody>
                    <a:bodyPr/>
                    <a:lstStyle/>
                    <a:p>
                      <a:pPr marL="0" indent="0" algn="ctr">
                        <a:buNone/>
                      </a:pPr>
                      <a:r>
                        <a:rPr lang="en-US" sz="1000" b="1" dirty="0">
                          <a:solidFill>
                            <a:srgbClr val="FFFFFF"/>
                          </a:solidFill>
                        </a:rPr>
                        <a:t>Med</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A24C"/>
                    </a:solidFill>
                  </a:tcPr>
                </a:tc>
                <a:extLst>
                  <a:ext uri="{0D108BD9-81ED-4DB2-BD59-A6C34878D82A}">
                    <a16:rowId xmlns:a16="http://schemas.microsoft.com/office/drawing/2014/main" val="10004"/>
                  </a:ext>
                </a:extLst>
              </a:tr>
              <a:tr h="457200">
                <a:tc>
                  <a:txBody>
                    <a:bodyPr/>
                    <a:lstStyle/>
                    <a:p>
                      <a:pPr marL="0" indent="0" algn="l">
                        <a:buNone/>
                      </a:pPr>
                      <a:r>
                        <a:rPr lang="en-US" sz="1050" b="1" dirty="0">
                          <a:solidFill>
                            <a:srgbClr val="0B1F3A"/>
                          </a:solidFill>
                          <a:latin typeface="Calibri" pitchFamily="34" charset="0"/>
                          <a:ea typeface="Calibri" pitchFamily="34" charset="-122"/>
                          <a:cs typeface="Calibri" pitchFamily="34" charset="-120"/>
                        </a:rPr>
                        <a:t>Predictive ageing / shelf-life</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1EC"/>
                    </a:solidFill>
                  </a:tcPr>
                </a:tc>
                <a:tc>
                  <a:txBody>
                    <a:bodyPr/>
                    <a:lstStyle/>
                    <a:p>
                      <a:pPr marL="0" indent="0" algn="ctr">
                        <a:buNone/>
                      </a:pPr>
                      <a:r>
                        <a:rPr lang="en-US" sz="1000" b="1" dirty="0">
                          <a:solidFill>
                            <a:srgbClr val="FFFFFF"/>
                          </a:solidFill>
                        </a:rPr>
                        <a:t>Med</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A24C"/>
                    </a:solidFill>
                  </a:tcPr>
                </a:tc>
                <a:tc>
                  <a:txBody>
                    <a:bodyPr/>
                    <a:lstStyle/>
                    <a:p>
                      <a:pPr marL="0" indent="0" algn="ctr">
                        <a:buNone/>
                      </a:pPr>
                      <a:r>
                        <a:rPr lang="en-US" sz="1000" b="1" dirty="0">
                          <a:solidFill>
                            <a:srgbClr val="FFFFFF"/>
                          </a:solidFill>
                        </a:rPr>
                        <a:t>High</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D9488"/>
                    </a:solidFill>
                  </a:tcPr>
                </a:tc>
                <a:tc>
                  <a:txBody>
                    <a:bodyPr/>
                    <a:lstStyle/>
                    <a:p>
                      <a:pPr marL="0" indent="0" algn="ctr">
                        <a:buNone/>
                      </a:pPr>
                      <a:r>
                        <a:rPr lang="en-US" sz="1000" dirty="0">
                          <a:solidFill>
                            <a:srgbClr val="0B1F3A"/>
                          </a:solidFill>
                        </a:rPr>
                        <a:t>Low</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E5E5"/>
                    </a:solidFill>
                  </a:tcPr>
                </a:tc>
                <a:tc>
                  <a:txBody>
                    <a:bodyPr/>
                    <a:lstStyle/>
                    <a:p>
                      <a:pPr marL="0" indent="0" algn="ctr">
                        <a:buNone/>
                      </a:pPr>
                      <a:r>
                        <a:rPr lang="en-US" sz="1000" b="1" dirty="0">
                          <a:solidFill>
                            <a:srgbClr val="FFFFFF"/>
                          </a:solidFill>
                        </a:rPr>
                        <a:t>High</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D9488"/>
                    </a:solidFill>
                  </a:tcPr>
                </a:tc>
                <a:tc>
                  <a:txBody>
                    <a:bodyPr/>
                    <a:lstStyle/>
                    <a:p>
                      <a:pPr marL="0" indent="0" algn="ctr">
                        <a:buNone/>
                      </a:pPr>
                      <a:r>
                        <a:rPr lang="en-US" sz="1000" b="1" dirty="0">
                          <a:solidFill>
                            <a:srgbClr val="FFFFFF"/>
                          </a:solidFill>
                        </a:rPr>
                        <a:t>Med</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A24C"/>
                    </a:solidFill>
                  </a:tcPr>
                </a:tc>
                <a:extLst>
                  <a:ext uri="{0D108BD9-81ED-4DB2-BD59-A6C34878D82A}">
                    <a16:rowId xmlns:a16="http://schemas.microsoft.com/office/drawing/2014/main" val="10005"/>
                  </a:ext>
                </a:extLst>
              </a:tr>
              <a:tr h="457200">
                <a:tc>
                  <a:txBody>
                    <a:bodyPr/>
                    <a:lstStyle/>
                    <a:p>
                      <a:pPr marL="0" indent="0" algn="l">
                        <a:buNone/>
                      </a:pPr>
                      <a:r>
                        <a:rPr lang="en-US" sz="1050" b="1" dirty="0">
                          <a:solidFill>
                            <a:srgbClr val="0B1F3A"/>
                          </a:solidFill>
                          <a:latin typeface="Calibri" pitchFamily="34" charset="0"/>
                          <a:ea typeface="Calibri" pitchFamily="34" charset="-122"/>
                          <a:cs typeface="Calibri" pitchFamily="34" charset="-120"/>
                        </a:rPr>
                        <a:t>Bayesian DoE / active learning</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1EC"/>
                    </a:solidFill>
                  </a:tcPr>
                </a:tc>
                <a:tc>
                  <a:txBody>
                    <a:bodyPr/>
                    <a:lstStyle/>
                    <a:p>
                      <a:pPr marL="0" indent="0" algn="ctr">
                        <a:buNone/>
                      </a:pPr>
                      <a:r>
                        <a:rPr lang="en-US" sz="1000" b="1" dirty="0">
                          <a:solidFill>
                            <a:srgbClr val="FFFFFF"/>
                          </a:solidFill>
                        </a:rPr>
                        <a:t>Med</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A24C"/>
                    </a:solidFill>
                  </a:tcPr>
                </a:tc>
                <a:tc>
                  <a:txBody>
                    <a:bodyPr/>
                    <a:lstStyle/>
                    <a:p>
                      <a:pPr marL="0" indent="0" algn="ctr">
                        <a:buNone/>
                      </a:pPr>
                      <a:r>
                        <a:rPr lang="en-US" sz="1000" b="1" dirty="0">
                          <a:solidFill>
                            <a:srgbClr val="FFFFFF"/>
                          </a:solidFill>
                        </a:rPr>
                        <a:t>High</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D9488"/>
                    </a:solidFill>
                  </a:tcPr>
                </a:tc>
                <a:tc>
                  <a:txBody>
                    <a:bodyPr/>
                    <a:lstStyle/>
                    <a:p>
                      <a:pPr marL="0" indent="0" algn="ctr">
                        <a:buNone/>
                      </a:pPr>
                      <a:r>
                        <a:rPr lang="en-US" sz="1000" b="1" dirty="0">
                          <a:solidFill>
                            <a:srgbClr val="FFFFFF"/>
                          </a:solidFill>
                        </a:rPr>
                        <a:t>Med</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A24C"/>
                    </a:solidFill>
                  </a:tcPr>
                </a:tc>
                <a:tc>
                  <a:txBody>
                    <a:bodyPr/>
                    <a:lstStyle/>
                    <a:p>
                      <a:pPr marL="0" indent="0" algn="ctr">
                        <a:buNone/>
                      </a:pPr>
                      <a:r>
                        <a:rPr lang="en-US" sz="1000" dirty="0">
                          <a:solidFill>
                            <a:srgbClr val="0B1F3A"/>
                          </a:solidFill>
                        </a:rPr>
                        <a:t>Low</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E5E5"/>
                    </a:solidFill>
                  </a:tcPr>
                </a:tc>
                <a:tc>
                  <a:txBody>
                    <a:bodyPr/>
                    <a:lstStyle/>
                    <a:p>
                      <a:pPr marL="0" indent="0" algn="ctr">
                        <a:buNone/>
                      </a:pPr>
                      <a:r>
                        <a:rPr lang="en-US" sz="1000" b="1" dirty="0">
                          <a:solidFill>
                            <a:srgbClr val="FFFFFF"/>
                          </a:solidFill>
                        </a:rPr>
                        <a:t>Med</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A24C"/>
                    </a:solidFill>
                  </a:tcPr>
                </a:tc>
                <a:extLst>
                  <a:ext uri="{0D108BD9-81ED-4DB2-BD59-A6C34878D82A}">
                    <a16:rowId xmlns:a16="http://schemas.microsoft.com/office/drawing/2014/main" val="10006"/>
                  </a:ext>
                </a:extLst>
              </a:tr>
              <a:tr h="457200">
                <a:tc>
                  <a:txBody>
                    <a:bodyPr/>
                    <a:lstStyle/>
                    <a:p>
                      <a:pPr marL="0" indent="0" algn="l">
                        <a:buNone/>
                      </a:pPr>
                      <a:r>
                        <a:rPr lang="en-US" sz="1050" b="1" dirty="0">
                          <a:solidFill>
                            <a:srgbClr val="0B1F3A"/>
                          </a:solidFill>
                          <a:latin typeface="Calibri" pitchFamily="34" charset="0"/>
                          <a:ea typeface="Calibri" pitchFamily="34" charset="-122"/>
                          <a:cs typeface="Calibri" pitchFamily="34" charset="-120"/>
                        </a:rPr>
                        <a:t>Digital twins of munitions</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1EC"/>
                    </a:solidFill>
                  </a:tcPr>
                </a:tc>
                <a:tc>
                  <a:txBody>
                    <a:bodyPr/>
                    <a:lstStyle/>
                    <a:p>
                      <a:pPr marL="0" indent="0" algn="ctr">
                        <a:buNone/>
                      </a:pPr>
                      <a:r>
                        <a:rPr lang="en-US" sz="1000" dirty="0">
                          <a:solidFill>
                            <a:srgbClr val="0B1F3A"/>
                          </a:solidFill>
                        </a:rPr>
                        <a:t>Low</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E5E5"/>
                    </a:solidFill>
                  </a:tcPr>
                </a:tc>
                <a:tc>
                  <a:txBody>
                    <a:bodyPr/>
                    <a:lstStyle/>
                    <a:p>
                      <a:pPr marL="0" indent="0" algn="ctr">
                        <a:buNone/>
                      </a:pPr>
                      <a:r>
                        <a:rPr lang="en-US" sz="1000" b="1" dirty="0">
                          <a:solidFill>
                            <a:srgbClr val="FFFFFF"/>
                          </a:solidFill>
                        </a:rPr>
                        <a:t>High</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D9488"/>
                    </a:solidFill>
                  </a:tcPr>
                </a:tc>
                <a:tc>
                  <a:txBody>
                    <a:bodyPr/>
                    <a:lstStyle/>
                    <a:p>
                      <a:pPr marL="0" indent="0" algn="ctr">
                        <a:buNone/>
                      </a:pPr>
                      <a:r>
                        <a:rPr lang="en-US" sz="1000" b="1" dirty="0">
                          <a:solidFill>
                            <a:srgbClr val="FFFFFF"/>
                          </a:solidFill>
                        </a:rPr>
                        <a:t>High</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D9488"/>
                    </a:solidFill>
                  </a:tcPr>
                </a:tc>
                <a:tc>
                  <a:txBody>
                    <a:bodyPr/>
                    <a:lstStyle/>
                    <a:p>
                      <a:pPr marL="0" indent="0" algn="ctr">
                        <a:buNone/>
                      </a:pPr>
                      <a:r>
                        <a:rPr lang="en-US" sz="1000" b="1" dirty="0">
                          <a:solidFill>
                            <a:srgbClr val="FFFFFF"/>
                          </a:solidFill>
                        </a:rPr>
                        <a:t>Med</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A24C"/>
                    </a:solidFill>
                  </a:tcPr>
                </a:tc>
                <a:tc>
                  <a:txBody>
                    <a:bodyPr/>
                    <a:lstStyle/>
                    <a:p>
                      <a:pPr marL="0" indent="0" algn="ctr">
                        <a:buNone/>
                      </a:pPr>
                      <a:r>
                        <a:rPr lang="en-US" sz="1000" dirty="0">
                          <a:solidFill>
                            <a:srgbClr val="0B1F3A"/>
                          </a:solidFill>
                        </a:rPr>
                        <a:t>Low</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E5E5"/>
                    </a:solidFill>
                  </a:tcPr>
                </a:tc>
                <a:extLst>
                  <a:ext uri="{0D108BD9-81ED-4DB2-BD59-A6C34878D82A}">
                    <a16:rowId xmlns:a16="http://schemas.microsoft.com/office/drawing/2014/main" val="10007"/>
                  </a:ext>
                </a:extLst>
              </a:tr>
              <a:tr h="457200">
                <a:tc>
                  <a:txBody>
                    <a:bodyPr/>
                    <a:lstStyle/>
                    <a:p>
                      <a:pPr marL="0" indent="0" algn="l">
                        <a:buNone/>
                      </a:pPr>
                      <a:r>
                        <a:rPr lang="en-US" sz="1050" b="1" dirty="0">
                          <a:solidFill>
                            <a:srgbClr val="0B1F3A"/>
                          </a:solidFill>
                          <a:latin typeface="Calibri" pitchFamily="34" charset="0"/>
                          <a:ea typeface="Calibri" pitchFamily="34" charset="-122"/>
                          <a:cs typeface="Calibri" pitchFamily="34" charset="-120"/>
                        </a:rPr>
                        <a:t>NLP lessons-learned mining</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1EC"/>
                    </a:solidFill>
                  </a:tcPr>
                </a:tc>
                <a:tc>
                  <a:txBody>
                    <a:bodyPr/>
                    <a:lstStyle/>
                    <a:p>
                      <a:pPr marL="0" indent="0" algn="ctr">
                        <a:buNone/>
                      </a:pPr>
                      <a:r>
                        <a:rPr lang="en-US" sz="1000" b="1" dirty="0">
                          <a:solidFill>
                            <a:srgbClr val="FFFFFF"/>
                          </a:solidFill>
                        </a:rPr>
                        <a:t>High</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D9488"/>
                    </a:solidFill>
                  </a:tcPr>
                </a:tc>
                <a:tc>
                  <a:txBody>
                    <a:bodyPr/>
                    <a:lstStyle/>
                    <a:p>
                      <a:pPr marL="0" indent="0" algn="ctr">
                        <a:buNone/>
                      </a:pPr>
                      <a:r>
                        <a:rPr lang="en-US" sz="1000" b="1" dirty="0">
                          <a:solidFill>
                            <a:srgbClr val="FFFFFF"/>
                          </a:solidFill>
                        </a:rPr>
                        <a:t>Med</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A24C"/>
                    </a:solidFill>
                  </a:tcPr>
                </a:tc>
                <a:tc>
                  <a:txBody>
                    <a:bodyPr/>
                    <a:lstStyle/>
                    <a:p>
                      <a:pPr marL="0" indent="0" algn="ctr">
                        <a:buNone/>
                      </a:pPr>
                      <a:r>
                        <a:rPr lang="en-US" sz="1000" dirty="0">
                          <a:solidFill>
                            <a:srgbClr val="0B1F3A"/>
                          </a:solidFill>
                        </a:rPr>
                        <a:t>Low</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E5E5"/>
                    </a:solidFill>
                  </a:tcPr>
                </a:tc>
                <a:tc>
                  <a:txBody>
                    <a:bodyPr/>
                    <a:lstStyle/>
                    <a:p>
                      <a:pPr marL="0" indent="0" algn="ctr">
                        <a:buNone/>
                      </a:pPr>
                      <a:r>
                        <a:rPr lang="en-US" sz="1000" dirty="0">
                          <a:solidFill>
                            <a:srgbClr val="0B1F3A"/>
                          </a:solidFill>
                        </a:rPr>
                        <a:t>Low</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E5E5"/>
                    </a:solidFill>
                  </a:tcPr>
                </a:tc>
                <a:tc>
                  <a:txBody>
                    <a:bodyPr/>
                    <a:lstStyle/>
                    <a:p>
                      <a:pPr marL="0" indent="0" algn="ctr">
                        <a:buNone/>
                      </a:pPr>
                      <a:r>
                        <a:rPr lang="en-US" sz="1000" b="1" dirty="0">
                          <a:solidFill>
                            <a:srgbClr val="FFFFFF"/>
                          </a:solidFill>
                        </a:rPr>
                        <a:t>High</a:t>
                      </a:r>
                      <a:endParaRPr lang="en-US" sz="10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D9488"/>
                    </a:solidFill>
                  </a:tcPr>
                </a:tc>
                <a:extLst>
                  <a:ext uri="{0D108BD9-81ED-4DB2-BD59-A6C34878D82A}">
                    <a16:rowId xmlns:a16="http://schemas.microsoft.com/office/drawing/2014/main" val="10008"/>
                  </a:ext>
                </a:extLst>
              </a:tr>
            </a:tbl>
          </a:graphicData>
        </a:graphic>
      </p:graphicFrame>
      <p:sp>
        <p:nvSpPr>
          <p:cNvPr id="7" name="Shape 4"/>
          <p:cNvSpPr/>
          <p:nvPr/>
        </p:nvSpPr>
        <p:spPr>
          <a:xfrm>
            <a:off x="548640" y="6035040"/>
            <a:ext cx="11155680" cy="457200"/>
          </a:xfrm>
          <a:prstGeom prst="rect">
            <a:avLst/>
          </a:prstGeom>
          <a:solidFill>
            <a:srgbClr val="0B1F3A"/>
          </a:solidFill>
          <a:ln/>
        </p:spPr>
        <p:txBody>
          <a:bodyPr/>
          <a:lstStyle/>
          <a:p>
            <a:endParaRPr lang="en-US"/>
          </a:p>
        </p:txBody>
      </p:sp>
      <p:sp>
        <p:nvSpPr>
          <p:cNvPr id="8" name="Shape 5"/>
          <p:cNvSpPr/>
          <p:nvPr/>
        </p:nvSpPr>
        <p:spPr>
          <a:xfrm>
            <a:off x="777240" y="6144768"/>
            <a:ext cx="228600" cy="228600"/>
          </a:xfrm>
          <a:prstGeom prst="rect">
            <a:avLst/>
          </a:prstGeom>
          <a:solidFill>
            <a:srgbClr val="0D9488"/>
          </a:solidFill>
          <a:ln/>
        </p:spPr>
        <p:txBody>
          <a:bodyPr/>
          <a:lstStyle/>
          <a:p>
            <a:endParaRPr lang="en-US"/>
          </a:p>
        </p:txBody>
      </p:sp>
      <p:sp>
        <p:nvSpPr>
          <p:cNvPr id="9" name="Text 6"/>
          <p:cNvSpPr/>
          <p:nvPr/>
        </p:nvSpPr>
        <p:spPr>
          <a:xfrm>
            <a:off x="1051560" y="6108192"/>
            <a:ext cx="2103120" cy="30175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High value — deploy first</a:t>
            </a:r>
            <a:endParaRPr lang="en-US" sz="1100" dirty="0"/>
          </a:p>
        </p:txBody>
      </p:sp>
      <p:sp>
        <p:nvSpPr>
          <p:cNvPr id="10" name="Shape 7"/>
          <p:cNvSpPr/>
          <p:nvPr/>
        </p:nvSpPr>
        <p:spPr>
          <a:xfrm>
            <a:off x="3703320" y="6144768"/>
            <a:ext cx="228600" cy="228600"/>
          </a:xfrm>
          <a:prstGeom prst="rect">
            <a:avLst/>
          </a:prstGeom>
          <a:solidFill>
            <a:srgbClr val="D4A24C"/>
          </a:solidFill>
          <a:ln/>
        </p:spPr>
        <p:txBody>
          <a:bodyPr/>
          <a:lstStyle/>
          <a:p>
            <a:endParaRPr lang="en-US"/>
          </a:p>
        </p:txBody>
      </p:sp>
      <p:sp>
        <p:nvSpPr>
          <p:cNvPr id="6" name="Text 8"/>
          <p:cNvSpPr/>
          <p:nvPr/>
        </p:nvSpPr>
        <p:spPr>
          <a:xfrm>
            <a:off x="3977640" y="6108192"/>
            <a:ext cx="2103120" cy="30175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Medium value — near-term</a:t>
            </a:r>
            <a:endParaRPr lang="en-US" sz="1100" dirty="0"/>
          </a:p>
        </p:txBody>
      </p:sp>
      <p:sp>
        <p:nvSpPr>
          <p:cNvPr id="12" name="Shape 9"/>
          <p:cNvSpPr/>
          <p:nvPr/>
        </p:nvSpPr>
        <p:spPr>
          <a:xfrm>
            <a:off x="6629400" y="6144768"/>
            <a:ext cx="228600" cy="228600"/>
          </a:xfrm>
          <a:prstGeom prst="rect">
            <a:avLst/>
          </a:prstGeom>
          <a:solidFill>
            <a:srgbClr val="E5E5E5"/>
          </a:solidFill>
          <a:ln/>
        </p:spPr>
        <p:txBody>
          <a:bodyPr/>
          <a:lstStyle/>
          <a:p>
            <a:endParaRPr lang="en-US"/>
          </a:p>
        </p:txBody>
      </p:sp>
      <p:sp>
        <p:nvSpPr>
          <p:cNvPr id="13" name="Text 10"/>
          <p:cNvSpPr/>
          <p:nvPr/>
        </p:nvSpPr>
        <p:spPr>
          <a:xfrm>
            <a:off x="6903720" y="6108192"/>
            <a:ext cx="2103120" cy="30175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Low value — situational</a:t>
            </a:r>
            <a:endParaRPr lang="en-US" sz="1100" dirty="0"/>
          </a:p>
        </p:txBody>
      </p:sp>
      <p:sp>
        <p:nvSpPr>
          <p:cNvPr id="14" name="Text 11"/>
          <p:cNvSpPr/>
          <p:nvPr/>
        </p:nvSpPr>
        <p:spPr>
          <a:xfrm>
            <a:off x="9144000" y="6108192"/>
            <a:ext cx="2560320" cy="301752"/>
          </a:xfrm>
          <a:prstGeom prst="rect">
            <a:avLst/>
          </a:prstGeom>
          <a:noFill/>
          <a:ln/>
        </p:spPr>
        <p:txBody>
          <a:bodyPr wrap="square" lIns="0" tIns="0" rIns="0" bIns="0" rtlCol="0" anchor="ctr"/>
          <a:lstStyle/>
          <a:p>
            <a:pPr marL="0" indent="0" algn="r">
              <a:buNone/>
            </a:pPr>
            <a:r>
              <a:rPr lang="en-US" sz="1000" i="1" dirty="0">
                <a:solidFill>
                  <a:srgbClr val="F4F1EC"/>
                </a:solidFill>
                <a:latin typeface="Calibri" pitchFamily="34" charset="0"/>
                <a:ea typeface="Calibri" pitchFamily="34" charset="-122"/>
                <a:cs typeface="Calibri" pitchFamily="34" charset="-120"/>
              </a:rPr>
              <a:t>Values are initial editorial judgements for alignment workshops.</a:t>
            </a:r>
            <a:endParaRPr lang="en-US" sz="1000" dirty="0"/>
          </a:p>
        </p:txBody>
      </p:sp>
      <p:sp>
        <p:nvSpPr>
          <p:cNvPr id="15" name="Shape 12"/>
          <p:cNvSpPr/>
          <p:nvPr/>
        </p:nvSpPr>
        <p:spPr>
          <a:xfrm>
            <a:off x="0" y="6537960"/>
            <a:ext cx="12191695" cy="320040"/>
          </a:xfrm>
          <a:prstGeom prst="rect">
            <a:avLst/>
          </a:prstGeom>
          <a:solidFill>
            <a:srgbClr val="0B1F3A"/>
          </a:solidFill>
          <a:ln/>
        </p:spPr>
        <p:txBody>
          <a:bodyPr/>
          <a:lstStyle/>
          <a:p>
            <a:endParaRPr lang="en-US"/>
          </a:p>
        </p:txBody>
      </p:sp>
      <p:sp>
        <p:nvSpPr>
          <p:cNvPr id="16" name="Text 13"/>
          <p:cNvSpPr/>
          <p:nvPr/>
        </p:nvSpPr>
        <p:spPr>
          <a:xfrm>
            <a:off x="365760" y="6547104"/>
            <a:ext cx="8229600" cy="301752"/>
          </a:xfrm>
          <a:prstGeom prst="rect">
            <a:avLst/>
          </a:prstGeom>
          <a:noFill/>
          <a:ln/>
        </p:spPr>
        <p:txBody>
          <a:bodyPr wrap="square" lIns="0" tIns="0" rIns="0" bIns="0" rtlCol="0" anchor="ctr"/>
          <a:lstStyle/>
          <a:p>
            <a:pPr marL="0" indent="0">
              <a:buNone/>
            </a:pPr>
            <a:r>
              <a:rPr lang="en-US" sz="900" dirty="0">
                <a:solidFill>
                  <a:srgbClr val="F4F1EC"/>
                </a:solidFill>
                <a:latin typeface="Calibri" pitchFamily="34" charset="0"/>
                <a:ea typeface="Calibri" pitchFamily="34" charset="-122"/>
                <a:cs typeface="Calibri" pitchFamily="34" charset="-120"/>
              </a:rPr>
              <a:t>UNCLASSIFIED  |  UK MOD  |  Testing AI with AI  |  April 2026</a:t>
            </a:r>
            <a:endParaRPr lang="en-US" sz="900" dirty="0"/>
          </a:p>
        </p:txBody>
      </p:sp>
      <p:sp>
        <p:nvSpPr>
          <p:cNvPr id="17" name="Text 14"/>
          <p:cNvSpPr/>
          <p:nvPr/>
        </p:nvSpPr>
        <p:spPr>
          <a:xfrm>
            <a:off x="11094415" y="6547104"/>
            <a:ext cx="731520" cy="301752"/>
          </a:xfrm>
          <a:prstGeom prst="rect">
            <a:avLst/>
          </a:prstGeom>
          <a:noFill/>
          <a:ln/>
        </p:spPr>
        <p:txBody>
          <a:bodyPr wrap="square" lIns="0" tIns="0" rIns="0" bIns="0" rtlCol="0" anchor="ctr"/>
          <a:lstStyle/>
          <a:p>
            <a:pPr marL="0" indent="0" algn="r">
              <a:buNone/>
            </a:pPr>
            <a:r>
              <a:rPr lang="en-US" sz="900" dirty="0">
                <a:solidFill>
                  <a:srgbClr val="F4F1EC"/>
                </a:solidFill>
                <a:latin typeface="Calibri" pitchFamily="34" charset="0"/>
                <a:ea typeface="Calibri" pitchFamily="34" charset="-122"/>
                <a:cs typeface="Calibri" pitchFamily="34" charset="-120"/>
              </a:rPr>
              <a:t>10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D9488"/>
          </a:solidFill>
          <a:ln/>
        </p:spPr>
        <p:txBody>
          <a:bodyPr/>
          <a:lstStyle/>
          <a:p>
            <a:endParaRPr lang="en-US"/>
          </a:p>
        </p:txBody>
      </p:sp>
      <p:sp>
        <p:nvSpPr>
          <p:cNvPr id="3" name="Text 1"/>
          <p:cNvSpPr/>
          <p:nvPr/>
        </p:nvSpPr>
        <p:spPr>
          <a:xfrm>
            <a:off x="548640" y="320040"/>
            <a:ext cx="10972800" cy="320040"/>
          </a:xfrm>
          <a:prstGeom prst="rect">
            <a:avLst/>
          </a:prstGeom>
          <a:noFill/>
          <a:ln/>
        </p:spPr>
        <p:txBody>
          <a:bodyPr wrap="square" lIns="0" tIns="0" rIns="0" bIns="0" rtlCol="0" anchor="ctr"/>
          <a:lstStyle/>
          <a:p>
            <a:pPr marL="0" indent="0">
              <a:buNone/>
            </a:pPr>
            <a:r>
              <a:rPr lang="en-US" sz="1100" b="1" kern="0" spc="600" dirty="0">
                <a:solidFill>
                  <a:srgbClr val="0D9488"/>
                </a:solidFill>
                <a:latin typeface="Calibri" pitchFamily="34" charset="0"/>
                <a:ea typeface="Calibri" pitchFamily="34" charset="-122"/>
                <a:cs typeface="Calibri" pitchFamily="34" charset="-120"/>
              </a:rPr>
              <a:t>ROADMAP</a:t>
            </a:r>
            <a:endParaRPr lang="en-US" sz="1100" dirty="0"/>
          </a:p>
        </p:txBody>
      </p:sp>
      <p:sp>
        <p:nvSpPr>
          <p:cNvPr id="4" name="Text 2"/>
          <p:cNvSpPr/>
          <p:nvPr/>
        </p:nvSpPr>
        <p:spPr>
          <a:xfrm>
            <a:off x="548640" y="640080"/>
            <a:ext cx="11155680" cy="777240"/>
          </a:xfrm>
          <a:prstGeom prst="rect">
            <a:avLst/>
          </a:prstGeom>
          <a:noFill/>
          <a:ln/>
        </p:spPr>
        <p:txBody>
          <a:bodyPr wrap="square" lIns="0" tIns="0" rIns="0" bIns="0" rtlCol="0" anchor="ctr"/>
          <a:lstStyle/>
          <a:p>
            <a:pPr marL="0" indent="0">
              <a:buNone/>
            </a:pPr>
            <a:r>
              <a:rPr lang="en-US" sz="3000" b="1" dirty="0">
                <a:solidFill>
                  <a:srgbClr val="0B1F3A"/>
                </a:solidFill>
                <a:latin typeface="Georgia" pitchFamily="34" charset="0"/>
                <a:ea typeface="Georgia" pitchFamily="34" charset="-122"/>
                <a:cs typeface="Georgia" pitchFamily="34" charset="-120"/>
              </a:rPr>
              <a:t>A phased five-year testing-AI-with-AI programme</a:t>
            </a:r>
            <a:endParaRPr lang="en-US" sz="3000" dirty="0"/>
          </a:p>
        </p:txBody>
      </p:sp>
      <p:sp>
        <p:nvSpPr>
          <p:cNvPr id="5" name="Shape 3"/>
          <p:cNvSpPr/>
          <p:nvPr/>
        </p:nvSpPr>
        <p:spPr>
          <a:xfrm>
            <a:off x="548640" y="1508760"/>
            <a:ext cx="822960" cy="36576"/>
          </a:xfrm>
          <a:prstGeom prst="rect">
            <a:avLst/>
          </a:prstGeom>
          <a:solidFill>
            <a:srgbClr val="0D9488"/>
          </a:solidFill>
          <a:ln/>
        </p:spPr>
        <p:txBody>
          <a:bodyPr/>
          <a:lstStyle/>
          <a:p>
            <a:endParaRPr lang="en-US"/>
          </a:p>
        </p:txBody>
      </p:sp>
      <p:sp>
        <p:nvSpPr>
          <p:cNvPr id="6" name="Shape 4"/>
          <p:cNvSpPr/>
          <p:nvPr/>
        </p:nvSpPr>
        <p:spPr>
          <a:xfrm>
            <a:off x="548640" y="1828800"/>
            <a:ext cx="3657600" cy="4389120"/>
          </a:xfrm>
          <a:prstGeom prst="rect">
            <a:avLst/>
          </a:prstGeom>
          <a:solidFill>
            <a:srgbClr val="FFFFFF"/>
          </a:solidFill>
          <a:ln w="6350">
            <a:solidFill>
              <a:srgbClr val="E5E5E5"/>
            </a:solidFill>
            <a:prstDash val="solid"/>
          </a:ln>
          <a:effectLst>
            <a:outerShdw blurRad="101600" dist="25400" dir="5400000" algn="bl" rotWithShape="0">
              <a:srgbClr val="000000">
                <a:alpha val="10000"/>
              </a:srgbClr>
            </a:outerShdw>
          </a:effectLst>
        </p:spPr>
        <p:txBody>
          <a:bodyPr/>
          <a:lstStyle/>
          <a:p>
            <a:endParaRPr lang="en-US"/>
          </a:p>
        </p:txBody>
      </p:sp>
      <p:sp>
        <p:nvSpPr>
          <p:cNvPr id="7" name="Shape 5"/>
          <p:cNvSpPr/>
          <p:nvPr/>
        </p:nvSpPr>
        <p:spPr>
          <a:xfrm>
            <a:off x="548640" y="1828800"/>
            <a:ext cx="3657600" cy="822960"/>
          </a:xfrm>
          <a:prstGeom prst="rect">
            <a:avLst/>
          </a:prstGeom>
          <a:solidFill>
            <a:srgbClr val="0D9488"/>
          </a:solidFill>
          <a:ln/>
        </p:spPr>
        <p:txBody>
          <a:bodyPr/>
          <a:lstStyle/>
          <a:p>
            <a:endParaRPr lang="en-US"/>
          </a:p>
        </p:txBody>
      </p:sp>
      <p:sp>
        <p:nvSpPr>
          <p:cNvPr id="8" name="Text 6"/>
          <p:cNvSpPr/>
          <p:nvPr/>
        </p:nvSpPr>
        <p:spPr>
          <a:xfrm>
            <a:off x="777240" y="1920240"/>
            <a:ext cx="3200400" cy="365760"/>
          </a:xfrm>
          <a:prstGeom prst="rect">
            <a:avLst/>
          </a:prstGeom>
          <a:noFill/>
          <a:ln/>
        </p:spPr>
        <p:txBody>
          <a:bodyPr wrap="square" lIns="0" tIns="0" rIns="0" bIns="0" rtlCol="0" anchor="ctr"/>
          <a:lstStyle/>
          <a:p>
            <a:pPr marL="0" indent="0">
              <a:buNone/>
            </a:pPr>
            <a:r>
              <a:rPr lang="en-US" sz="1200" b="1" kern="0" spc="500" dirty="0">
                <a:solidFill>
                  <a:srgbClr val="FFFFFF"/>
                </a:solidFill>
                <a:latin typeface="Calibri" pitchFamily="34" charset="0"/>
                <a:ea typeface="Calibri" pitchFamily="34" charset="-122"/>
                <a:cs typeface="Calibri" pitchFamily="34" charset="-120"/>
              </a:rPr>
              <a:t>IMMEDIATE</a:t>
            </a:r>
            <a:endParaRPr lang="en-US" sz="1200" dirty="0"/>
          </a:p>
        </p:txBody>
      </p:sp>
      <p:sp>
        <p:nvSpPr>
          <p:cNvPr id="9" name="Text 7"/>
          <p:cNvSpPr/>
          <p:nvPr/>
        </p:nvSpPr>
        <p:spPr>
          <a:xfrm>
            <a:off x="777240" y="2240280"/>
            <a:ext cx="3200400" cy="36576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1–2 years</a:t>
            </a:r>
            <a:endParaRPr lang="en-US" sz="2000" dirty="0"/>
          </a:p>
        </p:txBody>
      </p:sp>
      <p:sp>
        <p:nvSpPr>
          <p:cNvPr id="10" name="Text 8"/>
          <p:cNvSpPr/>
          <p:nvPr/>
        </p:nvSpPr>
        <p:spPr>
          <a:xfrm>
            <a:off x="822960" y="2834640"/>
            <a:ext cx="3108960" cy="32918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0B1F3A"/>
                </a:solidFill>
                <a:latin typeface="Calibri" pitchFamily="34" charset="0"/>
                <a:ea typeface="Calibri" pitchFamily="34" charset="-122"/>
                <a:cs typeface="Calibri" pitchFamily="34" charset="-120"/>
              </a:rPr>
              <a:t>LLM-based GSN critique pilot on one live weapons-qualification programme</a:t>
            </a:r>
            <a:endParaRPr lang="en-US" sz="1100" dirty="0"/>
          </a:p>
          <a:p>
            <a:pPr marL="342900" indent="-342900">
              <a:spcAft>
                <a:spcPts val="500"/>
              </a:spcAft>
              <a:buSzPct val="100000"/>
              <a:buChar char="•"/>
            </a:pPr>
            <a:r>
              <a:rPr lang="en-US" sz="1100" dirty="0">
                <a:solidFill>
                  <a:srgbClr val="0B1F3A"/>
                </a:solidFill>
                <a:latin typeface="Calibri" pitchFamily="34" charset="0"/>
                <a:ea typeface="Calibri" pitchFamily="34" charset="-122"/>
                <a:cs typeface="Calibri" pitchFamily="34" charset="-120"/>
              </a:rPr>
              <a:t>Drift monitoring stood up on deployed anomaly-detection models</a:t>
            </a:r>
            <a:endParaRPr lang="en-US" sz="1100" dirty="0"/>
          </a:p>
          <a:p>
            <a:pPr marL="342900" indent="-342900">
              <a:spcAft>
                <a:spcPts val="500"/>
              </a:spcAft>
              <a:buSzPct val="100000"/>
              <a:buChar char="•"/>
            </a:pPr>
            <a:r>
              <a:rPr lang="en-US" sz="1100" dirty="0">
                <a:solidFill>
                  <a:srgbClr val="0B1F3A"/>
                </a:solidFill>
                <a:latin typeface="Calibri" pitchFamily="34" charset="0"/>
                <a:ea typeface="Calibri" pitchFamily="34" charset="-122"/>
                <a:cs typeface="Calibri" pitchFamily="34" charset="-120"/>
              </a:rPr>
              <a:t>Synthetic data PoC for computer-vision fragmentation testing</a:t>
            </a:r>
            <a:endParaRPr lang="en-US" sz="1100" dirty="0"/>
          </a:p>
          <a:p>
            <a:pPr marL="342900" indent="-342900">
              <a:spcAft>
                <a:spcPts val="500"/>
              </a:spcAft>
              <a:buSzPct val="100000"/>
              <a:buChar char="•"/>
            </a:pPr>
            <a:r>
              <a:rPr lang="en-US" sz="1100" dirty="0">
                <a:solidFill>
                  <a:srgbClr val="0B1F3A"/>
                </a:solidFill>
                <a:latin typeface="Calibri" pitchFamily="34" charset="0"/>
                <a:ea typeface="Calibri" pitchFamily="34" charset="-122"/>
                <a:cs typeface="Calibri" pitchFamily="34" charset="-120"/>
              </a:rPr>
              <a:t>Adversarial-robustness CI pipeline for pilot CV classifier</a:t>
            </a:r>
            <a:endParaRPr lang="en-US" sz="1100" dirty="0"/>
          </a:p>
          <a:p>
            <a:pPr marL="342900" indent="-342900">
              <a:spcAft>
                <a:spcPts val="500"/>
              </a:spcAft>
              <a:buSzPct val="100000"/>
              <a:buChar char="•"/>
            </a:pPr>
            <a:r>
              <a:rPr lang="en-US" sz="1100" dirty="0">
                <a:solidFill>
                  <a:srgbClr val="0B1F3A"/>
                </a:solidFill>
                <a:latin typeface="Calibri" pitchFamily="34" charset="0"/>
                <a:ea typeface="Calibri" pitchFamily="34" charset="-122"/>
                <a:cs typeface="Calibri" pitchFamily="34" charset="-120"/>
              </a:rPr>
              <a:t>AI Test Assurance Cell (Dstl + DAIC + York CfAA) established</a:t>
            </a:r>
            <a:endParaRPr lang="en-US" sz="1100" dirty="0"/>
          </a:p>
        </p:txBody>
      </p:sp>
      <p:sp>
        <p:nvSpPr>
          <p:cNvPr id="11" name="Shape 9"/>
          <p:cNvSpPr/>
          <p:nvPr/>
        </p:nvSpPr>
        <p:spPr>
          <a:xfrm>
            <a:off x="4325112" y="1828800"/>
            <a:ext cx="3657600" cy="4389120"/>
          </a:xfrm>
          <a:prstGeom prst="rect">
            <a:avLst/>
          </a:prstGeom>
          <a:solidFill>
            <a:srgbClr val="FFFFFF"/>
          </a:solidFill>
          <a:ln w="6350">
            <a:solidFill>
              <a:srgbClr val="E5E5E5"/>
            </a:solidFill>
            <a:prstDash val="solid"/>
          </a:ln>
          <a:effectLst>
            <a:outerShdw blurRad="101600" dist="25400" dir="5400000" algn="bl" rotWithShape="0">
              <a:srgbClr val="000000">
                <a:alpha val="10000"/>
              </a:srgbClr>
            </a:outerShdw>
          </a:effectLst>
        </p:spPr>
        <p:txBody>
          <a:bodyPr/>
          <a:lstStyle/>
          <a:p>
            <a:endParaRPr lang="en-US"/>
          </a:p>
        </p:txBody>
      </p:sp>
      <p:sp>
        <p:nvSpPr>
          <p:cNvPr id="12" name="Shape 10"/>
          <p:cNvSpPr/>
          <p:nvPr/>
        </p:nvSpPr>
        <p:spPr>
          <a:xfrm>
            <a:off x="4325112" y="1828800"/>
            <a:ext cx="3657600" cy="822960"/>
          </a:xfrm>
          <a:prstGeom prst="rect">
            <a:avLst/>
          </a:prstGeom>
          <a:solidFill>
            <a:srgbClr val="14385E"/>
          </a:solidFill>
          <a:ln/>
        </p:spPr>
        <p:txBody>
          <a:bodyPr/>
          <a:lstStyle/>
          <a:p>
            <a:endParaRPr lang="en-US"/>
          </a:p>
        </p:txBody>
      </p:sp>
      <p:sp>
        <p:nvSpPr>
          <p:cNvPr id="13" name="Text 11"/>
          <p:cNvSpPr/>
          <p:nvPr/>
        </p:nvSpPr>
        <p:spPr>
          <a:xfrm>
            <a:off x="4553712" y="1920240"/>
            <a:ext cx="3200400" cy="365760"/>
          </a:xfrm>
          <a:prstGeom prst="rect">
            <a:avLst/>
          </a:prstGeom>
          <a:noFill/>
          <a:ln/>
        </p:spPr>
        <p:txBody>
          <a:bodyPr wrap="square" lIns="0" tIns="0" rIns="0" bIns="0" rtlCol="0" anchor="ctr"/>
          <a:lstStyle/>
          <a:p>
            <a:pPr marL="0" indent="0">
              <a:buNone/>
            </a:pPr>
            <a:r>
              <a:rPr lang="en-US" sz="1200" b="1" kern="0" spc="500" dirty="0">
                <a:solidFill>
                  <a:srgbClr val="FFFFFF"/>
                </a:solidFill>
                <a:latin typeface="Calibri" pitchFamily="34" charset="0"/>
                <a:ea typeface="Calibri" pitchFamily="34" charset="-122"/>
                <a:cs typeface="Calibri" pitchFamily="34" charset="-120"/>
              </a:rPr>
              <a:t>NEAR-TERM</a:t>
            </a:r>
            <a:endParaRPr lang="en-US" sz="1200" dirty="0"/>
          </a:p>
        </p:txBody>
      </p:sp>
      <p:sp>
        <p:nvSpPr>
          <p:cNvPr id="14" name="Text 12"/>
          <p:cNvSpPr/>
          <p:nvPr/>
        </p:nvSpPr>
        <p:spPr>
          <a:xfrm>
            <a:off x="4553712" y="2240280"/>
            <a:ext cx="3200400" cy="36576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2–4 years</a:t>
            </a:r>
            <a:endParaRPr lang="en-US" sz="2000" dirty="0"/>
          </a:p>
        </p:txBody>
      </p:sp>
      <p:sp>
        <p:nvSpPr>
          <p:cNvPr id="15" name="Text 13"/>
          <p:cNvSpPr/>
          <p:nvPr/>
        </p:nvSpPr>
        <p:spPr>
          <a:xfrm>
            <a:off x="4599432" y="2834640"/>
            <a:ext cx="3108960" cy="32918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0B1F3A"/>
                </a:solidFill>
                <a:latin typeface="Calibri" pitchFamily="34" charset="0"/>
                <a:ea typeface="Calibri" pitchFamily="34" charset="-122"/>
                <a:cs typeface="Calibri" pitchFamily="34" charset="-120"/>
              </a:rPr>
              <a:t>Metamorphic testing framework for surrogate / PINN models</a:t>
            </a:r>
            <a:endParaRPr lang="en-US" sz="1100" dirty="0"/>
          </a:p>
          <a:p>
            <a:pPr marL="342900" indent="-342900">
              <a:spcAft>
                <a:spcPts val="500"/>
              </a:spcAft>
              <a:buSzPct val="100000"/>
              <a:buChar char="•"/>
            </a:pPr>
            <a:r>
              <a:rPr lang="en-US" sz="1100" dirty="0">
                <a:solidFill>
                  <a:srgbClr val="0B1F3A"/>
                </a:solidFill>
                <a:latin typeface="Calibri" pitchFamily="34" charset="0"/>
                <a:ea typeface="Calibri" pitchFamily="34" charset="-122"/>
                <a:cs typeface="Calibri" pitchFamily="34" charset="-120"/>
              </a:rPr>
              <a:t>LLM red-team suite integrated into defence AI accreditation</a:t>
            </a:r>
            <a:endParaRPr lang="en-US" sz="1100" dirty="0"/>
          </a:p>
          <a:p>
            <a:pPr marL="342900" indent="-342900">
              <a:spcAft>
                <a:spcPts val="500"/>
              </a:spcAft>
              <a:buSzPct val="100000"/>
              <a:buChar char="•"/>
            </a:pPr>
            <a:r>
              <a:rPr lang="en-US" sz="1100" dirty="0">
                <a:solidFill>
                  <a:srgbClr val="0B1F3A"/>
                </a:solidFill>
                <a:latin typeface="Calibri" pitchFamily="34" charset="0"/>
                <a:ea typeface="Calibri" pitchFamily="34" charset="-122"/>
                <a:cs typeface="Calibri" pitchFamily="34" charset="-120"/>
              </a:rPr>
              <a:t>AMLAS automation: GSN + RTM draft per release, humans approve</a:t>
            </a:r>
            <a:endParaRPr lang="en-US" sz="1100" dirty="0"/>
          </a:p>
          <a:p>
            <a:pPr marL="342900" indent="-342900">
              <a:spcAft>
                <a:spcPts val="500"/>
              </a:spcAft>
              <a:buSzPct val="100000"/>
              <a:buChar char="•"/>
            </a:pPr>
            <a:r>
              <a:rPr lang="en-US" sz="1100" dirty="0">
                <a:solidFill>
                  <a:srgbClr val="0B1F3A"/>
                </a:solidFill>
                <a:latin typeface="Calibri" pitchFamily="34" charset="0"/>
                <a:ea typeface="Calibri" pitchFamily="34" charset="-122"/>
                <a:cs typeface="Calibri" pitchFamily="34" charset="-120"/>
              </a:rPr>
              <a:t>Test-case-generation catalogue across 106 techniques</a:t>
            </a:r>
            <a:endParaRPr lang="en-US" sz="1100" dirty="0"/>
          </a:p>
          <a:p>
            <a:pPr marL="342900" indent="-342900">
              <a:spcAft>
                <a:spcPts val="500"/>
              </a:spcAft>
              <a:buSzPct val="100000"/>
              <a:buChar char="•"/>
            </a:pPr>
            <a:r>
              <a:rPr lang="en-US" sz="1100" dirty="0">
                <a:solidFill>
                  <a:srgbClr val="0B1F3A"/>
                </a:solidFill>
                <a:latin typeface="Calibri" pitchFamily="34" charset="0"/>
                <a:ea typeface="Calibri" pitchFamily="34" charset="-122"/>
                <a:cs typeface="Calibri" pitchFamily="34" charset="-120"/>
              </a:rPr>
              <a:t>Federated synthetic data marketplace across Dstl / MOD partners</a:t>
            </a:r>
            <a:endParaRPr lang="en-US" sz="1100" dirty="0"/>
          </a:p>
        </p:txBody>
      </p:sp>
      <p:sp>
        <p:nvSpPr>
          <p:cNvPr id="16" name="Shape 14"/>
          <p:cNvSpPr/>
          <p:nvPr/>
        </p:nvSpPr>
        <p:spPr>
          <a:xfrm>
            <a:off x="8101584" y="1828800"/>
            <a:ext cx="3657600" cy="4389120"/>
          </a:xfrm>
          <a:prstGeom prst="rect">
            <a:avLst/>
          </a:prstGeom>
          <a:solidFill>
            <a:srgbClr val="FFFFFF"/>
          </a:solidFill>
          <a:ln w="6350">
            <a:solidFill>
              <a:srgbClr val="E5E5E5"/>
            </a:solidFill>
            <a:prstDash val="solid"/>
          </a:ln>
          <a:effectLst>
            <a:outerShdw blurRad="101600" dist="25400" dir="5400000" algn="bl" rotWithShape="0">
              <a:srgbClr val="000000">
                <a:alpha val="10000"/>
              </a:srgbClr>
            </a:outerShdw>
          </a:effectLst>
        </p:spPr>
        <p:txBody>
          <a:bodyPr/>
          <a:lstStyle/>
          <a:p>
            <a:endParaRPr lang="en-US"/>
          </a:p>
        </p:txBody>
      </p:sp>
      <p:sp>
        <p:nvSpPr>
          <p:cNvPr id="17" name="Shape 15"/>
          <p:cNvSpPr/>
          <p:nvPr/>
        </p:nvSpPr>
        <p:spPr>
          <a:xfrm>
            <a:off x="8101584" y="1828800"/>
            <a:ext cx="3657600" cy="822960"/>
          </a:xfrm>
          <a:prstGeom prst="rect">
            <a:avLst/>
          </a:prstGeom>
          <a:solidFill>
            <a:srgbClr val="D4A24C"/>
          </a:solidFill>
          <a:ln/>
        </p:spPr>
        <p:txBody>
          <a:bodyPr/>
          <a:lstStyle/>
          <a:p>
            <a:endParaRPr lang="en-US"/>
          </a:p>
        </p:txBody>
      </p:sp>
      <p:sp>
        <p:nvSpPr>
          <p:cNvPr id="18" name="Text 16"/>
          <p:cNvSpPr/>
          <p:nvPr/>
        </p:nvSpPr>
        <p:spPr>
          <a:xfrm>
            <a:off x="8330184" y="1920240"/>
            <a:ext cx="3200400" cy="365760"/>
          </a:xfrm>
          <a:prstGeom prst="rect">
            <a:avLst/>
          </a:prstGeom>
          <a:noFill/>
          <a:ln/>
        </p:spPr>
        <p:txBody>
          <a:bodyPr wrap="square" lIns="0" tIns="0" rIns="0" bIns="0" rtlCol="0" anchor="ctr"/>
          <a:lstStyle/>
          <a:p>
            <a:pPr marL="0" indent="0">
              <a:buNone/>
            </a:pPr>
            <a:r>
              <a:rPr lang="en-US" sz="1200" b="1" kern="0" spc="500" dirty="0">
                <a:solidFill>
                  <a:srgbClr val="FFFFFF"/>
                </a:solidFill>
                <a:latin typeface="Calibri" pitchFamily="34" charset="0"/>
                <a:ea typeface="Calibri" pitchFamily="34" charset="-122"/>
                <a:cs typeface="Calibri" pitchFamily="34" charset="-120"/>
              </a:rPr>
              <a:t>MEDIUM-TERM</a:t>
            </a:r>
            <a:endParaRPr lang="en-US" sz="1200" dirty="0"/>
          </a:p>
        </p:txBody>
      </p:sp>
      <p:sp>
        <p:nvSpPr>
          <p:cNvPr id="19" name="Text 17"/>
          <p:cNvSpPr/>
          <p:nvPr/>
        </p:nvSpPr>
        <p:spPr>
          <a:xfrm>
            <a:off x="8330184" y="2240280"/>
            <a:ext cx="3200400" cy="36576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4–5+ years</a:t>
            </a:r>
            <a:endParaRPr lang="en-US" sz="2000" dirty="0"/>
          </a:p>
        </p:txBody>
      </p:sp>
      <p:sp>
        <p:nvSpPr>
          <p:cNvPr id="20" name="Text 18"/>
          <p:cNvSpPr/>
          <p:nvPr/>
        </p:nvSpPr>
        <p:spPr>
          <a:xfrm>
            <a:off x="8375904" y="2834640"/>
            <a:ext cx="3108960" cy="32918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0B1F3A"/>
                </a:solidFill>
                <a:latin typeface="Calibri" pitchFamily="34" charset="0"/>
                <a:ea typeface="Calibri" pitchFamily="34" charset="-122"/>
                <a:cs typeface="Calibri" pitchFamily="34" charset="-120"/>
              </a:rPr>
              <a:t>Continuous certification: production telemetry → safety case deltas</a:t>
            </a:r>
            <a:endParaRPr lang="en-US" sz="1100" dirty="0"/>
          </a:p>
          <a:p>
            <a:pPr marL="342900" indent="-342900">
              <a:spcAft>
                <a:spcPts val="500"/>
              </a:spcAft>
              <a:buSzPct val="100000"/>
              <a:buChar char="•"/>
            </a:pPr>
            <a:r>
              <a:rPr lang="en-US" sz="1100" dirty="0">
                <a:solidFill>
                  <a:srgbClr val="0B1F3A"/>
                </a:solidFill>
                <a:latin typeface="Calibri" pitchFamily="34" charset="0"/>
                <a:ea typeface="Calibri" pitchFamily="34" charset="-122"/>
                <a:cs typeface="Calibri" pitchFamily="34" charset="-120"/>
              </a:rPr>
              <a:t>Cross-domain digital-twin test ranges (air / sea / land / cyber)</a:t>
            </a:r>
            <a:endParaRPr lang="en-US" sz="1100" dirty="0"/>
          </a:p>
          <a:p>
            <a:pPr marL="342900" indent="-342900">
              <a:spcAft>
                <a:spcPts val="500"/>
              </a:spcAft>
              <a:buSzPct val="100000"/>
              <a:buChar char="•"/>
            </a:pPr>
            <a:r>
              <a:rPr lang="en-US" sz="1100" dirty="0">
                <a:solidFill>
                  <a:srgbClr val="0B1F3A"/>
                </a:solidFill>
                <a:latin typeface="Calibri" pitchFamily="34" charset="0"/>
                <a:ea typeface="Calibri" pitchFamily="34" charset="-122"/>
                <a:cs typeface="Calibri" pitchFamily="34" charset="-120"/>
              </a:rPr>
              <a:t>Sovereign adversarial-corpus curated with allied partners (AUKUS)</a:t>
            </a:r>
            <a:endParaRPr lang="en-US" sz="1100" dirty="0"/>
          </a:p>
          <a:p>
            <a:pPr marL="342900" indent="-342900">
              <a:spcAft>
                <a:spcPts val="500"/>
              </a:spcAft>
              <a:buSzPct val="100000"/>
              <a:buChar char="•"/>
            </a:pPr>
            <a:r>
              <a:rPr lang="en-US" sz="1100" dirty="0">
                <a:solidFill>
                  <a:srgbClr val="0B1F3A"/>
                </a:solidFill>
                <a:latin typeface="Calibri" pitchFamily="34" charset="0"/>
                <a:ea typeface="Calibri" pitchFamily="34" charset="-122"/>
                <a:cs typeface="Calibri" pitchFamily="34" charset="-120"/>
              </a:rPr>
              <a:t>AI-in-the-loop RAISO tooling under full JSP 936 compliance</a:t>
            </a:r>
            <a:endParaRPr lang="en-US" sz="1100" dirty="0"/>
          </a:p>
          <a:p>
            <a:pPr marL="342900" indent="-342900">
              <a:spcAft>
                <a:spcPts val="500"/>
              </a:spcAft>
              <a:buSzPct val="100000"/>
              <a:buChar char="•"/>
            </a:pPr>
            <a:r>
              <a:rPr lang="en-US" sz="1100" dirty="0">
                <a:solidFill>
                  <a:srgbClr val="0B1F3A"/>
                </a:solidFill>
                <a:latin typeface="Calibri" pitchFamily="34" charset="0"/>
                <a:ea typeface="Calibri" pitchFamily="34" charset="-122"/>
                <a:cs typeface="Calibri" pitchFamily="34" charset="-120"/>
              </a:rPr>
              <a:t>NATO STANAG for AI-augmented T&amp;E co-authored by the UK</a:t>
            </a:r>
            <a:endParaRPr lang="en-US" sz="1100" dirty="0"/>
          </a:p>
        </p:txBody>
      </p:sp>
      <p:sp>
        <p:nvSpPr>
          <p:cNvPr id="21" name="Shape 19"/>
          <p:cNvSpPr/>
          <p:nvPr/>
        </p:nvSpPr>
        <p:spPr>
          <a:xfrm>
            <a:off x="0" y="6537960"/>
            <a:ext cx="12191695" cy="320040"/>
          </a:xfrm>
          <a:prstGeom prst="rect">
            <a:avLst/>
          </a:prstGeom>
          <a:solidFill>
            <a:srgbClr val="0B1F3A"/>
          </a:solidFill>
          <a:ln/>
        </p:spPr>
        <p:txBody>
          <a:bodyPr/>
          <a:lstStyle/>
          <a:p>
            <a:endParaRPr lang="en-US"/>
          </a:p>
        </p:txBody>
      </p:sp>
      <p:sp>
        <p:nvSpPr>
          <p:cNvPr id="22" name="Text 20"/>
          <p:cNvSpPr/>
          <p:nvPr/>
        </p:nvSpPr>
        <p:spPr>
          <a:xfrm>
            <a:off x="365760" y="6547104"/>
            <a:ext cx="8229600" cy="301752"/>
          </a:xfrm>
          <a:prstGeom prst="rect">
            <a:avLst/>
          </a:prstGeom>
          <a:noFill/>
          <a:ln/>
        </p:spPr>
        <p:txBody>
          <a:bodyPr wrap="square" lIns="0" tIns="0" rIns="0" bIns="0" rtlCol="0" anchor="ctr"/>
          <a:lstStyle/>
          <a:p>
            <a:pPr marL="0" indent="0">
              <a:buNone/>
            </a:pPr>
            <a:r>
              <a:rPr lang="en-US" sz="900" dirty="0">
                <a:solidFill>
                  <a:srgbClr val="F4F1EC"/>
                </a:solidFill>
                <a:latin typeface="Calibri" pitchFamily="34" charset="0"/>
                <a:ea typeface="Calibri" pitchFamily="34" charset="-122"/>
                <a:cs typeface="Calibri" pitchFamily="34" charset="-120"/>
              </a:rPr>
              <a:t>UNCLASSIFIED  |  UK MOD  |  Testing AI with AI  |  April 2026</a:t>
            </a:r>
            <a:endParaRPr lang="en-US" sz="900" dirty="0"/>
          </a:p>
        </p:txBody>
      </p:sp>
      <p:sp>
        <p:nvSpPr>
          <p:cNvPr id="23" name="Text 21"/>
          <p:cNvSpPr/>
          <p:nvPr/>
        </p:nvSpPr>
        <p:spPr>
          <a:xfrm>
            <a:off x="11094415" y="6547104"/>
            <a:ext cx="731520" cy="301752"/>
          </a:xfrm>
          <a:prstGeom prst="rect">
            <a:avLst/>
          </a:prstGeom>
          <a:noFill/>
          <a:ln/>
        </p:spPr>
        <p:txBody>
          <a:bodyPr wrap="square" lIns="0" tIns="0" rIns="0" bIns="0" rtlCol="0" anchor="ctr"/>
          <a:lstStyle/>
          <a:p>
            <a:pPr marL="0" indent="0" algn="r">
              <a:buNone/>
            </a:pPr>
            <a:r>
              <a:rPr lang="en-US" sz="900" dirty="0">
                <a:solidFill>
                  <a:srgbClr val="F4F1EC"/>
                </a:solidFill>
                <a:latin typeface="Calibri" pitchFamily="34" charset="0"/>
                <a:ea typeface="Calibri" pitchFamily="34" charset="-122"/>
                <a:cs typeface="Calibri" pitchFamily="34" charset="-120"/>
              </a:rPr>
              <a:t>11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D9488"/>
          </a:solidFill>
          <a:ln/>
        </p:spPr>
        <p:txBody>
          <a:bodyPr/>
          <a:lstStyle/>
          <a:p>
            <a:endParaRPr lang="en-US"/>
          </a:p>
        </p:txBody>
      </p:sp>
      <p:sp>
        <p:nvSpPr>
          <p:cNvPr id="3" name="Text 1"/>
          <p:cNvSpPr/>
          <p:nvPr/>
        </p:nvSpPr>
        <p:spPr>
          <a:xfrm>
            <a:off x="548640" y="320040"/>
            <a:ext cx="10972800" cy="320040"/>
          </a:xfrm>
          <a:prstGeom prst="rect">
            <a:avLst/>
          </a:prstGeom>
          <a:noFill/>
          <a:ln/>
        </p:spPr>
        <p:txBody>
          <a:bodyPr wrap="square" lIns="0" tIns="0" rIns="0" bIns="0" rtlCol="0" anchor="ctr"/>
          <a:lstStyle/>
          <a:p>
            <a:pPr marL="0" indent="0">
              <a:buNone/>
            </a:pPr>
            <a:r>
              <a:rPr lang="en-US" sz="1100" b="1" kern="0" spc="600" dirty="0">
                <a:solidFill>
                  <a:srgbClr val="0D9488"/>
                </a:solidFill>
                <a:latin typeface="Calibri" pitchFamily="34" charset="0"/>
                <a:ea typeface="Calibri" pitchFamily="34" charset="-122"/>
                <a:cs typeface="Calibri" pitchFamily="34" charset="-120"/>
              </a:rPr>
              <a:t>GOVERNANCE</a:t>
            </a:r>
            <a:endParaRPr lang="en-US" sz="1100" dirty="0"/>
          </a:p>
        </p:txBody>
      </p:sp>
      <p:sp>
        <p:nvSpPr>
          <p:cNvPr id="4" name="Text 2"/>
          <p:cNvSpPr/>
          <p:nvPr/>
        </p:nvSpPr>
        <p:spPr>
          <a:xfrm>
            <a:off x="548640" y="640080"/>
            <a:ext cx="11155680" cy="777240"/>
          </a:xfrm>
          <a:prstGeom prst="rect">
            <a:avLst/>
          </a:prstGeom>
          <a:noFill/>
          <a:ln/>
        </p:spPr>
        <p:txBody>
          <a:bodyPr wrap="square" lIns="0" tIns="0" rIns="0" bIns="0" rtlCol="0" anchor="ctr"/>
          <a:lstStyle/>
          <a:p>
            <a:pPr marL="0" indent="0">
              <a:buNone/>
            </a:pPr>
            <a:r>
              <a:rPr lang="en-US" sz="3000" b="1" dirty="0">
                <a:solidFill>
                  <a:srgbClr val="0B1F3A"/>
                </a:solidFill>
                <a:latin typeface="Georgia" pitchFamily="34" charset="0"/>
                <a:ea typeface="Georgia" pitchFamily="34" charset="-122"/>
                <a:cs typeface="Georgia" pitchFamily="34" charset="-120"/>
              </a:rPr>
              <a:t>Guardrails for AI that tests AI</a:t>
            </a:r>
            <a:endParaRPr lang="en-US" sz="3000" dirty="0"/>
          </a:p>
        </p:txBody>
      </p:sp>
      <p:sp>
        <p:nvSpPr>
          <p:cNvPr id="5" name="Shape 3"/>
          <p:cNvSpPr/>
          <p:nvPr/>
        </p:nvSpPr>
        <p:spPr>
          <a:xfrm>
            <a:off x="548640" y="1508760"/>
            <a:ext cx="822960" cy="36576"/>
          </a:xfrm>
          <a:prstGeom prst="rect">
            <a:avLst/>
          </a:prstGeom>
          <a:solidFill>
            <a:srgbClr val="0D9488"/>
          </a:solidFill>
          <a:ln/>
        </p:spPr>
        <p:txBody>
          <a:bodyPr/>
          <a:lstStyle/>
          <a:p>
            <a:endParaRPr lang="en-US"/>
          </a:p>
        </p:txBody>
      </p:sp>
      <p:sp>
        <p:nvSpPr>
          <p:cNvPr id="6" name="Shape 4"/>
          <p:cNvSpPr/>
          <p:nvPr/>
        </p:nvSpPr>
        <p:spPr>
          <a:xfrm>
            <a:off x="548640" y="1828800"/>
            <a:ext cx="3657600" cy="1920240"/>
          </a:xfrm>
          <a:prstGeom prst="rect">
            <a:avLst/>
          </a:prstGeom>
          <a:solidFill>
            <a:srgbClr val="FFFFFF"/>
          </a:solidFill>
          <a:ln w="6350">
            <a:solidFill>
              <a:srgbClr val="E5E5E5"/>
            </a:solidFill>
            <a:prstDash val="solid"/>
          </a:ln>
          <a:effectLst>
            <a:outerShdw blurRad="101600" dist="25400" dir="5400000" algn="bl" rotWithShape="0">
              <a:srgbClr val="000000">
                <a:alpha val="10000"/>
              </a:srgbClr>
            </a:outerShdw>
          </a:effectLst>
        </p:spPr>
        <p:txBody>
          <a:bodyPr/>
          <a:lstStyle/>
          <a:p>
            <a:endParaRPr lang="en-US"/>
          </a:p>
        </p:txBody>
      </p:sp>
      <p:sp>
        <p:nvSpPr>
          <p:cNvPr id="7" name="Shape 5"/>
          <p:cNvSpPr/>
          <p:nvPr/>
        </p:nvSpPr>
        <p:spPr>
          <a:xfrm>
            <a:off x="548640" y="1828800"/>
            <a:ext cx="73152" cy="1920240"/>
          </a:xfrm>
          <a:prstGeom prst="rect">
            <a:avLst/>
          </a:prstGeom>
          <a:solidFill>
            <a:srgbClr val="0B1F3A"/>
          </a:solidFill>
          <a:ln/>
        </p:spPr>
        <p:txBody>
          <a:bodyPr/>
          <a:lstStyle/>
          <a:p>
            <a:endParaRPr lang="en-US"/>
          </a:p>
        </p:txBody>
      </p:sp>
      <p:sp>
        <p:nvSpPr>
          <p:cNvPr id="8" name="Shape 6"/>
          <p:cNvSpPr/>
          <p:nvPr/>
        </p:nvSpPr>
        <p:spPr>
          <a:xfrm>
            <a:off x="822960" y="2057400"/>
            <a:ext cx="502920" cy="502920"/>
          </a:xfrm>
          <a:prstGeom prst="ellipse">
            <a:avLst/>
          </a:prstGeom>
          <a:solidFill>
            <a:srgbClr val="0B1F3A"/>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896112" y="2130552"/>
            <a:ext cx="356616" cy="356616"/>
          </a:xfrm>
          <a:prstGeom prst="rect">
            <a:avLst/>
          </a:prstGeom>
        </p:spPr>
      </p:pic>
      <p:sp>
        <p:nvSpPr>
          <p:cNvPr id="10" name="Text 7"/>
          <p:cNvSpPr/>
          <p:nvPr/>
        </p:nvSpPr>
        <p:spPr>
          <a:xfrm>
            <a:off x="1463040" y="2011680"/>
            <a:ext cx="2651760" cy="457200"/>
          </a:xfrm>
          <a:prstGeom prst="rect">
            <a:avLst/>
          </a:prstGeom>
          <a:noFill/>
          <a:ln/>
        </p:spPr>
        <p:txBody>
          <a:bodyPr wrap="square" lIns="0" tIns="0" rIns="0" bIns="0" rtlCol="0" anchor="ctr"/>
          <a:lstStyle/>
          <a:p>
            <a:pPr marL="0" indent="0">
              <a:buNone/>
            </a:pPr>
            <a:r>
              <a:rPr lang="en-US" sz="1400" b="1" dirty="0">
                <a:solidFill>
                  <a:srgbClr val="0B1F3A"/>
                </a:solidFill>
                <a:latin typeface="Georgia" pitchFamily="34" charset="0"/>
                <a:ea typeface="Georgia" pitchFamily="34" charset="-122"/>
                <a:cs typeface="Georgia" pitchFamily="34" charset="-120"/>
              </a:rPr>
              <a:t>AMLAS (York CfAA)</a:t>
            </a:r>
            <a:endParaRPr lang="en-US" sz="1400" dirty="0"/>
          </a:p>
        </p:txBody>
      </p:sp>
      <p:sp>
        <p:nvSpPr>
          <p:cNvPr id="11" name="Text 8"/>
          <p:cNvSpPr/>
          <p:nvPr/>
        </p:nvSpPr>
        <p:spPr>
          <a:xfrm>
            <a:off x="822960" y="2697480"/>
            <a:ext cx="3200400" cy="914400"/>
          </a:xfrm>
          <a:prstGeom prst="rect">
            <a:avLst/>
          </a:prstGeom>
          <a:noFill/>
          <a:ln/>
        </p:spPr>
        <p:txBody>
          <a:bodyPr wrap="square" lIns="0" tIns="0" rIns="0" bIns="0" rtlCol="0" anchor="t"/>
          <a:lstStyle/>
          <a:p>
            <a:pPr marL="0" indent="0">
              <a:spcAft>
                <a:spcPts val="400"/>
              </a:spcAft>
              <a:buNone/>
            </a:pPr>
            <a:r>
              <a:rPr lang="en-US" sz="1100" dirty="0">
                <a:solidFill>
                  <a:srgbClr val="5B6A82"/>
                </a:solidFill>
                <a:latin typeface="Calibri" pitchFamily="34" charset="0"/>
                <a:ea typeface="Calibri" pitchFamily="34" charset="-122"/>
                <a:cs typeface="Calibri" pitchFamily="34" charset="-120"/>
              </a:rPr>
              <a:t>Six-activity lifecycle: scoping, requirements, data, model, system, deployment. Testing is embedded in every activity.</a:t>
            </a:r>
            <a:endParaRPr lang="en-US" sz="1100" dirty="0"/>
          </a:p>
        </p:txBody>
      </p:sp>
      <p:sp>
        <p:nvSpPr>
          <p:cNvPr id="12" name="Shape 9"/>
          <p:cNvSpPr/>
          <p:nvPr/>
        </p:nvSpPr>
        <p:spPr>
          <a:xfrm>
            <a:off x="4297680" y="1828800"/>
            <a:ext cx="3657600" cy="1920240"/>
          </a:xfrm>
          <a:prstGeom prst="rect">
            <a:avLst/>
          </a:prstGeom>
          <a:solidFill>
            <a:srgbClr val="FFFFFF"/>
          </a:solidFill>
          <a:ln w="6350">
            <a:solidFill>
              <a:srgbClr val="E5E5E5"/>
            </a:solidFill>
            <a:prstDash val="solid"/>
          </a:ln>
          <a:effectLst>
            <a:outerShdw blurRad="101600" dist="25400" dir="5400000" algn="bl" rotWithShape="0">
              <a:srgbClr val="000000">
                <a:alpha val="10000"/>
              </a:srgbClr>
            </a:outerShdw>
          </a:effectLst>
        </p:spPr>
        <p:txBody>
          <a:bodyPr/>
          <a:lstStyle/>
          <a:p>
            <a:endParaRPr lang="en-US"/>
          </a:p>
        </p:txBody>
      </p:sp>
      <p:sp>
        <p:nvSpPr>
          <p:cNvPr id="13" name="Shape 10"/>
          <p:cNvSpPr/>
          <p:nvPr/>
        </p:nvSpPr>
        <p:spPr>
          <a:xfrm>
            <a:off x="4297680" y="1828800"/>
            <a:ext cx="73152" cy="1920240"/>
          </a:xfrm>
          <a:prstGeom prst="rect">
            <a:avLst/>
          </a:prstGeom>
          <a:solidFill>
            <a:srgbClr val="0B1F3A"/>
          </a:solidFill>
          <a:ln/>
        </p:spPr>
        <p:txBody>
          <a:bodyPr/>
          <a:lstStyle/>
          <a:p>
            <a:endParaRPr lang="en-US"/>
          </a:p>
        </p:txBody>
      </p:sp>
      <p:sp>
        <p:nvSpPr>
          <p:cNvPr id="14" name="Shape 11"/>
          <p:cNvSpPr/>
          <p:nvPr/>
        </p:nvSpPr>
        <p:spPr>
          <a:xfrm>
            <a:off x="4572000" y="2057400"/>
            <a:ext cx="502920" cy="502920"/>
          </a:xfrm>
          <a:prstGeom prst="ellipse">
            <a:avLst/>
          </a:prstGeom>
          <a:solidFill>
            <a:srgbClr val="0B1F3A"/>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4645152" y="2130552"/>
            <a:ext cx="356616" cy="356616"/>
          </a:xfrm>
          <a:prstGeom prst="rect">
            <a:avLst/>
          </a:prstGeom>
        </p:spPr>
      </p:pic>
      <p:sp>
        <p:nvSpPr>
          <p:cNvPr id="16" name="Text 12"/>
          <p:cNvSpPr/>
          <p:nvPr/>
        </p:nvSpPr>
        <p:spPr>
          <a:xfrm>
            <a:off x="5212080" y="2011680"/>
            <a:ext cx="2651760" cy="457200"/>
          </a:xfrm>
          <a:prstGeom prst="rect">
            <a:avLst/>
          </a:prstGeom>
          <a:noFill/>
          <a:ln/>
        </p:spPr>
        <p:txBody>
          <a:bodyPr wrap="square" lIns="0" tIns="0" rIns="0" bIns="0" rtlCol="0" anchor="ctr"/>
          <a:lstStyle/>
          <a:p>
            <a:pPr marL="0" indent="0">
              <a:buNone/>
            </a:pPr>
            <a:r>
              <a:rPr lang="en-US" sz="1400" b="1" dirty="0">
                <a:solidFill>
                  <a:srgbClr val="0B1F3A"/>
                </a:solidFill>
                <a:latin typeface="Georgia" pitchFamily="34" charset="0"/>
                <a:ea typeface="Georgia" pitchFamily="34" charset="-122"/>
                <a:cs typeface="Georgia" pitchFamily="34" charset="-120"/>
              </a:rPr>
              <a:t>SACE (York CfAA)</a:t>
            </a:r>
            <a:endParaRPr lang="en-US" sz="1400" dirty="0"/>
          </a:p>
        </p:txBody>
      </p:sp>
      <p:sp>
        <p:nvSpPr>
          <p:cNvPr id="17" name="Text 13"/>
          <p:cNvSpPr/>
          <p:nvPr/>
        </p:nvSpPr>
        <p:spPr>
          <a:xfrm>
            <a:off x="4572000" y="2697480"/>
            <a:ext cx="3200400" cy="914400"/>
          </a:xfrm>
          <a:prstGeom prst="rect">
            <a:avLst/>
          </a:prstGeom>
          <a:noFill/>
          <a:ln/>
        </p:spPr>
        <p:txBody>
          <a:bodyPr wrap="square" lIns="0" tIns="0" rIns="0" bIns="0" rtlCol="0" anchor="t"/>
          <a:lstStyle/>
          <a:p>
            <a:pPr marL="0" indent="0">
              <a:spcAft>
                <a:spcPts val="400"/>
              </a:spcAft>
              <a:buNone/>
            </a:pPr>
            <a:r>
              <a:rPr lang="en-US" sz="1100" dirty="0">
                <a:solidFill>
                  <a:srgbClr val="5B6A82"/>
                </a:solidFill>
                <a:latin typeface="Calibri" pitchFamily="34" charset="0"/>
                <a:ea typeface="Calibri" pitchFamily="34" charset="-122"/>
                <a:cs typeface="Calibri" pitchFamily="34" charset="-120"/>
              </a:rPr>
              <a:t>Safety Assurance of autonomous systems in Complex Environments — for autonomy where AMLAS alone is insufficient.</a:t>
            </a:r>
            <a:endParaRPr lang="en-US" sz="1100" dirty="0"/>
          </a:p>
        </p:txBody>
      </p:sp>
      <p:sp>
        <p:nvSpPr>
          <p:cNvPr id="18" name="Shape 14"/>
          <p:cNvSpPr/>
          <p:nvPr/>
        </p:nvSpPr>
        <p:spPr>
          <a:xfrm>
            <a:off x="8046720" y="1828800"/>
            <a:ext cx="3657600" cy="1920240"/>
          </a:xfrm>
          <a:prstGeom prst="rect">
            <a:avLst/>
          </a:prstGeom>
          <a:solidFill>
            <a:srgbClr val="FFFFFF"/>
          </a:solidFill>
          <a:ln w="6350">
            <a:solidFill>
              <a:srgbClr val="E5E5E5"/>
            </a:solidFill>
            <a:prstDash val="solid"/>
          </a:ln>
          <a:effectLst>
            <a:outerShdw blurRad="101600" dist="25400" dir="5400000" algn="bl" rotWithShape="0">
              <a:srgbClr val="000000">
                <a:alpha val="10000"/>
              </a:srgbClr>
            </a:outerShdw>
          </a:effectLst>
        </p:spPr>
        <p:txBody>
          <a:bodyPr/>
          <a:lstStyle/>
          <a:p>
            <a:endParaRPr lang="en-US"/>
          </a:p>
        </p:txBody>
      </p:sp>
      <p:sp>
        <p:nvSpPr>
          <p:cNvPr id="19" name="Shape 15"/>
          <p:cNvSpPr/>
          <p:nvPr/>
        </p:nvSpPr>
        <p:spPr>
          <a:xfrm>
            <a:off x="8046720" y="1828800"/>
            <a:ext cx="73152" cy="1920240"/>
          </a:xfrm>
          <a:prstGeom prst="rect">
            <a:avLst/>
          </a:prstGeom>
          <a:solidFill>
            <a:srgbClr val="0B1F3A"/>
          </a:solidFill>
          <a:ln/>
        </p:spPr>
        <p:txBody>
          <a:bodyPr/>
          <a:lstStyle/>
          <a:p>
            <a:endParaRPr lang="en-US"/>
          </a:p>
        </p:txBody>
      </p:sp>
      <p:sp>
        <p:nvSpPr>
          <p:cNvPr id="20" name="Shape 16"/>
          <p:cNvSpPr/>
          <p:nvPr/>
        </p:nvSpPr>
        <p:spPr>
          <a:xfrm>
            <a:off x="8321040" y="2057400"/>
            <a:ext cx="502920" cy="502920"/>
          </a:xfrm>
          <a:prstGeom prst="ellipse">
            <a:avLst/>
          </a:prstGeom>
          <a:solidFill>
            <a:srgbClr val="0B1F3A"/>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8394192" y="2130552"/>
            <a:ext cx="356616" cy="356616"/>
          </a:xfrm>
          <a:prstGeom prst="rect">
            <a:avLst/>
          </a:prstGeom>
        </p:spPr>
      </p:pic>
      <p:sp>
        <p:nvSpPr>
          <p:cNvPr id="22" name="Text 17"/>
          <p:cNvSpPr/>
          <p:nvPr/>
        </p:nvSpPr>
        <p:spPr>
          <a:xfrm>
            <a:off x="8961120" y="2011680"/>
            <a:ext cx="2651760" cy="457200"/>
          </a:xfrm>
          <a:prstGeom prst="rect">
            <a:avLst/>
          </a:prstGeom>
          <a:noFill/>
          <a:ln/>
        </p:spPr>
        <p:txBody>
          <a:bodyPr wrap="square" lIns="0" tIns="0" rIns="0" bIns="0" rtlCol="0" anchor="ctr"/>
          <a:lstStyle/>
          <a:p>
            <a:pPr marL="0" indent="0">
              <a:buNone/>
            </a:pPr>
            <a:r>
              <a:rPr lang="en-US" sz="1400" b="1" dirty="0">
                <a:solidFill>
                  <a:srgbClr val="0B1F3A"/>
                </a:solidFill>
                <a:latin typeface="Georgia" pitchFamily="34" charset="0"/>
                <a:ea typeface="Georgia" pitchFamily="34" charset="-122"/>
                <a:cs typeface="Georgia" pitchFamily="34" charset="-120"/>
              </a:rPr>
              <a:t>JSP 936 Part 1</a:t>
            </a:r>
            <a:endParaRPr lang="en-US" sz="1400" dirty="0"/>
          </a:p>
        </p:txBody>
      </p:sp>
      <p:sp>
        <p:nvSpPr>
          <p:cNvPr id="23" name="Text 18"/>
          <p:cNvSpPr/>
          <p:nvPr/>
        </p:nvSpPr>
        <p:spPr>
          <a:xfrm>
            <a:off x="8321040" y="2697480"/>
            <a:ext cx="3200400" cy="914400"/>
          </a:xfrm>
          <a:prstGeom prst="rect">
            <a:avLst/>
          </a:prstGeom>
          <a:noFill/>
          <a:ln/>
        </p:spPr>
        <p:txBody>
          <a:bodyPr wrap="square" lIns="0" tIns="0" rIns="0" bIns="0" rtlCol="0" anchor="t"/>
          <a:lstStyle/>
          <a:p>
            <a:pPr marL="0" indent="0">
              <a:spcAft>
                <a:spcPts val="400"/>
              </a:spcAft>
              <a:buNone/>
            </a:pPr>
            <a:r>
              <a:rPr lang="en-US" sz="1100" dirty="0">
                <a:solidFill>
                  <a:srgbClr val="5B6A82"/>
                </a:solidFill>
                <a:latin typeface="Calibri" pitchFamily="34" charset="0"/>
                <a:ea typeface="Calibri" pitchFamily="34" charset="-122"/>
                <a:cs typeface="Calibri" pitchFamily="34" charset="-120"/>
              </a:rPr>
              <a:t>Dependable AI in Defence directive. RAISO sign-off, ethical risk, DAU consultation — applies to test AI as much as operational AI.</a:t>
            </a:r>
            <a:endParaRPr lang="en-US" sz="1100" dirty="0"/>
          </a:p>
        </p:txBody>
      </p:sp>
      <p:sp>
        <p:nvSpPr>
          <p:cNvPr id="24" name="Shape 19"/>
          <p:cNvSpPr/>
          <p:nvPr/>
        </p:nvSpPr>
        <p:spPr>
          <a:xfrm>
            <a:off x="548640" y="3886200"/>
            <a:ext cx="3657600" cy="1920240"/>
          </a:xfrm>
          <a:prstGeom prst="rect">
            <a:avLst/>
          </a:prstGeom>
          <a:solidFill>
            <a:srgbClr val="FFFFFF"/>
          </a:solidFill>
          <a:ln w="6350">
            <a:solidFill>
              <a:srgbClr val="E5E5E5"/>
            </a:solidFill>
            <a:prstDash val="solid"/>
          </a:ln>
          <a:effectLst>
            <a:outerShdw blurRad="101600" dist="25400" dir="5400000" algn="bl" rotWithShape="0">
              <a:srgbClr val="000000">
                <a:alpha val="10000"/>
              </a:srgbClr>
            </a:outerShdw>
          </a:effectLst>
        </p:spPr>
        <p:txBody>
          <a:bodyPr/>
          <a:lstStyle/>
          <a:p>
            <a:endParaRPr lang="en-US"/>
          </a:p>
        </p:txBody>
      </p:sp>
      <p:sp>
        <p:nvSpPr>
          <p:cNvPr id="25" name="Shape 20"/>
          <p:cNvSpPr/>
          <p:nvPr/>
        </p:nvSpPr>
        <p:spPr>
          <a:xfrm>
            <a:off x="548640" y="3886200"/>
            <a:ext cx="73152" cy="1920240"/>
          </a:xfrm>
          <a:prstGeom prst="rect">
            <a:avLst/>
          </a:prstGeom>
          <a:solidFill>
            <a:srgbClr val="0B1F3A"/>
          </a:solidFill>
          <a:ln/>
        </p:spPr>
        <p:txBody>
          <a:bodyPr/>
          <a:lstStyle/>
          <a:p>
            <a:endParaRPr lang="en-US"/>
          </a:p>
        </p:txBody>
      </p:sp>
      <p:sp>
        <p:nvSpPr>
          <p:cNvPr id="26" name="Shape 21"/>
          <p:cNvSpPr/>
          <p:nvPr/>
        </p:nvSpPr>
        <p:spPr>
          <a:xfrm>
            <a:off x="822960" y="4114800"/>
            <a:ext cx="502920" cy="502920"/>
          </a:xfrm>
          <a:prstGeom prst="ellipse">
            <a:avLst/>
          </a:prstGeom>
          <a:solidFill>
            <a:srgbClr val="0B1F3A"/>
          </a:solidFill>
          <a:ln/>
        </p:spPr>
        <p:txBody>
          <a:bodyPr/>
          <a:lstStyle/>
          <a:p>
            <a:endParaRPr lang="en-US"/>
          </a:p>
        </p:txBody>
      </p:sp>
      <p:pic>
        <p:nvPicPr>
          <p:cNvPr id="27" name="Image 3" descr="preencoded.png"/>
          <p:cNvPicPr>
            <a:picLocks noChangeAspect="1"/>
          </p:cNvPicPr>
          <p:nvPr/>
        </p:nvPicPr>
        <p:blipFill>
          <a:blip r:embed="rId6"/>
          <a:stretch>
            <a:fillRect/>
          </a:stretch>
        </p:blipFill>
        <p:spPr>
          <a:xfrm>
            <a:off x="896112" y="4187952"/>
            <a:ext cx="356616" cy="356616"/>
          </a:xfrm>
          <a:prstGeom prst="rect">
            <a:avLst/>
          </a:prstGeom>
        </p:spPr>
      </p:pic>
      <p:sp>
        <p:nvSpPr>
          <p:cNvPr id="28" name="Text 22"/>
          <p:cNvSpPr/>
          <p:nvPr/>
        </p:nvSpPr>
        <p:spPr>
          <a:xfrm>
            <a:off x="1463040" y="4069080"/>
            <a:ext cx="2651760" cy="457200"/>
          </a:xfrm>
          <a:prstGeom prst="rect">
            <a:avLst/>
          </a:prstGeom>
          <a:noFill/>
          <a:ln/>
        </p:spPr>
        <p:txBody>
          <a:bodyPr wrap="square" lIns="0" tIns="0" rIns="0" bIns="0" rtlCol="0" anchor="ctr"/>
          <a:lstStyle/>
          <a:p>
            <a:pPr marL="0" indent="0">
              <a:buNone/>
            </a:pPr>
            <a:r>
              <a:rPr lang="en-US" sz="1400" b="1" dirty="0">
                <a:solidFill>
                  <a:srgbClr val="0B1F3A"/>
                </a:solidFill>
                <a:latin typeface="Georgia" pitchFamily="34" charset="0"/>
                <a:ea typeface="Georgia" pitchFamily="34" charset="-122"/>
                <a:cs typeface="Georgia" pitchFamily="34" charset="-120"/>
              </a:rPr>
              <a:t>Article 36 reviews</a:t>
            </a:r>
            <a:endParaRPr lang="en-US" sz="1400" dirty="0"/>
          </a:p>
        </p:txBody>
      </p:sp>
      <p:sp>
        <p:nvSpPr>
          <p:cNvPr id="29" name="Text 23"/>
          <p:cNvSpPr/>
          <p:nvPr/>
        </p:nvSpPr>
        <p:spPr>
          <a:xfrm>
            <a:off x="822960" y="4754880"/>
            <a:ext cx="3200400" cy="914400"/>
          </a:xfrm>
          <a:prstGeom prst="rect">
            <a:avLst/>
          </a:prstGeom>
          <a:noFill/>
          <a:ln/>
        </p:spPr>
        <p:txBody>
          <a:bodyPr wrap="square" lIns="0" tIns="0" rIns="0" bIns="0" rtlCol="0" anchor="t"/>
          <a:lstStyle/>
          <a:p>
            <a:pPr marL="0" indent="0">
              <a:spcAft>
                <a:spcPts val="400"/>
              </a:spcAft>
              <a:buNone/>
            </a:pPr>
            <a:r>
              <a:rPr lang="en-US" sz="1100" dirty="0">
                <a:solidFill>
                  <a:srgbClr val="5B6A82"/>
                </a:solidFill>
                <a:latin typeface="Calibri" pitchFamily="34" charset="0"/>
                <a:ea typeface="Calibri" pitchFamily="34" charset="-122"/>
                <a:cs typeface="Calibri" pitchFamily="34" charset="-120"/>
              </a:rPr>
              <a:t>Legal review of means of warfare. Red-team transcripts and robustness bounds become primary evidence artefacts.</a:t>
            </a:r>
            <a:endParaRPr lang="en-US" sz="1100" dirty="0"/>
          </a:p>
        </p:txBody>
      </p:sp>
      <p:sp>
        <p:nvSpPr>
          <p:cNvPr id="30" name="Shape 24"/>
          <p:cNvSpPr/>
          <p:nvPr/>
        </p:nvSpPr>
        <p:spPr>
          <a:xfrm>
            <a:off x="4297680" y="3886200"/>
            <a:ext cx="3657600" cy="1920240"/>
          </a:xfrm>
          <a:prstGeom prst="rect">
            <a:avLst/>
          </a:prstGeom>
          <a:solidFill>
            <a:srgbClr val="FFFFFF"/>
          </a:solidFill>
          <a:ln w="6350">
            <a:solidFill>
              <a:srgbClr val="E5E5E5"/>
            </a:solidFill>
            <a:prstDash val="solid"/>
          </a:ln>
          <a:effectLst>
            <a:outerShdw blurRad="101600" dist="25400" dir="5400000" algn="bl" rotWithShape="0">
              <a:srgbClr val="000000">
                <a:alpha val="10000"/>
              </a:srgbClr>
            </a:outerShdw>
          </a:effectLst>
        </p:spPr>
        <p:txBody>
          <a:bodyPr/>
          <a:lstStyle/>
          <a:p>
            <a:endParaRPr lang="en-US"/>
          </a:p>
        </p:txBody>
      </p:sp>
      <p:sp>
        <p:nvSpPr>
          <p:cNvPr id="31" name="Shape 25"/>
          <p:cNvSpPr/>
          <p:nvPr/>
        </p:nvSpPr>
        <p:spPr>
          <a:xfrm>
            <a:off x="4297680" y="3886200"/>
            <a:ext cx="73152" cy="1920240"/>
          </a:xfrm>
          <a:prstGeom prst="rect">
            <a:avLst/>
          </a:prstGeom>
          <a:solidFill>
            <a:srgbClr val="0B1F3A"/>
          </a:solidFill>
          <a:ln/>
        </p:spPr>
        <p:txBody>
          <a:bodyPr/>
          <a:lstStyle/>
          <a:p>
            <a:endParaRPr lang="en-US"/>
          </a:p>
        </p:txBody>
      </p:sp>
      <p:sp>
        <p:nvSpPr>
          <p:cNvPr id="32" name="Shape 26"/>
          <p:cNvSpPr/>
          <p:nvPr/>
        </p:nvSpPr>
        <p:spPr>
          <a:xfrm>
            <a:off x="4572000" y="4114800"/>
            <a:ext cx="502920" cy="502920"/>
          </a:xfrm>
          <a:prstGeom prst="ellipse">
            <a:avLst/>
          </a:prstGeom>
          <a:solidFill>
            <a:srgbClr val="0B1F3A"/>
          </a:solidFill>
          <a:ln/>
        </p:spPr>
        <p:txBody>
          <a:bodyPr/>
          <a:lstStyle/>
          <a:p>
            <a:endParaRPr lang="en-US"/>
          </a:p>
        </p:txBody>
      </p:sp>
      <p:pic>
        <p:nvPicPr>
          <p:cNvPr id="33" name="Image 4" descr="preencoded.png"/>
          <p:cNvPicPr>
            <a:picLocks noChangeAspect="1"/>
          </p:cNvPicPr>
          <p:nvPr/>
        </p:nvPicPr>
        <p:blipFill>
          <a:blip r:embed="rId7"/>
          <a:stretch>
            <a:fillRect/>
          </a:stretch>
        </p:blipFill>
        <p:spPr>
          <a:xfrm>
            <a:off x="4645152" y="4187952"/>
            <a:ext cx="356616" cy="356616"/>
          </a:xfrm>
          <a:prstGeom prst="rect">
            <a:avLst/>
          </a:prstGeom>
        </p:spPr>
      </p:pic>
      <p:sp>
        <p:nvSpPr>
          <p:cNvPr id="34" name="Text 27"/>
          <p:cNvSpPr/>
          <p:nvPr/>
        </p:nvSpPr>
        <p:spPr>
          <a:xfrm>
            <a:off x="5212080" y="4069080"/>
            <a:ext cx="2651760" cy="457200"/>
          </a:xfrm>
          <a:prstGeom prst="rect">
            <a:avLst/>
          </a:prstGeom>
          <a:noFill/>
          <a:ln/>
        </p:spPr>
        <p:txBody>
          <a:bodyPr wrap="square" lIns="0" tIns="0" rIns="0" bIns="0" rtlCol="0" anchor="ctr"/>
          <a:lstStyle/>
          <a:p>
            <a:pPr marL="0" indent="0">
              <a:buNone/>
            </a:pPr>
            <a:r>
              <a:rPr lang="en-US" sz="1400" b="1" dirty="0">
                <a:solidFill>
                  <a:srgbClr val="0B1F3A"/>
                </a:solidFill>
                <a:latin typeface="Georgia" pitchFamily="34" charset="0"/>
                <a:ea typeface="Georgia" pitchFamily="34" charset="-122"/>
                <a:cs typeface="Georgia" pitchFamily="34" charset="-120"/>
              </a:rPr>
              <a:t>Evidence sovereignty</a:t>
            </a:r>
            <a:endParaRPr lang="en-US" sz="1400" dirty="0"/>
          </a:p>
        </p:txBody>
      </p:sp>
      <p:sp>
        <p:nvSpPr>
          <p:cNvPr id="35" name="Text 28"/>
          <p:cNvSpPr/>
          <p:nvPr/>
        </p:nvSpPr>
        <p:spPr>
          <a:xfrm>
            <a:off x="4572000" y="4754880"/>
            <a:ext cx="3200400" cy="914400"/>
          </a:xfrm>
          <a:prstGeom prst="rect">
            <a:avLst/>
          </a:prstGeom>
          <a:noFill/>
          <a:ln/>
        </p:spPr>
        <p:txBody>
          <a:bodyPr wrap="square" lIns="0" tIns="0" rIns="0" bIns="0" rtlCol="0" anchor="t"/>
          <a:lstStyle/>
          <a:p>
            <a:pPr marL="0" indent="0">
              <a:spcAft>
                <a:spcPts val="400"/>
              </a:spcAft>
              <a:buNone/>
            </a:pPr>
            <a:r>
              <a:rPr lang="en-US" sz="1100" dirty="0">
                <a:solidFill>
                  <a:srgbClr val="5B6A82"/>
                </a:solidFill>
                <a:latin typeface="Calibri" pitchFamily="34" charset="0"/>
                <a:ea typeface="Calibri" pitchFamily="34" charset="-122"/>
                <a:cs typeface="Calibri" pitchFamily="34" charset="-120"/>
              </a:rPr>
              <a:t>Test data, synthetic generators and adversarial corpora live on sovereign infrastructure; federated only under controls.</a:t>
            </a:r>
            <a:endParaRPr lang="en-US" sz="1100" dirty="0"/>
          </a:p>
        </p:txBody>
      </p:sp>
      <p:sp>
        <p:nvSpPr>
          <p:cNvPr id="36" name="Shape 29"/>
          <p:cNvSpPr/>
          <p:nvPr/>
        </p:nvSpPr>
        <p:spPr>
          <a:xfrm>
            <a:off x="8046720" y="3886200"/>
            <a:ext cx="3657600" cy="1920240"/>
          </a:xfrm>
          <a:prstGeom prst="rect">
            <a:avLst/>
          </a:prstGeom>
          <a:solidFill>
            <a:srgbClr val="FFFFFF"/>
          </a:solidFill>
          <a:ln w="6350">
            <a:solidFill>
              <a:srgbClr val="E5E5E5"/>
            </a:solidFill>
            <a:prstDash val="solid"/>
          </a:ln>
          <a:effectLst>
            <a:outerShdw blurRad="101600" dist="25400" dir="5400000" algn="bl" rotWithShape="0">
              <a:srgbClr val="000000">
                <a:alpha val="10000"/>
              </a:srgbClr>
            </a:outerShdw>
          </a:effectLst>
        </p:spPr>
        <p:txBody>
          <a:bodyPr/>
          <a:lstStyle/>
          <a:p>
            <a:endParaRPr lang="en-US"/>
          </a:p>
        </p:txBody>
      </p:sp>
      <p:sp>
        <p:nvSpPr>
          <p:cNvPr id="37" name="Shape 30"/>
          <p:cNvSpPr/>
          <p:nvPr/>
        </p:nvSpPr>
        <p:spPr>
          <a:xfrm>
            <a:off x="8046720" y="3886200"/>
            <a:ext cx="73152" cy="1920240"/>
          </a:xfrm>
          <a:prstGeom prst="rect">
            <a:avLst/>
          </a:prstGeom>
          <a:solidFill>
            <a:srgbClr val="0B1F3A"/>
          </a:solidFill>
          <a:ln/>
        </p:spPr>
        <p:txBody>
          <a:bodyPr/>
          <a:lstStyle/>
          <a:p>
            <a:endParaRPr lang="en-US"/>
          </a:p>
        </p:txBody>
      </p:sp>
      <p:sp>
        <p:nvSpPr>
          <p:cNvPr id="38" name="Shape 31"/>
          <p:cNvSpPr/>
          <p:nvPr/>
        </p:nvSpPr>
        <p:spPr>
          <a:xfrm>
            <a:off x="8321040" y="4114800"/>
            <a:ext cx="502920" cy="502920"/>
          </a:xfrm>
          <a:prstGeom prst="ellipse">
            <a:avLst/>
          </a:prstGeom>
          <a:solidFill>
            <a:srgbClr val="0B1F3A"/>
          </a:solidFill>
          <a:ln/>
        </p:spPr>
        <p:txBody>
          <a:bodyPr/>
          <a:lstStyle/>
          <a:p>
            <a:endParaRPr lang="en-US"/>
          </a:p>
        </p:txBody>
      </p:sp>
      <p:pic>
        <p:nvPicPr>
          <p:cNvPr id="39" name="Image 5" descr="preencoded.png"/>
          <p:cNvPicPr>
            <a:picLocks noChangeAspect="1"/>
          </p:cNvPicPr>
          <p:nvPr/>
        </p:nvPicPr>
        <p:blipFill>
          <a:blip r:embed="rId8"/>
          <a:stretch>
            <a:fillRect/>
          </a:stretch>
        </p:blipFill>
        <p:spPr>
          <a:xfrm>
            <a:off x="8394192" y="4187952"/>
            <a:ext cx="356616" cy="356616"/>
          </a:xfrm>
          <a:prstGeom prst="rect">
            <a:avLst/>
          </a:prstGeom>
        </p:spPr>
      </p:pic>
      <p:sp>
        <p:nvSpPr>
          <p:cNvPr id="40" name="Text 32"/>
          <p:cNvSpPr/>
          <p:nvPr/>
        </p:nvSpPr>
        <p:spPr>
          <a:xfrm>
            <a:off x="8961120" y="4069080"/>
            <a:ext cx="2651760" cy="457200"/>
          </a:xfrm>
          <a:prstGeom prst="rect">
            <a:avLst/>
          </a:prstGeom>
          <a:noFill/>
          <a:ln/>
        </p:spPr>
        <p:txBody>
          <a:bodyPr wrap="square" lIns="0" tIns="0" rIns="0" bIns="0" rtlCol="0" anchor="ctr"/>
          <a:lstStyle/>
          <a:p>
            <a:pPr marL="0" indent="0">
              <a:buNone/>
            </a:pPr>
            <a:r>
              <a:rPr lang="en-US" sz="1400" b="1" dirty="0">
                <a:solidFill>
                  <a:srgbClr val="0B1F3A"/>
                </a:solidFill>
                <a:latin typeface="Georgia" pitchFamily="34" charset="0"/>
                <a:ea typeface="Georgia" pitchFamily="34" charset="-122"/>
                <a:cs typeface="Georgia" pitchFamily="34" charset="-120"/>
              </a:rPr>
              <a:t>Human oversight of test AI</a:t>
            </a:r>
            <a:endParaRPr lang="en-US" sz="1400" dirty="0"/>
          </a:p>
        </p:txBody>
      </p:sp>
      <p:sp>
        <p:nvSpPr>
          <p:cNvPr id="41" name="Text 33"/>
          <p:cNvSpPr/>
          <p:nvPr/>
        </p:nvSpPr>
        <p:spPr>
          <a:xfrm>
            <a:off x="8321040" y="4754880"/>
            <a:ext cx="3200400" cy="914400"/>
          </a:xfrm>
          <a:prstGeom prst="rect">
            <a:avLst/>
          </a:prstGeom>
          <a:noFill/>
          <a:ln/>
        </p:spPr>
        <p:txBody>
          <a:bodyPr wrap="square" lIns="0" tIns="0" rIns="0" bIns="0" rtlCol="0" anchor="t"/>
          <a:lstStyle/>
          <a:p>
            <a:pPr marL="0" indent="0">
              <a:spcAft>
                <a:spcPts val="400"/>
              </a:spcAft>
              <a:buNone/>
            </a:pPr>
            <a:r>
              <a:rPr lang="en-US" sz="1100" dirty="0">
                <a:solidFill>
                  <a:srgbClr val="5B6A82"/>
                </a:solidFill>
                <a:latin typeface="Calibri" pitchFamily="34" charset="0"/>
                <a:ea typeface="Calibri" pitchFamily="34" charset="-122"/>
                <a:cs typeface="Calibri" pitchFamily="34" charset="-120"/>
              </a:rPr>
              <a:t>Tester is accountable for what the tester-AI produced. No silent automation of safety-critical decisions.</a:t>
            </a:r>
            <a:endParaRPr lang="en-US" sz="1100" dirty="0"/>
          </a:p>
        </p:txBody>
      </p:sp>
      <p:sp>
        <p:nvSpPr>
          <p:cNvPr id="42" name="Shape 34"/>
          <p:cNvSpPr/>
          <p:nvPr/>
        </p:nvSpPr>
        <p:spPr>
          <a:xfrm>
            <a:off x="548640" y="6126480"/>
            <a:ext cx="11155680" cy="411480"/>
          </a:xfrm>
          <a:prstGeom prst="rect">
            <a:avLst/>
          </a:prstGeom>
          <a:solidFill>
            <a:srgbClr val="C8102E"/>
          </a:solidFill>
          <a:ln/>
        </p:spPr>
        <p:txBody>
          <a:bodyPr/>
          <a:lstStyle/>
          <a:p>
            <a:endParaRPr lang="en-US"/>
          </a:p>
        </p:txBody>
      </p:sp>
      <p:sp>
        <p:nvSpPr>
          <p:cNvPr id="43" name="Text 35"/>
          <p:cNvSpPr/>
          <p:nvPr/>
        </p:nvSpPr>
        <p:spPr>
          <a:xfrm>
            <a:off x="731520" y="6126480"/>
            <a:ext cx="10972800" cy="411480"/>
          </a:xfrm>
          <a:prstGeom prst="rect">
            <a:avLst/>
          </a:prstGeom>
          <a:noFill/>
          <a:ln/>
        </p:spPr>
        <p:txBody>
          <a:bodyPr wrap="square" lIns="0" tIns="0" rIns="0" bIns="0" rtlCol="0" anchor="ctr"/>
          <a:lstStyle/>
          <a:p>
            <a:pPr marL="0" indent="0">
              <a:buNone/>
            </a:pPr>
            <a:r>
              <a:rPr lang="en-US" sz="1300" b="1" i="1" dirty="0">
                <a:solidFill>
                  <a:srgbClr val="FFFFFF"/>
                </a:solidFill>
                <a:latin typeface="Georgia" pitchFamily="34" charset="0"/>
                <a:ea typeface="Georgia" pitchFamily="34" charset="-122"/>
                <a:cs typeface="Georgia" pitchFamily="34" charset="-120"/>
              </a:rPr>
              <a:t>Principle: the tester-AI is a subject of assurance itself — not a trusted oracle</a:t>
            </a:r>
            <a:endParaRPr lang="en-US" sz="1300" dirty="0"/>
          </a:p>
        </p:txBody>
      </p:sp>
      <p:sp>
        <p:nvSpPr>
          <p:cNvPr id="44" name="Shape 36"/>
          <p:cNvSpPr/>
          <p:nvPr/>
        </p:nvSpPr>
        <p:spPr>
          <a:xfrm>
            <a:off x="0" y="6537960"/>
            <a:ext cx="12191695" cy="320040"/>
          </a:xfrm>
          <a:prstGeom prst="rect">
            <a:avLst/>
          </a:prstGeom>
          <a:solidFill>
            <a:srgbClr val="0B1F3A"/>
          </a:solidFill>
          <a:ln/>
        </p:spPr>
        <p:txBody>
          <a:bodyPr/>
          <a:lstStyle/>
          <a:p>
            <a:endParaRPr lang="en-US"/>
          </a:p>
        </p:txBody>
      </p:sp>
      <p:sp>
        <p:nvSpPr>
          <p:cNvPr id="45" name="Text 37"/>
          <p:cNvSpPr/>
          <p:nvPr/>
        </p:nvSpPr>
        <p:spPr>
          <a:xfrm>
            <a:off x="365760" y="6547104"/>
            <a:ext cx="8229600" cy="301752"/>
          </a:xfrm>
          <a:prstGeom prst="rect">
            <a:avLst/>
          </a:prstGeom>
          <a:noFill/>
          <a:ln/>
        </p:spPr>
        <p:txBody>
          <a:bodyPr wrap="square" lIns="0" tIns="0" rIns="0" bIns="0" rtlCol="0" anchor="ctr"/>
          <a:lstStyle/>
          <a:p>
            <a:pPr marL="0" indent="0">
              <a:buNone/>
            </a:pPr>
            <a:r>
              <a:rPr lang="en-US" sz="900" dirty="0">
                <a:solidFill>
                  <a:srgbClr val="F4F1EC"/>
                </a:solidFill>
                <a:latin typeface="Calibri" pitchFamily="34" charset="0"/>
                <a:ea typeface="Calibri" pitchFamily="34" charset="-122"/>
                <a:cs typeface="Calibri" pitchFamily="34" charset="-120"/>
              </a:rPr>
              <a:t>UNCLASSIFIED  |  UK MOD  |  Testing AI with AI  |  April 2026</a:t>
            </a:r>
            <a:endParaRPr lang="en-US" sz="900" dirty="0"/>
          </a:p>
        </p:txBody>
      </p:sp>
      <p:sp>
        <p:nvSpPr>
          <p:cNvPr id="46" name="Text 38"/>
          <p:cNvSpPr/>
          <p:nvPr/>
        </p:nvSpPr>
        <p:spPr>
          <a:xfrm>
            <a:off x="11094415" y="6547104"/>
            <a:ext cx="731520" cy="301752"/>
          </a:xfrm>
          <a:prstGeom prst="rect">
            <a:avLst/>
          </a:prstGeom>
          <a:noFill/>
          <a:ln/>
        </p:spPr>
        <p:txBody>
          <a:bodyPr wrap="square" lIns="0" tIns="0" rIns="0" bIns="0" rtlCol="0" anchor="ctr"/>
          <a:lstStyle/>
          <a:p>
            <a:pPr marL="0" indent="0" algn="r">
              <a:buNone/>
            </a:pPr>
            <a:r>
              <a:rPr lang="en-US" sz="900" dirty="0">
                <a:solidFill>
                  <a:srgbClr val="F4F1EC"/>
                </a:solidFill>
                <a:latin typeface="Calibri" pitchFamily="34" charset="0"/>
                <a:ea typeface="Calibri" pitchFamily="34" charset="-122"/>
                <a:cs typeface="Calibri" pitchFamily="34" charset="-120"/>
              </a:rPr>
              <a:t>12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D9488"/>
          </a:solidFill>
          <a:ln/>
        </p:spPr>
        <p:txBody>
          <a:bodyPr/>
          <a:lstStyle/>
          <a:p>
            <a:endParaRPr lang="en-US"/>
          </a:p>
        </p:txBody>
      </p:sp>
      <p:sp>
        <p:nvSpPr>
          <p:cNvPr id="3" name="Text 1"/>
          <p:cNvSpPr/>
          <p:nvPr/>
        </p:nvSpPr>
        <p:spPr>
          <a:xfrm>
            <a:off x="548640" y="320040"/>
            <a:ext cx="9144000" cy="32004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INVESTMENT  |  NEXT STEPS</a:t>
            </a:r>
            <a:endParaRPr lang="en-US" sz="1100" dirty="0"/>
          </a:p>
        </p:txBody>
      </p:sp>
      <p:sp>
        <p:nvSpPr>
          <p:cNvPr id="4" name="Text 2"/>
          <p:cNvSpPr/>
          <p:nvPr/>
        </p:nvSpPr>
        <p:spPr>
          <a:xfrm>
            <a:off x="548640" y="640080"/>
            <a:ext cx="11155680" cy="77724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Five-year envelope and three immediate actions</a:t>
            </a:r>
            <a:endParaRPr lang="en-US" sz="2800" dirty="0"/>
          </a:p>
        </p:txBody>
      </p:sp>
      <p:sp>
        <p:nvSpPr>
          <p:cNvPr id="5" name="Shape 3"/>
          <p:cNvSpPr/>
          <p:nvPr/>
        </p:nvSpPr>
        <p:spPr>
          <a:xfrm>
            <a:off x="548640" y="1508760"/>
            <a:ext cx="822960" cy="36576"/>
          </a:xfrm>
          <a:prstGeom prst="rect">
            <a:avLst/>
          </a:prstGeom>
          <a:solidFill>
            <a:srgbClr val="0D9488"/>
          </a:solidFill>
          <a:ln/>
        </p:spPr>
        <p:txBody>
          <a:bodyPr/>
          <a:lstStyle/>
          <a:p>
            <a:endParaRPr lang="en-US"/>
          </a:p>
        </p:txBody>
      </p:sp>
      <p:sp>
        <p:nvSpPr>
          <p:cNvPr id="6" name="Text 4"/>
          <p:cNvSpPr/>
          <p:nvPr/>
        </p:nvSpPr>
        <p:spPr>
          <a:xfrm>
            <a:off x="548640" y="1828800"/>
            <a:ext cx="5669280" cy="457200"/>
          </a:xfrm>
          <a:prstGeom prst="rect">
            <a:avLst/>
          </a:prstGeom>
          <a:noFill/>
          <a:ln/>
        </p:spPr>
        <p:txBody>
          <a:bodyPr wrap="square" lIns="0" tIns="0" rIns="0" bIns="0" rtlCol="0" anchor="ctr"/>
          <a:lstStyle/>
          <a:p>
            <a:pPr marL="0" indent="0">
              <a:buNone/>
            </a:pPr>
            <a:r>
              <a:rPr lang="en-US" sz="1600" b="1" dirty="0">
                <a:solidFill>
                  <a:srgbClr val="D4A24C"/>
                </a:solidFill>
                <a:latin typeface="Georgia" pitchFamily="34" charset="0"/>
                <a:ea typeface="Georgia" pitchFamily="34" charset="-122"/>
                <a:cs typeface="Georgia" pitchFamily="34" charset="-120"/>
              </a:rPr>
              <a:t>Indicative five-year envelope: £2.0M – £3.5M</a:t>
            </a:r>
            <a:endParaRPr lang="en-US" sz="1600" dirty="0"/>
          </a:p>
        </p:txBody>
      </p:sp>
      <p:graphicFrame>
        <p:nvGraphicFramePr>
          <p:cNvPr id="7" name="Chart 0"/>
          <p:cNvGraphicFramePr/>
          <p:nvPr/>
        </p:nvGraphicFramePr>
        <p:xfrm>
          <a:off x="548640" y="2331720"/>
          <a:ext cx="566928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6492240" y="1828800"/>
            <a:ext cx="5212080" cy="457200"/>
          </a:xfrm>
          <a:prstGeom prst="rect">
            <a:avLst/>
          </a:prstGeom>
          <a:noFill/>
          <a:ln/>
        </p:spPr>
        <p:txBody>
          <a:bodyPr wrap="square" lIns="0" tIns="0" rIns="0" bIns="0" rtlCol="0" anchor="ctr"/>
          <a:lstStyle/>
          <a:p>
            <a:pPr marL="0" indent="0">
              <a:buNone/>
            </a:pPr>
            <a:r>
              <a:rPr lang="en-US" sz="1600" b="1" dirty="0">
                <a:solidFill>
                  <a:srgbClr val="D4A24C"/>
                </a:solidFill>
                <a:latin typeface="Georgia" pitchFamily="34" charset="0"/>
                <a:ea typeface="Georgia" pitchFamily="34" charset="-122"/>
                <a:cs typeface="Georgia" pitchFamily="34" charset="-120"/>
              </a:rPr>
              <a:t>Three actions to take now</a:t>
            </a:r>
            <a:endParaRPr lang="en-US" sz="1600" dirty="0"/>
          </a:p>
        </p:txBody>
      </p:sp>
      <p:sp>
        <p:nvSpPr>
          <p:cNvPr id="9" name="Shape 6"/>
          <p:cNvSpPr/>
          <p:nvPr/>
        </p:nvSpPr>
        <p:spPr>
          <a:xfrm>
            <a:off x="6492240" y="2377440"/>
            <a:ext cx="5212080" cy="1143000"/>
          </a:xfrm>
          <a:prstGeom prst="rect">
            <a:avLst/>
          </a:prstGeom>
          <a:solidFill>
            <a:srgbClr val="14385E"/>
          </a:solidFill>
          <a:ln/>
        </p:spPr>
        <p:txBody>
          <a:bodyPr/>
          <a:lstStyle/>
          <a:p>
            <a:endParaRPr lang="en-US"/>
          </a:p>
        </p:txBody>
      </p:sp>
      <p:sp>
        <p:nvSpPr>
          <p:cNvPr id="10" name="Shape 7"/>
          <p:cNvSpPr/>
          <p:nvPr/>
        </p:nvSpPr>
        <p:spPr>
          <a:xfrm>
            <a:off x="6492240" y="2377440"/>
            <a:ext cx="73152" cy="1143000"/>
          </a:xfrm>
          <a:prstGeom prst="rect">
            <a:avLst/>
          </a:prstGeom>
          <a:solidFill>
            <a:srgbClr val="0D9488"/>
          </a:solidFill>
          <a:ln/>
        </p:spPr>
        <p:txBody>
          <a:bodyPr/>
          <a:lstStyle/>
          <a:p>
            <a:endParaRPr lang="en-US"/>
          </a:p>
        </p:txBody>
      </p:sp>
      <p:sp>
        <p:nvSpPr>
          <p:cNvPr id="11" name="Text 8"/>
          <p:cNvSpPr/>
          <p:nvPr/>
        </p:nvSpPr>
        <p:spPr>
          <a:xfrm>
            <a:off x="6720840" y="2514600"/>
            <a:ext cx="731520" cy="822960"/>
          </a:xfrm>
          <a:prstGeom prst="rect">
            <a:avLst/>
          </a:prstGeom>
          <a:noFill/>
          <a:ln/>
        </p:spPr>
        <p:txBody>
          <a:bodyPr wrap="square" lIns="0" tIns="0" rIns="0" bIns="0" rtlCol="0" anchor="ctr"/>
          <a:lstStyle/>
          <a:p>
            <a:pPr marL="0" indent="0">
              <a:buNone/>
            </a:pPr>
            <a:r>
              <a:rPr lang="en-US" sz="2800" b="1" dirty="0">
                <a:solidFill>
                  <a:srgbClr val="D4A24C"/>
                </a:solidFill>
                <a:latin typeface="Georgia" pitchFamily="34" charset="0"/>
                <a:ea typeface="Georgia" pitchFamily="34" charset="-122"/>
                <a:cs typeface="Georgia" pitchFamily="34" charset="-120"/>
              </a:rPr>
              <a:t>01</a:t>
            </a:r>
            <a:endParaRPr lang="en-US" sz="2800" dirty="0"/>
          </a:p>
        </p:txBody>
      </p:sp>
      <p:sp>
        <p:nvSpPr>
          <p:cNvPr id="12" name="Text 9"/>
          <p:cNvSpPr/>
          <p:nvPr/>
        </p:nvSpPr>
        <p:spPr>
          <a:xfrm>
            <a:off x="7498080" y="2487168"/>
            <a:ext cx="4023360" cy="36576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Stand up the Test Assurance Cell</a:t>
            </a:r>
            <a:endParaRPr lang="en-US" sz="1400" dirty="0"/>
          </a:p>
        </p:txBody>
      </p:sp>
      <p:sp>
        <p:nvSpPr>
          <p:cNvPr id="13" name="Text 10"/>
          <p:cNvSpPr/>
          <p:nvPr/>
        </p:nvSpPr>
        <p:spPr>
          <a:xfrm>
            <a:off x="7498080" y="2834640"/>
            <a:ext cx="4023360" cy="640080"/>
          </a:xfrm>
          <a:prstGeom prst="rect">
            <a:avLst/>
          </a:prstGeom>
          <a:noFill/>
          <a:ln/>
        </p:spPr>
        <p:txBody>
          <a:bodyPr wrap="square" lIns="0" tIns="0" rIns="0" bIns="0" rtlCol="0" anchor="t"/>
          <a:lstStyle/>
          <a:p>
            <a:pPr marL="0" indent="0">
              <a:buNone/>
            </a:pPr>
            <a:r>
              <a:rPr lang="en-US" sz="1100" dirty="0">
                <a:solidFill>
                  <a:srgbClr val="F4F1EC"/>
                </a:solidFill>
                <a:latin typeface="Calibri" pitchFamily="34" charset="0"/>
                <a:ea typeface="Calibri" pitchFamily="34" charset="-122"/>
                <a:cs typeface="Calibri" pitchFamily="34" charset="-120"/>
              </a:rPr>
              <a:t>Dstl + DAIC + York Centre for Assuring Autonomy joint team authoring AI-test-AI standards.</a:t>
            </a:r>
            <a:endParaRPr lang="en-US" sz="1100" dirty="0"/>
          </a:p>
        </p:txBody>
      </p:sp>
      <p:sp>
        <p:nvSpPr>
          <p:cNvPr id="14" name="Shape 11"/>
          <p:cNvSpPr/>
          <p:nvPr/>
        </p:nvSpPr>
        <p:spPr>
          <a:xfrm>
            <a:off x="6492240" y="3657600"/>
            <a:ext cx="5212080" cy="1143000"/>
          </a:xfrm>
          <a:prstGeom prst="rect">
            <a:avLst/>
          </a:prstGeom>
          <a:solidFill>
            <a:srgbClr val="14385E"/>
          </a:solidFill>
          <a:ln/>
        </p:spPr>
        <p:txBody>
          <a:bodyPr/>
          <a:lstStyle/>
          <a:p>
            <a:endParaRPr lang="en-US"/>
          </a:p>
        </p:txBody>
      </p:sp>
      <p:sp>
        <p:nvSpPr>
          <p:cNvPr id="15" name="Shape 12"/>
          <p:cNvSpPr/>
          <p:nvPr/>
        </p:nvSpPr>
        <p:spPr>
          <a:xfrm>
            <a:off x="6492240" y="3657600"/>
            <a:ext cx="73152" cy="1143000"/>
          </a:xfrm>
          <a:prstGeom prst="rect">
            <a:avLst/>
          </a:prstGeom>
          <a:solidFill>
            <a:srgbClr val="0D9488"/>
          </a:solidFill>
          <a:ln/>
        </p:spPr>
        <p:txBody>
          <a:bodyPr/>
          <a:lstStyle/>
          <a:p>
            <a:endParaRPr lang="en-US"/>
          </a:p>
        </p:txBody>
      </p:sp>
      <p:sp>
        <p:nvSpPr>
          <p:cNvPr id="16" name="Text 13"/>
          <p:cNvSpPr/>
          <p:nvPr/>
        </p:nvSpPr>
        <p:spPr>
          <a:xfrm>
            <a:off x="6720840" y="3794760"/>
            <a:ext cx="731520" cy="822960"/>
          </a:xfrm>
          <a:prstGeom prst="rect">
            <a:avLst/>
          </a:prstGeom>
          <a:noFill/>
          <a:ln/>
        </p:spPr>
        <p:txBody>
          <a:bodyPr wrap="square" lIns="0" tIns="0" rIns="0" bIns="0" rtlCol="0" anchor="ctr"/>
          <a:lstStyle/>
          <a:p>
            <a:pPr marL="0" indent="0">
              <a:buNone/>
            </a:pPr>
            <a:r>
              <a:rPr lang="en-US" sz="2800" b="1" dirty="0">
                <a:solidFill>
                  <a:srgbClr val="D4A24C"/>
                </a:solidFill>
                <a:latin typeface="Georgia" pitchFamily="34" charset="0"/>
                <a:ea typeface="Georgia" pitchFamily="34" charset="-122"/>
                <a:cs typeface="Georgia" pitchFamily="34" charset="-120"/>
              </a:rPr>
              <a:t>02</a:t>
            </a:r>
            <a:endParaRPr lang="en-US" sz="2800" dirty="0"/>
          </a:p>
        </p:txBody>
      </p:sp>
      <p:sp>
        <p:nvSpPr>
          <p:cNvPr id="17" name="Text 14"/>
          <p:cNvSpPr/>
          <p:nvPr/>
        </p:nvSpPr>
        <p:spPr>
          <a:xfrm>
            <a:off x="7498080" y="3767328"/>
            <a:ext cx="4023360" cy="36576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Launch three pilots in 2026</a:t>
            </a:r>
            <a:endParaRPr lang="en-US" sz="1400" dirty="0"/>
          </a:p>
        </p:txBody>
      </p:sp>
      <p:sp>
        <p:nvSpPr>
          <p:cNvPr id="18" name="Text 15"/>
          <p:cNvSpPr/>
          <p:nvPr/>
        </p:nvSpPr>
        <p:spPr>
          <a:xfrm>
            <a:off x="7498080" y="4114800"/>
            <a:ext cx="4023360" cy="640080"/>
          </a:xfrm>
          <a:prstGeom prst="rect">
            <a:avLst/>
          </a:prstGeom>
          <a:noFill/>
          <a:ln/>
        </p:spPr>
        <p:txBody>
          <a:bodyPr wrap="square" lIns="0" tIns="0" rIns="0" bIns="0" rtlCol="0" anchor="t"/>
          <a:lstStyle/>
          <a:p>
            <a:pPr marL="0" indent="0">
              <a:buNone/>
            </a:pPr>
            <a:r>
              <a:rPr lang="en-US" sz="1100" dirty="0">
                <a:solidFill>
                  <a:srgbClr val="F4F1EC"/>
                </a:solidFill>
                <a:latin typeface="Calibri" pitchFamily="34" charset="0"/>
                <a:ea typeface="Calibri" pitchFamily="34" charset="-122"/>
                <a:cs typeface="Calibri" pitchFamily="34" charset="-120"/>
              </a:rPr>
              <a:t>LLM GSN critique on a live safety case; drift monitors on deployed anomaly detection; synthetic data for CV fragmentation testing.</a:t>
            </a:r>
            <a:endParaRPr lang="en-US" sz="1100" dirty="0"/>
          </a:p>
        </p:txBody>
      </p:sp>
      <p:sp>
        <p:nvSpPr>
          <p:cNvPr id="19" name="Shape 16"/>
          <p:cNvSpPr/>
          <p:nvPr/>
        </p:nvSpPr>
        <p:spPr>
          <a:xfrm>
            <a:off x="6492240" y="4937760"/>
            <a:ext cx="5212080" cy="1143000"/>
          </a:xfrm>
          <a:prstGeom prst="rect">
            <a:avLst/>
          </a:prstGeom>
          <a:solidFill>
            <a:srgbClr val="14385E"/>
          </a:solidFill>
          <a:ln/>
        </p:spPr>
        <p:txBody>
          <a:bodyPr/>
          <a:lstStyle/>
          <a:p>
            <a:endParaRPr lang="en-US"/>
          </a:p>
        </p:txBody>
      </p:sp>
      <p:sp>
        <p:nvSpPr>
          <p:cNvPr id="20" name="Shape 17"/>
          <p:cNvSpPr/>
          <p:nvPr/>
        </p:nvSpPr>
        <p:spPr>
          <a:xfrm>
            <a:off x="6492240" y="4937760"/>
            <a:ext cx="73152" cy="1143000"/>
          </a:xfrm>
          <a:prstGeom prst="rect">
            <a:avLst/>
          </a:prstGeom>
          <a:solidFill>
            <a:srgbClr val="0D9488"/>
          </a:solidFill>
          <a:ln/>
        </p:spPr>
        <p:txBody>
          <a:bodyPr/>
          <a:lstStyle/>
          <a:p>
            <a:endParaRPr lang="en-US"/>
          </a:p>
        </p:txBody>
      </p:sp>
      <p:sp>
        <p:nvSpPr>
          <p:cNvPr id="21" name="Text 18"/>
          <p:cNvSpPr/>
          <p:nvPr/>
        </p:nvSpPr>
        <p:spPr>
          <a:xfrm>
            <a:off x="6720840" y="5074920"/>
            <a:ext cx="731520" cy="822960"/>
          </a:xfrm>
          <a:prstGeom prst="rect">
            <a:avLst/>
          </a:prstGeom>
          <a:noFill/>
          <a:ln/>
        </p:spPr>
        <p:txBody>
          <a:bodyPr wrap="square" lIns="0" tIns="0" rIns="0" bIns="0" rtlCol="0" anchor="ctr"/>
          <a:lstStyle/>
          <a:p>
            <a:pPr marL="0" indent="0">
              <a:buNone/>
            </a:pPr>
            <a:r>
              <a:rPr lang="en-US" sz="2800" b="1" dirty="0">
                <a:solidFill>
                  <a:srgbClr val="D4A24C"/>
                </a:solidFill>
                <a:latin typeface="Georgia" pitchFamily="34" charset="0"/>
                <a:ea typeface="Georgia" pitchFamily="34" charset="-122"/>
                <a:cs typeface="Georgia" pitchFamily="34" charset="-120"/>
              </a:rPr>
              <a:t>03</a:t>
            </a:r>
            <a:endParaRPr lang="en-US" sz="2800" dirty="0"/>
          </a:p>
        </p:txBody>
      </p:sp>
      <p:sp>
        <p:nvSpPr>
          <p:cNvPr id="22" name="Text 19"/>
          <p:cNvSpPr/>
          <p:nvPr/>
        </p:nvSpPr>
        <p:spPr>
          <a:xfrm>
            <a:off x="7498080" y="5047488"/>
            <a:ext cx="4023360" cy="36576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Co-author a NATO STANAG</a:t>
            </a:r>
            <a:endParaRPr lang="en-US" sz="1400" dirty="0"/>
          </a:p>
        </p:txBody>
      </p:sp>
      <p:sp>
        <p:nvSpPr>
          <p:cNvPr id="23" name="Text 20"/>
          <p:cNvSpPr/>
          <p:nvPr/>
        </p:nvSpPr>
        <p:spPr>
          <a:xfrm>
            <a:off x="7498080" y="5394960"/>
            <a:ext cx="4023360" cy="640080"/>
          </a:xfrm>
          <a:prstGeom prst="rect">
            <a:avLst/>
          </a:prstGeom>
          <a:noFill/>
          <a:ln/>
        </p:spPr>
        <p:txBody>
          <a:bodyPr wrap="square" lIns="0" tIns="0" rIns="0" bIns="0" rtlCol="0" anchor="t"/>
          <a:lstStyle/>
          <a:p>
            <a:pPr marL="0" indent="0">
              <a:buNone/>
            </a:pPr>
            <a:r>
              <a:rPr lang="en-US" sz="1100" dirty="0">
                <a:solidFill>
                  <a:srgbClr val="F4F1EC"/>
                </a:solidFill>
                <a:latin typeface="Calibri" pitchFamily="34" charset="0"/>
                <a:ea typeface="Calibri" pitchFamily="34" charset="-122"/>
                <a:cs typeface="Calibri" pitchFamily="34" charset="-120"/>
              </a:rPr>
              <a:t>Bring the UK approach to STO-AVT / IST panels; align with US DoD DTE&amp;A and AUKUS partners.</a:t>
            </a:r>
            <a:endParaRPr lang="en-US" sz="1100" dirty="0"/>
          </a:p>
        </p:txBody>
      </p:sp>
      <p:sp>
        <p:nvSpPr>
          <p:cNvPr id="24" name="Shape 21"/>
          <p:cNvSpPr/>
          <p:nvPr/>
        </p:nvSpPr>
        <p:spPr>
          <a:xfrm>
            <a:off x="6492240" y="5989320"/>
            <a:ext cx="5212080" cy="548640"/>
          </a:xfrm>
          <a:prstGeom prst="rect">
            <a:avLst/>
          </a:prstGeom>
          <a:solidFill>
            <a:srgbClr val="0D9488"/>
          </a:solidFill>
          <a:ln/>
        </p:spPr>
        <p:txBody>
          <a:bodyPr/>
          <a:lstStyle/>
          <a:p>
            <a:endParaRPr lang="en-US"/>
          </a:p>
        </p:txBody>
      </p:sp>
      <p:sp>
        <p:nvSpPr>
          <p:cNvPr id="25" name="Text 22"/>
          <p:cNvSpPr/>
          <p:nvPr/>
        </p:nvSpPr>
        <p:spPr>
          <a:xfrm>
            <a:off x="6675120" y="5989320"/>
            <a:ext cx="5029200" cy="548640"/>
          </a:xfrm>
          <a:prstGeom prst="rect">
            <a:avLst/>
          </a:prstGeom>
          <a:noFill/>
          <a:ln/>
        </p:spPr>
        <p:txBody>
          <a:bodyPr wrap="square" lIns="0" tIns="0" rIns="0" bIns="0" rtlCol="0" anchor="ctr"/>
          <a:lstStyle/>
          <a:p>
            <a:pPr marL="0" indent="0">
              <a:buNone/>
            </a:pPr>
            <a:r>
              <a:rPr lang="en-US" sz="1200" b="1" i="1" dirty="0">
                <a:solidFill>
                  <a:srgbClr val="FFFFFF"/>
                </a:solidFill>
                <a:latin typeface="Georgia" pitchFamily="34" charset="0"/>
                <a:ea typeface="Georgia" pitchFamily="34" charset="-122"/>
                <a:cs typeface="Georgia" pitchFamily="34" charset="-120"/>
              </a:rPr>
              <a:t>Outcome: the UK's first defensible AI-tests-AI assurance pipeline.</a:t>
            </a:r>
            <a:endParaRPr lang="en-US" sz="1200" dirty="0"/>
          </a:p>
        </p:txBody>
      </p:sp>
      <p:sp>
        <p:nvSpPr>
          <p:cNvPr id="26" name="Shape 23"/>
          <p:cNvSpPr/>
          <p:nvPr/>
        </p:nvSpPr>
        <p:spPr>
          <a:xfrm>
            <a:off x="0" y="6537960"/>
            <a:ext cx="12191695" cy="320040"/>
          </a:xfrm>
          <a:prstGeom prst="rect">
            <a:avLst/>
          </a:prstGeom>
          <a:solidFill>
            <a:srgbClr val="0B1F3A"/>
          </a:solidFill>
          <a:ln/>
        </p:spPr>
        <p:txBody>
          <a:bodyPr/>
          <a:lstStyle/>
          <a:p>
            <a:endParaRPr lang="en-US"/>
          </a:p>
        </p:txBody>
      </p:sp>
      <p:sp>
        <p:nvSpPr>
          <p:cNvPr id="27" name="Text 24"/>
          <p:cNvSpPr/>
          <p:nvPr/>
        </p:nvSpPr>
        <p:spPr>
          <a:xfrm>
            <a:off x="365760" y="6547104"/>
            <a:ext cx="8229600" cy="301752"/>
          </a:xfrm>
          <a:prstGeom prst="rect">
            <a:avLst/>
          </a:prstGeom>
          <a:noFill/>
          <a:ln/>
        </p:spPr>
        <p:txBody>
          <a:bodyPr wrap="square" lIns="0" tIns="0" rIns="0" bIns="0" rtlCol="0" anchor="ctr"/>
          <a:lstStyle/>
          <a:p>
            <a:pPr marL="0" indent="0">
              <a:buNone/>
            </a:pPr>
            <a:r>
              <a:rPr lang="en-US" sz="900" dirty="0">
                <a:solidFill>
                  <a:srgbClr val="F4F1EC"/>
                </a:solidFill>
                <a:latin typeface="Calibri" pitchFamily="34" charset="0"/>
                <a:ea typeface="Calibri" pitchFamily="34" charset="-122"/>
                <a:cs typeface="Calibri" pitchFamily="34" charset="-120"/>
              </a:rPr>
              <a:t>UNCLASSIFIED  |  UK MOD  |  Testing AI with AI  |  April 2026</a:t>
            </a:r>
            <a:endParaRPr lang="en-US" sz="900" dirty="0"/>
          </a:p>
        </p:txBody>
      </p:sp>
      <p:sp>
        <p:nvSpPr>
          <p:cNvPr id="28" name="Text 25"/>
          <p:cNvSpPr/>
          <p:nvPr/>
        </p:nvSpPr>
        <p:spPr>
          <a:xfrm>
            <a:off x="11094415" y="6547104"/>
            <a:ext cx="731520" cy="301752"/>
          </a:xfrm>
          <a:prstGeom prst="rect">
            <a:avLst/>
          </a:prstGeom>
          <a:noFill/>
          <a:ln/>
        </p:spPr>
        <p:txBody>
          <a:bodyPr wrap="square" lIns="0" tIns="0" rIns="0" bIns="0" rtlCol="0" anchor="ctr"/>
          <a:lstStyle/>
          <a:p>
            <a:pPr marL="0" indent="0" algn="r">
              <a:buNone/>
            </a:pPr>
            <a:r>
              <a:rPr lang="en-US" sz="900" dirty="0">
                <a:solidFill>
                  <a:srgbClr val="F4F1EC"/>
                </a:solidFill>
                <a:latin typeface="Calibri" pitchFamily="34" charset="0"/>
                <a:ea typeface="Calibri" pitchFamily="34" charset="-122"/>
                <a:cs typeface="Calibri" pitchFamily="34" charset="-120"/>
              </a:rPr>
              <a:t>13 / 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1979</Words>
  <Application>Microsoft Macintosh PowerPoint</Application>
  <PresentationFormat>Widescreen</PresentationFormat>
  <Paragraphs>286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AI with AI — A T&amp;E Framework for Defence AI Systems</dc:title>
  <dc:subject>PptxGenJS Presentation</dc:subject>
  <dc:creator>Dstl / DE&amp;S Research Briefing</dc:creator>
  <cp:lastModifiedBy>Jonathon Wright</cp:lastModifiedBy>
  <cp:revision>2</cp:revision>
  <dcterms:created xsi:type="dcterms:W3CDTF">2026-04-22T10:15:25Z</dcterms:created>
  <dcterms:modified xsi:type="dcterms:W3CDTF">2026-04-22T10:16:10Z</dcterms:modified>
</cp:coreProperties>
</file>