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438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STANAG 4439 IM</c:v>
                  </c:pt>
                  <c:pt idx="1">
                    <c:v>Fuze-sensitivity DoE</c:v>
                  </c:pt>
                  <c:pt idx="2">
                    <c:v>Arena shots / full DoE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AI-led DoE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STANAG 4439 IM</c:v>
                  </c:pt>
                  <c:pt idx="1">
                    <c:v>Fuze-sensitivity DoE</c:v>
                  </c:pt>
                  <c:pt idx="2">
                    <c:v>Arena shots / full DoE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9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B1F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spend (£k)</c:v>
                </c:pt>
              </c:strCache>
            </c:strRef>
          </c:tx>
          <c:spPr>
            <a:solidFill>
              <a:srgbClr val="D4A2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1E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CV PoC (fragment detection)</c:v>
                  </c:pt>
                  <c:pt idx="1">
                    <c:v>X-ray denoising PoC</c:v>
                  </c:pt>
                  <c:pt idx="2">
                    <c:v>Validation trials (parallel)</c:v>
                  </c:pt>
                  <c:pt idx="3">
                    <c:v>Digital-twin prototype</c:v>
                  </c:pt>
                  <c:pt idx="4">
                    <c:v>Bayesian DoE retrospective</c:v>
                  </c:pt>
                  <c:pt idx="5">
                    <c:v>Ops &amp; development / yr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125</c:v>
                </c:pt>
                <c:pt idx="2">
                  <c:v>650</c:v>
                </c:pt>
                <c:pt idx="3">
                  <c:v>325</c:v>
                </c:pt>
                <c:pt idx="4">
                  <c:v>100</c:v>
                </c:pt>
                <c:pt idx="5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4F1E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755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2194560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BRIEFING  |  APRIL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Defence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applying AI &amp; machine learning across UK MOD test, evaluation and qualification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weapons qualification | fragmentation | UAV | uncrewed maritime &amp; ground | governance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Dstl  •  DE&amp;S  •  DAIC  •  MAA  •  DOSR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448495" y="164592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for AI across UK defence T&amp;E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Defence test and evaluation generates terabytes of telemetry, forensic imagery and regulatory evidence per programme. Manual synthesis currently consumes 15–25% of safety-management effort, and a single arena or IM test costs £50k–£200k. AI and machine learning offer concrete, near-term gains across the qualification lifecycle — accelerating evidence review, reducing live-fire trial counts, and improving safety-case integrity — provided they are deployed under DOSR, MAA and JSP 936 oversight.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4206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0" y="1828800"/>
            <a:ext cx="73152" cy="9326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87452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29800" y="190195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STANAG 4439 rounds / arena shots via active learning &amp; surrogate DoE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2834640"/>
            <a:ext cx="4206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0" y="2834640"/>
            <a:ext cx="73152" cy="932688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288036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8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500–1,000×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29800" y="290779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from Physics-Informed Neural Networks vs. traditional FE solvers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3840480"/>
            <a:ext cx="4206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0" y="3840480"/>
            <a:ext cx="73152" cy="932688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388620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£150k+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29800" y="391363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test window potentially avoided via Bayesian optimisation (IM 24 → 15–18 rounds)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4846320"/>
            <a:ext cx="420624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4846320"/>
            <a:ext cx="73152" cy="932688"/>
          </a:xfrm>
          <a:prstGeom prst="rect">
            <a:avLst/>
          </a:prstGeom>
          <a:solidFill>
            <a:srgbClr val="27558A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489204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5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£1.5–2.5M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29800" y="491947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investment to position the UK as a leader in AI-augmented weapons testing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an accelerator and efficiency multiplier — not a replacement for live trials, human judgement or regulatory oversight.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domains covered by this research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4385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Weapons Qualification &amp; S3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520, DEFSTAN 00-056 / 07-85, STANAG 4297 / 4439. Insensitive Munitions testing, lot acceptance, ageing.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61688" y="182880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688" y="1828800"/>
            <a:ext cx="73152" cy="187452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6008" y="2057400"/>
            <a:ext cx="502920" cy="502920"/>
          </a:xfrm>
          <a:prstGeom prst="ellipse">
            <a:avLst/>
          </a:prstGeom>
          <a:solidFill>
            <a:srgbClr val="14385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3055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76088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 Trials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36008" y="2697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STANAG 2636 / 4496 / 4589. Arena tests, flash X-ray (Scandiflash), PDV, lethality modelling.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65592" y="182880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65592" y="1828800"/>
            <a:ext cx="73152" cy="187452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0" name="Shape 16"/>
          <p:cNvSpPr/>
          <p:nvPr/>
        </p:nvSpPr>
        <p:spPr>
          <a:xfrm>
            <a:off x="8439912" y="2057400"/>
            <a:ext cx="502920" cy="502920"/>
          </a:xfrm>
          <a:prstGeom prst="ellipse">
            <a:avLst/>
          </a:prstGeom>
          <a:solidFill>
            <a:srgbClr val="14385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13055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79992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Uncrewed Air Vehicles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439912" y="2697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1600, DEFSTAN 00-970 Pt 9, Protector RG Mk1, GCAP, Project Alvina, AMLAS sense-and-avoid.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450592" y="384048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450592" y="3840480"/>
            <a:ext cx="73152" cy="187452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6" name="Shape 21"/>
          <p:cNvSpPr/>
          <p:nvPr/>
        </p:nvSpPr>
        <p:spPr>
          <a:xfrm>
            <a:off x="2724912" y="4069080"/>
            <a:ext cx="502920" cy="502920"/>
          </a:xfrm>
          <a:prstGeom prst="ellipse">
            <a:avLst/>
          </a:prstGeom>
          <a:solidFill>
            <a:srgbClr val="14385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414223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364992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Uncrewed Maritime &amp; Ground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2724912" y="4709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CABOT, NavyX, Wilton, Cetus / Manta XLUUV, THESEUS, Robotic Platoon Vehicles, BUTEC, MIRA.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263640" y="384048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263640" y="3840480"/>
            <a:ext cx="73152" cy="187452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32" name="Shape 26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14385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4142232"/>
            <a:ext cx="356616" cy="3566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7804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Cross-Cutting: Policy &amp; Assurance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537960" y="4709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936, Defence AI Strategy, AMLAS / SACE, synthetic environments, MLOps, Article 36, meaningful human control.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principles that shape every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2194560" cy="448056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2194560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is lifecycle-wide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AMLAS and SACE replace single-point certification with continuous assurance. JSP 936 (Nov 2024) mandates their principles across the MOD.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62072" y="1828800"/>
            <a:ext cx="2194560" cy="448056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2072" y="1828800"/>
            <a:ext cx="2194560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3044952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044952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environments are central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44952" y="39319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benefits from high-fidelity physics &amp; sensor simulation — Isaac Sim, AirSim, VBS4, OneSAF — with domain randomisation to close sim-to-real gaps.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75504" y="1828800"/>
            <a:ext cx="2194560" cy="448056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75504" y="1828800"/>
            <a:ext cx="2194560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358384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trials remain the regulatory anchor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58384" y="39319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DoE and active learning can cut arena shots by 25–40%, but DOSR, DOSG, MAA and NATO still require live-fire evidence and human sign-off.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88936" y="1828800"/>
            <a:ext cx="2194560" cy="448056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488936" y="1828800"/>
            <a:ext cx="2194560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7671816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671816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is compliance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71816" y="39319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36 reviews, RAISO sign-off and 'meaningful human control' require auditable decisions. SHAP, LIME, attention visualisation are first-class citizens.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02368" y="1828800"/>
            <a:ext cx="2194560" cy="448056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7" name="Shape 25"/>
          <p:cNvSpPr/>
          <p:nvPr/>
        </p:nvSpPr>
        <p:spPr>
          <a:xfrm>
            <a:off x="9802368" y="1828800"/>
            <a:ext cx="2194560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9985248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985248" y="2834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 is non-negotiable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85248" y="39319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and on-prem MLOps (MLflow, DVC, CVAT on classified networks) reconcile the Defence Data Framework with AUKUS and NATO collaboration.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use-case landscape — eight plays for defence T&amp;E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2011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indexing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LLM extraction from safety cases, GSN templates, claim↔evidence linking.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8288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828800"/>
            <a:ext cx="73152" cy="2011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0" y="205740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3055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9768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Surrogate models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5760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PINNs and GP emulators replacing 6–48h FE runs for STANAG 4439 / terminal ballistics.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8288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828800"/>
            <a:ext cx="73152" cy="2011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Shape 16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3055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3232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9224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autoencoders, LSTMs across 1,000+ channel MHz telemetry streams.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52560" y="18288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052560" y="1828800"/>
            <a:ext cx="73152" cy="2011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Shape 21"/>
          <p:cNvSpPr/>
          <p:nvPr/>
        </p:nvSpPr>
        <p:spPr>
          <a:xfrm>
            <a:off x="9326880" y="205740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13055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96696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2688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/ Mask R-CNN for fragment counting, high-speed video forensics, X-ray denoising.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397764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8640" y="3977640"/>
            <a:ext cx="73152" cy="2011680"/>
          </a:xfrm>
          <a:prstGeom prst="rect">
            <a:avLst/>
          </a:prstGeom>
          <a:solidFill>
            <a:srgbClr val="27558A"/>
          </a:solidFill>
          <a:ln/>
        </p:spPr>
      </p:sp>
      <p:sp>
        <p:nvSpPr>
          <p:cNvPr id="32" name="Shape 26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7558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279392"/>
            <a:ext cx="356616" cy="3566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6304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ageing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822960" y="4846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+ GP learning autocatalytic decomposition kinetics from DSC / TGA.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383280" y="397764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383280" y="3977640"/>
            <a:ext cx="73152" cy="2011680"/>
          </a:xfrm>
          <a:prstGeom prst="rect">
            <a:avLst/>
          </a:prstGeom>
          <a:solidFill>
            <a:srgbClr val="27558A"/>
          </a:solidFill>
          <a:ln/>
        </p:spPr>
      </p:sp>
      <p:sp>
        <p:nvSpPr>
          <p:cNvPr id="38" name="Shape 31"/>
          <p:cNvSpPr/>
          <p:nvPr/>
        </p:nvSpPr>
        <p:spPr>
          <a:xfrm>
            <a:off x="3657600" y="4206240"/>
            <a:ext cx="502920" cy="502920"/>
          </a:xfrm>
          <a:prstGeom prst="ellipse">
            <a:avLst/>
          </a:prstGeom>
          <a:solidFill>
            <a:srgbClr val="27558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752" y="4279392"/>
            <a:ext cx="356616" cy="3566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29768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DoE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3657600" y="4846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Improvement / UCB / Information Gain select the next trial — not a human.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217920" y="397764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17920" y="3977640"/>
            <a:ext cx="73152" cy="2011680"/>
          </a:xfrm>
          <a:prstGeom prst="rect">
            <a:avLst/>
          </a:prstGeom>
          <a:solidFill>
            <a:srgbClr val="27558A"/>
          </a:solidFill>
          <a:ln/>
        </p:spPr>
      </p:sp>
      <p:sp>
        <p:nvSpPr>
          <p:cNvPr id="44" name="Shape 36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27558A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4279392"/>
            <a:ext cx="356616" cy="35661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13232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twins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6492240" y="4846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FE/CFD core + Kalman / particle filter assimilation for virtual pre-screening.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9052560" y="397764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052560" y="3977640"/>
            <a:ext cx="73152" cy="2011680"/>
          </a:xfrm>
          <a:prstGeom prst="rect">
            <a:avLst/>
          </a:prstGeom>
          <a:solidFill>
            <a:srgbClr val="27558A"/>
          </a:solidFill>
          <a:ln/>
        </p:spPr>
      </p:sp>
      <p:sp>
        <p:nvSpPr>
          <p:cNvPr id="50" name="Shape 41"/>
          <p:cNvSpPr/>
          <p:nvPr/>
        </p:nvSpPr>
        <p:spPr>
          <a:xfrm>
            <a:off x="9326880" y="4206240"/>
            <a:ext cx="502920" cy="502920"/>
          </a:xfrm>
          <a:prstGeom prst="ellipse">
            <a:avLst/>
          </a:prstGeom>
          <a:solidFill>
            <a:srgbClr val="27558A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4279392"/>
            <a:ext cx="356616" cy="35661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996696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lessons-learned</a:t>
            </a:r>
            <a:endParaRPr lang="en-US" sz="1400" dirty="0"/>
          </a:p>
        </p:txBody>
      </p:sp>
      <p:sp>
        <p:nvSpPr>
          <p:cNvPr id="53" name="Text 43"/>
          <p:cNvSpPr/>
          <p:nvPr/>
        </p:nvSpPr>
        <p:spPr>
          <a:xfrm>
            <a:off x="9326880" y="4846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across archived trial reports; automatic analogue retrieval.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spans TRL 4–8; most techniques have proven analogues in aerospace, automotive or medical imaging.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6" name="Text 46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safety-case evidence indexing and generation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6583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658368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cases integrate dozens to hundreds of reports (10–100+ pages each). Manual cross-referencing and claim-to-evidence mapping consume 15–25% of programme safety-management effort; inconsistent indexing creates evidence gaps.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transformers (BERT / GPT) for NER and relation extraction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layout analysis for scanned reports, tables and historical annexes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 linking evidence ↔ hazards ↔ claims (GSN-aware)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LLM drafting, every fact traceable to source 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828800"/>
            <a:ext cx="4297680" cy="1737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15–25%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768096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programme safety-management effort is currently manual indexing — the primary savings target.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3703320"/>
            <a:ext cx="42976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703320"/>
            <a:ext cx="73152" cy="22402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41605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unacceptable — human review mandatory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fact linked to page / paragraph source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vocabulary on historical IM, sympathetic-detonation cases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DOSR early — no formal UK guidance yet exists publicly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prototype / early deployment   |   TRL 5–7   |   Owners: Dstl Data &amp; Analytics, DE&amp;S, DOSR   |   Timeline: 1–2 years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Surrogate models &amp; Bayesian DoE to cut live-fire trial count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Terminal-ballistics, thermal-transient and structural FE runs take 6–48 h each, and qualification requires 50–500 parametric sweeps. Physics-Informed Neural Networks and GP emulators replace expensive simulations; Bayesian acquisition functions (Expected Improvement, UCB, Information Gain) select the next live test rather than a fixed full-factorial DoE.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417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03320"/>
            <a:ext cx="141732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86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laws embedded; 500–1,000× speed-up with &lt;5% error (published).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3703320"/>
            <a:ext cx="1417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703320"/>
            <a:ext cx="141732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3886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 emulators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434340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with prediction intervals — critical for DOSG compliance and audit trail.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3703320"/>
            <a:ext cx="1417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3703320"/>
            <a:ext cx="141732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3886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Multi-fidelity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34340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FE ↔ expensive live-fire, fused via co-kriging / deep kernel learning.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703320"/>
            <a:ext cx="1417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3703320"/>
            <a:ext cx="141732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886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434340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Query-by-uncertainty focuses trials on design-space edges.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Indicative trial reduction</a:t>
            </a:r>
            <a:endParaRPr lang="en-US" sz="14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858000" y="224028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858000" y="5394960"/>
            <a:ext cx="48463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3"/>
          <p:cNvSpPr/>
          <p:nvPr/>
        </p:nvSpPr>
        <p:spPr>
          <a:xfrm>
            <a:off x="7040880" y="54406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~£150k saved per test window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IM campaigns move from 24 → 15–18 rounds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6126480"/>
            <a:ext cx="6126480" cy="41148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126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TRL 5–8   |   DOSR pre-engagement mandatory   |   Timeline: 2–4 years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 for forensics and fragmentation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6692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1965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v5/v8/v9 for real-time fragment detection in 10,000 fps footage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instance segmentation for overlapping, occluded fragments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GPR-regressed silhouette→mass with probabilistic intervals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/ SRGAN denoising &amp; super-resolution on Scandiflash radiographs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669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931920"/>
            <a:ext cx="73152" cy="20116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gains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Post-trial review time reduced from 2–4 h to ~30 min per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high-speed-video frame indexing &amp; damage severity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image search across decades of historical test archives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 replaced with quantified UQ intervals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5212080" cy="1965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920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10⁶+ frames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single arena detonation — terabytes of imagery that currently consumes days of analyst time per test.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4114800"/>
            <a:ext cx="120700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114800"/>
            <a:ext cx="1207008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33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93776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500–2,000 arena frames in CVAT / Roboflow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81544" y="4114800"/>
            <a:ext cx="120700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544" y="4114800"/>
            <a:ext cx="1207008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7781544" y="4133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72984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72984" y="493776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Physics-rendered LS-DYNA synthetic frames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70848" y="4114800"/>
            <a:ext cx="120700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0848" y="4114800"/>
            <a:ext cx="1207008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9070848" y="4133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62288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62288" y="493776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Mask R-CNN + GPR head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360152" y="4114800"/>
            <a:ext cx="120700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60152" y="4114800"/>
            <a:ext cx="1207008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10360152" y="4133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51592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51592" y="493776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human-vs-AI on 10–20 arena shots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TRL 6–7 (detection) / 5–6 (mass regression)   |   Owners: Dstl, Cranfield COTEC, QinetiQ   |   Timeline: 0–12 months PoC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in telemetry &amp; predictive ageing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in trials telemetry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STANAG 4496 FI test: 1,000+ channels at 1 MHz for 100 ms ≈ 10⁸ data points. Manual review is slow and subjective.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One-Class SVM, VAE autoencoders on nominal telemetry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Temporal CNN / Transformer time-series models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attention maps for investigator explanation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heritage: NASA JPL MSL telemetry (98.4% accuracy)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166360"/>
            <a:ext cx="5486400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212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Post-trial review:  2–4 h  →  ~30 min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828800"/>
            <a:ext cx="5486400" cy="7315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7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13969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3232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ageing &amp; shelf-life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4652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 data at 40–80 °C is extrapolated to 25 °C / 50+ year storage. Autocatalytic kinetics cause ±10–20% shelf-life error under single-exponential assumptions.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46520" y="35661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learning complex kinetics from DSC / TGA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regression with uncertainty bounds for probabilistic extrapolation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modelling fuze-insulation-resistance time-series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TNT / RDX to less-studied formulations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5166360"/>
            <a:ext cx="5486400" cy="777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19"/>
          <p:cNvSpPr/>
          <p:nvPr/>
        </p:nvSpPr>
        <p:spPr>
          <a:xfrm>
            <a:off x="6446520" y="5212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stored munitions 2–3 years earlier — risk-targeted surveillance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guardrails: UQ reporting (aleatoric + epistemic), versioned model artefacts, MSIAC / STO-AVT-375 alignment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twins and NLP mining of historical trial reports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577840" cy="4114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twins of munitions systems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788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core + data-assimilation + surrogate models enabling virtual STANAG 4439 pre-screening, life-extension assessment and incident reconstruction.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/ CFD physics core with validated constitutive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/ particle-filter data assimilation from field telemetry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adaptive-fuze control policies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MCMC calibration against PDV, Scandiflash, gauges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maturity — MBDA / BAE work likely classified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1828800"/>
            <a:ext cx="539496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205740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mining of historical trial reports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3796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PDFs, scanned paper and legacy databases. A new anti-tank warhead rarely exploits applicable reports from 15 years ago.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537960" y="37947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embeddings for semantic search over archives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+ abstractive summarisation into structured registry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 for trend and failure-mode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Qualification-strategy scoping via analogue retrieval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53796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near-term deliverable — tooling is proven in evidence-based medicine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twins TRL 5–6 (research)  |  NLP TRL 6–7 (deployable)  |  Timeline: NLP 1–2 yrs, twins 4+ yrs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0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five-year delivery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365760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years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parsing &amp; evidence indexing for safety cases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trials telemetry (STANAG 4496 streams)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PoC on archived fragmentation imagery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X-ray denoising PoC on Scandiflash archives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Dstl–DOSR–WSSC working group on 'AI in Weapons Qualification'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828800"/>
            <a:ext cx="3657600" cy="82296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 years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8346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models for terminal-ballistics &amp; thermal simulation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active-learning DoE to cut STANAG 4439 trial count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human + AI validation trials (retrospective &amp; live)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LS-DYNA + Bayesian calibration digital-twin prototype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STO-AVT / MSIAC standardisation proposal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182880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828800"/>
            <a:ext cx="3657600" cy="82296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0184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4–5+ years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digital twins for virtual pre-screening &amp; life-extension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NLP-driven lessons-learned mining across historical archives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ageing unlocking 2–3 years of stored-munition life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MLOps on classified networks; federated learning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JSP 936-compliant deployment &amp; accreditation pipeline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guardrails — non-negotiable for every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JSP 936 Part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 appointments per TLB, ethical risk assessment for kinetic effects, DAU consultation, five MOD AI ethical principles.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828800"/>
            <a:ext cx="73152" cy="1920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13055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DOSR / DOSG / WSSC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independent technical authority over weapons safety; AI tools must produce auditable, human-reviewable evidence.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8288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1828800"/>
            <a:ext cx="73152" cy="1920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3055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AMLAS &amp; SACE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2104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York lifecycle-wide assurance — the defensible UK methodologies for ML in autonomous systems.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3886200"/>
            <a:ext cx="73152" cy="1920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8795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36 reviews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22960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of means of warfare. Autonomous targeting retains 'context-appropriate human involvement'.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297680" y="38862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297680" y="3886200"/>
            <a:ext cx="73152" cy="1920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Shape 26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87952"/>
            <a:ext cx="356616" cy="3566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1208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572000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MLOps (MLflow, DVC, CVAT); federated learning reconciling Defence Data Framework with AUKUS and NATO.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046720" y="38862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46720" y="3886200"/>
            <a:ext cx="73152" cy="1920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8" name="Shape 31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187952"/>
            <a:ext cx="356616" cy="3566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611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Meaningful human control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321040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position at UN CCW. Every autonomous decision must be auditable post-hoc via SHAP, LIME, attention or CAVs.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3" name="Text 35"/>
          <p:cNvSpPr/>
          <p:nvPr/>
        </p:nvSpPr>
        <p:spPr>
          <a:xfrm>
            <a:off x="73152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Principle: AI produces the evidence — humans still sign the certificate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5" name="Text 37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 | 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investment envelope and immediate actions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Indicative five-year envelope: £1.5M – £2.5M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3172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922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actions to take now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92240" y="2377440"/>
            <a:ext cx="5212080" cy="114300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377440"/>
            <a:ext cx="73152" cy="114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514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498080" y="2487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up the working group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0" y="2834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Dstl – DOSR – WSSC task force to define acceptable AI evidence standards under JSP 936.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657600"/>
            <a:ext cx="5212080" cy="114300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3657600"/>
            <a:ext cx="73152" cy="114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794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498080" y="37673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2–3 pilots in 2026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98080" y="4114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Semi-automated document parsing on a live programme; Bayesian DoE on fuze sensitivity; CV PoC on historical arena imagery.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92240" y="4937760"/>
            <a:ext cx="5212080" cy="1143000"/>
          </a:xfrm>
          <a:prstGeom prst="rect">
            <a:avLst/>
          </a:prstGeom>
          <a:solidFill>
            <a:srgbClr val="14385E"/>
          </a:solidFill>
          <a:ln/>
        </p:spPr>
      </p:sp>
      <p:sp>
        <p:nvSpPr>
          <p:cNvPr id="20" name="Shape 17"/>
          <p:cNvSpPr/>
          <p:nvPr/>
        </p:nvSpPr>
        <p:spPr>
          <a:xfrm>
            <a:off x="6492240" y="4937760"/>
            <a:ext cx="73152" cy="114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8"/>
          <p:cNvSpPr/>
          <p:nvPr/>
        </p:nvSpPr>
        <p:spPr>
          <a:xfrm>
            <a:off x="6720840" y="50749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498080" y="5047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 with allies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0" y="5394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US DoD DTE&amp;A, NATO MSIAC and STO/AVT for standards alignment and federated data partnerships.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92240" y="5989320"/>
            <a:ext cx="521208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5989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Outcome: UK as a leader in AI-augmented weapons testing.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4710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|  UK MOD AI for Defence T&amp;E  |  April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54710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Defence — Recommendations for UK MOD T&amp;E</dc:title>
  <dc:subject>PptxGenJS Presentation</dc:subject>
  <dc:creator>Dstl / DE&amp;S Research Briefing</dc:creator>
  <cp:lastModifiedBy>Dstl / DE&amp;S Research Briefing</cp:lastModifiedBy>
  <cp:revision>1</cp:revision>
  <dcterms:created xsi:type="dcterms:W3CDTF">2026-04-22T10:03:03Z</dcterms:created>
  <dcterms:modified xsi:type="dcterms:W3CDTF">2026-04-22T10:03:03Z</dcterms:modified>
</cp:coreProperties>
</file>